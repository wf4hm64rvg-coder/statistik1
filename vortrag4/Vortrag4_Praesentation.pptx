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a4c5c600-68f8-209a-9107-3699cd544712}">
          <p14:sldIdLst>
            <p14:sldId id="256"/>
            <p14:sldId id="257"/>
          </p14:sldIdLst>
        </p14:section>
        <p14:section name="(a) Funktionen" id="{41b5e312-54f2-6033-b612-b43e3d25bd54}">
          <p14:sldIdLst>
            <p14:sldId id="258"/>
            <p14:sldId id="259"/>
            <p14:sldId id="260"/>
          </p14:sldIdLst>
        </p14:section>
        <p14:section name="(b) Darstellung" id="{497b770b-23fd-0791-08dc-a3a9d02f68a1}">
          <p14:sldIdLst>
            <p14:sldId id="261"/>
            <p14:sldId id="262"/>
            <p14:sldId id="263"/>
          </p14:sldIdLst>
        </p14:section>
        <p14:section name="(c) Vergleich" id="{5f6f7a29-4fbf-c082-a303-80e24ae033cb}">
          <p14:sldIdLst>
            <p14:sldId id="264"/>
            <p14:sldId id="265"/>
            <p14:sldId id="266"/>
            <p14:sldId id="267"/>
            <p14:sldId id="268"/>
            <p14:sldId id="269"/>
          </p14:sldIdLst>
        </p14:section>
        <p14:section name="Schluss" id="{e5fd0cee-5ef6-123d-ac34-615ab80037bb}">
          <p14:sldIdLst>
            <p14:sldId id="270"/>
            <p14:sldId id="271"/>
          </p14:sldIdLst>
        </p14:section>
        <p14:section name="Reserve" id="{690e0c1a-296d-0985-0ce2-213825560dc7}">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Gesamtquote</c:v>
                </c:pt>
              </c:strCache>
            </c:strRef>
          </c:tx>
          <c:spPr>
            <a:solidFill>
              <a:srgbClr val="D9541E"/>
            </a:solidFill>
            <a:effectLst/>
          </c:spPr>
          <c:invertIfNegative val="0"/>
          <c:dLbls>
            <c:numFmt formatCode="0.0&quot; %&quot;" sourceLinked="0"/>
            <c:txPr>
              <a:bodyPr/>
              <a:lstStyle/>
              <a:p>
                <a:pPr>
                  <a:defRPr b="1" i="0" strike="noStrike" sz="26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D9541E"/>
              </a:solidFill>
              <a:effectLst/>
            </c:spPr>
          </c:dPt>
          <c:dPt>
            <c:idx val="1"/>
            <c:invertIfNegative val="0"/>
            <c:bubble3D val="0"/>
            <c:spPr>
              <a:solidFill>
                <a:srgbClr val="4A90C2"/>
              </a:solidFill>
              <a:effectLst/>
            </c:spPr>
          </c:dPt>
          <c:cat>
            <c:multiLvlStrRef>
              <c:f>Sheet1!$A$2:$A$3</c:f>
              <c:multiLvlStrCache>
                <c:ptCount val="2"/>
                <c:lvl>
                  <c:pt idx="0">
                    <c:v>Frauen</c:v>
                  </c:pt>
                  <c:pt idx="1">
                    <c:v>Männer</c:v>
                  </c:pt>
                </c:lvl>
              </c:multiLvlStrCache>
            </c:multiLvlStrRef>
          </c:cat>
          <c:val>
            <c:numRef>
              <c:f>Sheet1!$B$2:$B$3</c:f>
              <c:numCache>
                <c:formatCode>General</c:formatCode>
                <c:ptCount val="2"/>
                <c:pt idx="0">
                  <c:v>30.4</c:v>
                </c:pt>
                <c:pt idx="1">
                  <c:v>44.5</c:v>
                </c:pt>
              </c:numCache>
            </c:numRef>
          </c:val>
        </c:ser>
        <c:dLbls>
          <c:numFmt formatCode="0.0&quot; %&quot;" sourceLinked="0"/>
          <c:txPr>
            <a:bodyPr/>
            <a:lstStyle/>
            <a:p>
              <a:pPr>
                <a:defRPr b="1" i="0" strike="noStrike" sz="2600" u="none">
                  <a:solidFill>
                    <a:srgbClr val="1A1A1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6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Sheet1!$B$2:$B$7</c:f>
              <c:numCache>
                <c:formatCode>General</c:formatCode>
                <c:ptCount val="6"/>
                <c:pt idx="0">
                  <c:v>82.4</c:v>
                </c:pt>
                <c:pt idx="1">
                  <c:v>68</c:v>
                </c:pt>
                <c:pt idx="2">
                  <c:v>34.1</c:v>
                </c:pt>
                <c:pt idx="3">
                  <c:v>34.9</c:v>
                </c:pt>
                <c:pt idx="4">
                  <c:v>23.9</c:v>
                </c:pt>
                <c:pt idx="5">
                  <c:v>7</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Sheet1!$C$2:$C$7</c:f>
              <c:numCache>
                <c:formatCode>General</c:formatCode>
                <c:ptCount val="6"/>
                <c:pt idx="0">
                  <c:v>62.1</c:v>
                </c:pt>
                <c:pt idx="1">
                  <c:v>63</c:v>
                </c:pt>
                <c:pt idx="2">
                  <c:v>36.9</c:v>
                </c:pt>
                <c:pt idx="3">
                  <c:v>33.1</c:v>
                </c:pt>
                <c:pt idx="4">
                  <c:v>27.7</c:v>
                </c:pt>
                <c:pt idx="5">
                  <c:v>5.9</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Sheet1!$B$2:$B$7</c:f>
              <c:numCache>
                <c:formatCode>General</c:formatCode>
                <c:ptCount val="6"/>
                <c:pt idx="0">
                  <c:v>5.9</c:v>
                </c:pt>
                <c:pt idx="1">
                  <c:v>1.4</c:v>
                </c:pt>
                <c:pt idx="2">
                  <c:v>32.3</c:v>
                </c:pt>
                <c:pt idx="3">
                  <c:v>20.4</c:v>
                </c:pt>
                <c:pt idx="4">
                  <c:v>21.4</c:v>
                </c:pt>
                <c:pt idx="5">
                  <c:v>18.6</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Sheet1!$C$2:$C$7</c:f>
              <c:numCache>
                <c:formatCode>General</c:formatCode>
                <c:ptCount val="6"/>
                <c:pt idx="0">
                  <c:v>30.7</c:v>
                </c:pt>
                <c:pt idx="1">
                  <c:v>20.8</c:v>
                </c:pt>
                <c:pt idx="2">
                  <c:v>12.1</c:v>
                </c:pt>
                <c:pt idx="3">
                  <c:v>15.5</c:v>
                </c:pt>
                <c:pt idx="4">
                  <c:v>7.1</c:v>
                </c:pt>
                <c:pt idx="5">
                  <c:v>13.9</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3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Sheet1!$A$2:$A$3</c:f>
              <c:multiLvlStrCache>
                <c:ptCount val="2"/>
                <c:lvl>
                  <c:pt idx="0">
                    <c:v>tatsächlich</c:v>
                  </c:pt>
                  <c:pt idx="1">
                    <c:v>bei gleicher Fachbereichswahl</c:v>
                  </c:pt>
                </c:lvl>
              </c:multiLvlStrCache>
            </c:multiLvlStrRef>
          </c:cat>
          <c:val>
            <c:numRef>
              <c:f>Sheet1!$B$2:$B$3</c:f>
              <c:numCache>
                <c:formatCode>General</c:formatCode>
                <c:ptCount val="2"/>
                <c:pt idx="0">
                  <c:v>30.4</c:v>
                </c:pt>
                <c:pt idx="1">
                  <c:v>43</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Sheet1!$A$2:$A$3</c:f>
              <c:multiLvlStrCache>
                <c:ptCount val="2"/>
                <c:lvl>
                  <c:pt idx="0">
                    <c:v>tatsächlich</c:v>
                  </c:pt>
                  <c:pt idx="1">
                    <c:v>bei gleicher Fachbereichswahl</c:v>
                  </c:pt>
                </c:lvl>
              </c:multiLvlStrCache>
            </c:multiLvlStrRef>
          </c:cat>
          <c:val>
            <c:numRef>
              <c:f>Sheet1!$C$2:$C$3</c:f>
              <c:numCache>
                <c:formatCode>General</c:formatCode>
                <c:ptCount val="2"/>
                <c:pt idx="0">
                  <c:v>44.5</c:v>
                </c:pt>
                <c:pt idx="1">
                  <c:v>38.7</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Guten Tag zusammen. Wir sind Leorat Krasniqi, Teoman-Doganay Lam und Filip Lazic, und unser Vortrag heisst «Das Berkeley-Paradoxon». Rechts sehen Sie schon die zwei Zahlen, um die sich heute alles dreht: 1973 wurden an der UC Berkeley 44.5 Prozent der Männer zugelassen, aber nur 30.4 Prozent der Frauen. Wir zeigen Ihnen in drei Teilen, was hinter diesen Zahlen steckt: zuerst Funktionen in Python, dann die Darstellung der scheinbaren Ungerechtigkeit und zum Schluss den genauen Vergleich mit dem Konzept der stochastischen Unabhängigkeit.</a:t>
            </a:r>
          </a:p>
          <a:p/>
          <a:p>
            <a:r>
              <a:t>Zeitplan: ca. 15 Minuten (3 × 5 Min.): Leorat Folien 1–5, Teoman Folien 6–10, Filip Folien 11–15. Folie 16: Fragen. Reservefolien 18–21 nur bei Rückfragen zeigen.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Zur Ausgangslage: Im Herbst 1973 bewarben sich 4 526 Personen für ein Graduate-Studium in den sechs grössten Fachbereichen der Universität, die wir A bis F nennen. Weil insgesamt deutlich weniger Frauen zugelassen wurden, befürchtete die Universität eine Klage wegen Diskriminierung. Tabelle 4 unserer Aufgabe zeigt für jeden Fachbereich die Zulassungsquote von Frauen und Männern und wie sich die Bewerbungen auf die Fachbereiche verteilen. Unsere Aufgabe hat drei Teile: (a) Funktionen in Python erklären, (b) die Ungerechtigkeit so darstellen, dass man sie auf einen Blick sieht, und (c) die Verteilungen vergleichen und dabei die stochastische Unabhängigkeit prüfen. Die zentrale Frage lautet also: Wurden Frauen bei der Zulassung tatsächlich benachteiligt?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Wir beginnen mit Teil (a). Bevor wir die Daten analysieren, zeigen wir das Werkzeug, mit dem wir unseren ganzen Code organisiert haben: Funktionen.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McKinney nennt eine einfache Faustregel: Code, den man mehr als einmal braucht, gehört in eine Funktion. Eine Funktion wird mit def deklariert und gibt ihr Ergebnis mit return zurück. Fehlt das return, gibt Python automatisch None zurück. Man unterscheidet Positionsargumente, die über ihre Reihenfolge zugeordnet werden, und Keyword-Argumente, die einen Namen und oft einen Standardwert haben. Keyword-Argumente müssen nach den Positionsargumenten stehen, untereinander ist ihre Reihenfolge aber egal. Rechts sehen Sie unsere Funktion vierfeldertafel: Ohne Angabe gilt fachbereich gleich None, dann wird die Tafel über alle Bewerbungen gebildet. Mit fachbereich gleich A nur für Fachbereich A. Variablen in einer Funktion leben in einem lokalen Namensraum, der beim Aufruf entsteht und danach wieder verschwindet. Globale Variablen vermeiden wir bewusst. Und eine Funktion kann scheinbar mehrere Werte zurückgeben. Tatsächlich ist es ein Tupel, das wir beim Aufruf entpacken, wie unten bei kennzahlen: quote, anteil gleich kennzahlen von 89, 19 und 1 835.</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Vier weitere Konzepte aus Abschnitt 3.2. Erstens: Funktionen sind Objekte. Wir speichern unsere Bereinigungsschritte in einer Liste und wenden sie nacheinander auf jeden Wert aus Tabelle 4 an. So wird aus dem Text «82.4%» die Zahl 0.824. Der Vorteil: Kommt ein weiterer Bereinigungsschritt dazu, fügen wir ihn nur in die Liste ein, die Funktion selbst bleibt gleich. Zweitens: Lambda-Funktionen sind anonyme Einzeiler, ideal, wenn man eine Funktion als Argument übergibt. Mit partial legen wir ein Argument fest, das nennt man Currying: pruefe_streng ist derselbe Test, nur mit einem Signifikanzniveau von 1 Prozent. Drittens: Ein Generator liefert mit yield die Ergebnisse erst dann, wenn sie angefordert werden, bei uns Fachbereich für Fachbereich. Viertens: Bei der Ausnahmebehandlung fangen wir nur den erwarteten Fehler ab, den ValueError bei einem Tippfehler in der Tabelle. Andere Fehler sollen sichtbar bleiben. Damit übergebe ich an Teoman.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Danke. Ich übernehme Teil (b). Ein Schwerpunkt der Aufgabe liegt auf den Vorüberlegungen zur programmtechnischen Umsetzung. Deshalb zeige ich zuerst, wie wir die Umsetzung geplant haben, und danach, wie die Ungerechtigkeit auf einen Blick aussieht.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Vor dem Programmieren haben wir vier Fragen geklärt. Erstens die Daten: Tabelle 4 enthält nur Prozente. Für Wahrscheinlichkeiten wie P(W) und für den Chi-Quadrat-Test brauchen wir aber Anzahlen. Diese übernehmen wir aus dem Originaldatensatz von Bickel und Kollegen aus dem Jahr 1975. Unser Code prüft, dass diese Anzahlen alle Werte aus Tabelle 4 reproduzieren, und findet null Abweichungen. Zweitens die Kontrolle: Mit dem Satz der totalen Wahrscheinlichkeit rechnen wir aus den Fachbereichen die Zeile «Total» nach. Drittens die Struktur: ein langes DataFrame mit einer Zeile pro Fachbereich, Geschlecht und Entscheid. Daraus bauen wir jede Kreuztabelle mit pivot_table. Viertens: Alles, was wir mehrmals brauchen, wird eine Funktion, für die Gesamtbetrachtung und für jeden der sechs Fachbereiche. Unten die Libraries: pandas für Tabellen, numpy zum Rechnen, matplotlib für die Grafiken und scipy.stats für den Chi-Quadrat-Test. pandas ist der Standard für Tabellendaten, McKinney ist übrigens selbst der Autor. Mit matplotlib haben wir volle Kontrolle über Farben und Beschriftungen und können die Grafiken für Ausarbeitung und Folien exportieren. Und scipy liefert einen geprüften Chi-Quadrat-Test, statt dass wir die Formel selbst programmieren und Fehler riskieren. Alle vier Libraries sind in Anaconda enthalten, es braucht also keine zusätzliche Installation.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Damit ein Betrachter die Ungerechtigkeit schnell erkennt, reicht ein einziger Vergleich: die Gesamtquote. Wir verwenden ein Balkendiagramm mit Nullachse, weil man Längen am genauesten vergleichen kann, und beschriften die Werte direkt. Wir zeigen bewusst nur zwei Balken, jede weitere Information würde von der Kernaussage ablenken. Die Farben bleiben in allen Diagrammen gleich, Rot für Frauen und Blau für Männer, so muss man nie die Legende suchen. Männer wurden zu 44.5 Prozent zugelassen, Frauen nur zu 30.4 Prozent. Das ist eine Differenz von 14.2 Prozentpunkten, die Quote der Männer ist rund 1.47-mal so hoch. Anders gesagt: Mit der Quote der Männer wären 817 statt 557 Frauen zugelassen worden. Also Diskriminierung? Genau das prüfen wir in Teil (c).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Damit kommen wir zu Teil (c). Die Gesamtquote fasst alle sechs Fachbereiche zusammen. Jetzt schauen wir genauer hin, Fachbereich für Fachbereich.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Und hier kippt das Bild. In vier von sechs Fachbereichen haben Frauen die höhere Zulassungsquote, nämlich in A, B, D und F. In Fachbereich A sogar um 20.3 Prozentpunkte. Nur in C und E liegen die Männer leicht vorne, mit 2.8 und 3.8 Prozentpunkten. Diese Unterschiede sind klein, der Unterschied in A dagegen ist gross, und zwar zugunsten der Frauen. Übrigens zeichnet dieses Diagramm dieselbe Funktion wie das Diagramm zur Verteilung der Bewerbungen auf der nächsten Folie, nur mit anderen Spalten. In den Fachbereichen, die über die Zulassung entscheiden, sehen wir also keinen Nachteil für Frauen. Wie passt das zur Gesamtquote? Das erklärt Filip.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Danke. Die Antwort liegt darin, wo sich Frauen und Männer beworben haben. 51.5 Prozent der Männer bewarben sich in A oder B, also in Fachbereichen, in denen rund 64 Prozent zugelassen werden. Von den Frauen waren es nur 7.2 Prozent. Allein in Fachbereich A bewarben sich 825 Männer, aber nur 108 Frauen. 92.8 Prozent der Frauen bewarben sich in C bis F, wo die Quoten nur zwischen 6 und 35 Prozent liegen. Im Diagramm sehen Sie das: Bei A und B dominieren die blauen Balken der Männer, bei C bis F die roten Balken der Frauen.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Hier fassen wir das pro Fachbereich zusammen: auf der x-Achse der Frauenanteil unter den Bewerbungen, auf der y-Achse die Zulassungsquote des Fachbereichs. Die Punktfläche entspricht der Anzahl Bewerbungen. Das Muster ist deutlich: Je höher der Frauenanteil, desto tiefer die Zulassungsquote. Die Korrelation beträgt r gleich minus 0.79. Frauen haben sich also häufiger in Fachbereichen beworben, die stark umkämpft sind.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Warum führt das zur tieferen Gesamtquote? Wegen des Satzes der totalen Wahrscheinlichkeit. Die Gesamtquote eines Geschlechts ist ein gewichteter Mittelwert der Quoten in den Fachbereichen, und die Gewichte sind die Anteile der Bewerbungen. Für die Frauen heisst das: 5.9 Prozent mal 82.4 Prozent plus 1.4 Prozent mal 68 Prozent und so weiter, das ergibt 30.4 Prozent. Frauen haben ihre grossen Gewichte bei den tiefen Quoten, Männer bei den hohen. Was passiert, wenn wir für beide Geschlechter dieselben Gewichte einsetzen, nämlich die Verteilung aller Bewerbungen? Dann liegt die Quote der Frauen bei 43.0 Prozent und die der Männer bei 38.7 Prozent. Der Unterschied kehrt sich um. Im Code ist das derselbe Aufruf der Funktion gesamtquote, nur mit anderen Gewichten.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Jetzt zur stochastischen Unabhängigkeit. Zwei Ereignisse sind unabhängig, wenn P von Z geschnitten W gleich P von Z mal P von W ist, oder gleichwertig: wenn P von Z gegeben W gleich P von Z ist. Z heisst «zugelassen», W heisst «Bewerbung einer Frau». Insgesamt beobachten wir 0.1231, bei Unabhängigkeit müssten es 0.1572 sein. Der Chi-Quadrat-Test bestätigt das mit einem Wert von 92.2 und einem p-Wert unter 0.001. Insgesamt sind Zulassung und Geschlecht also abhängig. Innerhalb der Fachbereiche B bis F liegen die Werte aber sehr nahe beieinander, alle p-Werte sind grösser als 0.3. Dort können wir die Unabhängigkeit nicht verwerfen. Nur in Fachbereich A gibt es eine Abhängigkeit, und zwar zugunsten der Frauen. Man spricht von bedingter Unabhängigkeit gegeben den Fachbereich. Der Fachbereich ist die Drittvariable, auch Confounder genannt.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Zum Fazit. Die Drittvariable Fachbereich kehrt den Zusammenhang um, das ist das Simpson-Paradoxon. Aggregiert sind Zulassung und Geschlecht abhängig, 30.4 gegen 44.5 Prozent. Je Fachbereich gibt es keinen Nachteil für Frauen. Die Ursache ist, dass sich Frauen häufiger in stark umkämpften Fachbereichen beworben haben. Wir müssen aber auch die Grenzen nennen: Es sind Beobachtungsdaten eines einzigen Jahres, und warum Frauen diese Fachbereiche gewählt haben, können die Daten nicht beantworten. Programmtechnisch hat sich gezeigt: Mit denselben Funktionen konnten wir die Gesamtanalyse, alle sechs Fachbereiche und die Standardisierung rechnen. Unsere wichtigste Lehre: Aggregierte Quoten darf man erst dann als Ursache deuten, wenn man relevante Drittvariablen berücksichtigt hat.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[alle] Vielen Dank für Ihre Aufmerksamkeit. Rechts sehen Sie unsere Quellen.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Trennfolie, wird nicht vorgetragen. Die Folien 18–21 sind nur für Rückfragen: 18 zu Folie 13, 19 und 20 zu Folie 14, 21 zu Folie 7.</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Nur bei Rückfrage zu Folie 13. Diese Tabelle rechnet die Gesamtquote vor. In jeder Zeile multiplizieren wir den Anteil der Bewerbungen mit der Zulassungsquote. Das ergibt den Beitrag des Fachbereichs. Bei den Frauen liegen die grossen Gewichte bei C bis F, zusammen 92.8 Prozent, und dort sind die Quoten tief. Darum ergibt die Summe nur 30.4 Prozent. Bei den Männern liegen 51.5 Prozent der Gewichte bei A und B mit hohen Quoten, die Summe ergibt 44.6 Prozent. Dass es nicht genau 44.5 sind, ist nur ein Rundungseffekt von Tabelle 4.</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Nur bei Rückfrage zu Folie 14. So funktioniert der Chi-Quadrat-Test. Die Nullhypothese lautet: Zulassung und Geschlecht sind unabhängig. Dann erwarten wir in jeder Zelle n mal P von Z mal P von W. Für zugelassene Frauen wären das 711.5, beobachtet sind aber nur 557. Die Teststatistik summiert über alle vier Zellen die quadrierte Abweichung geteilt durch den erwarteten Wert. Das ergibt 92.2. Bei einem Freiheitsgrad liegt der kritische Wert für 5 Prozent bei 3.84. Wir verwerfen die Nullhypothese also klar. Im Code genügt ein einziger Aufruf: chi2_contingency.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Nur bei Rückfrage zu Folie 14 oder bei der Frage nach Kausalität. Hier sieht man die Struktur des Problems. Das Geschlecht hängt stark mit der Wahl des Fachbereichs zusammen, Chi-Quadrat 1 068.4. Und der Fachbereich hängt stark mit der Zulassung zusammen, Chi-Quadrat 778.9. Der direkte Effekt des Geschlechts auf die Zulassung ist innerhalb der Fachbereiche kaum vorhanden. Der Fachbereich ist also der Confounder, der den Zusammenhang insgesamt erzeugt. Korrelation ist nicht Kausalität.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Nur bei Rückfrage zu Folie 7, falls nach dem Aufbau des Codes gefragt wird. Hier sieht man den Ablauf unseres Programms in fünf Schritten. Erstens erfassen wir Tabelle 4 als Text und bereinigen sie mit einer Liste von Funktionen. Zweitens prüfen wir sie mit dem Satz der totalen Wahrscheinlichkeit. Drittens laden wir die Originalanzahlen in ein langes DataFrame und prüfen sie gegen Tabelle 4. Viertens analysieren wir mit denselben Funktionen gesamt und je Fachbereich. Fünftens zeichnen wir die Diagramme mit einer festen Farbe pro Geschlecht. Dahinter stehen drei Prinzipien: Jeder wiederholte Schritt ist eine Funktion, wir verwenden kein global, und Fehler werden durch try/except und zwei Gegenproben sofort sichtbar.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HA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786384"/>
            <a:ext cx="10820095" cy="777240"/>
          </a:xfrm>
          <a:prstGeom prst="rect">
            <a:avLst/>
          </a:prstGeom>
          <a:noFill/>
          <a:ln/>
        </p:spPr>
        <p:txBody>
          <a:bodyPr wrap="square" rtlCol="0"/>
          <a:lstStyle>
            <a:lvl1pPr algn="l" indent="0" marL="0">
              <a:buNone/>
              <a:defRPr lang="en-US" sz="3200" b="1" dirty="0">
                <a:solidFill>
                  <a:srgbClr val="1A1A1A"/>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3"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5F6672"/>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REI">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5F6672"/>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UNKEL">
    <p:bg>
      <p:bgPr>
        <a:solidFill>
          <a:srgbClr val="00326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786384"/>
            <a:ext cx="10820095" cy="1554480"/>
          </a:xfrm>
          <a:prstGeom prst="rect">
            <a:avLst/>
          </a:prstGeom>
          <a:noFill/>
          <a:ln/>
        </p:spPr>
        <p:txBody>
          <a:bodyPr wrap="square" rtlCol="0"/>
          <a:lstStyle>
            <a:lvl1pPr algn="l" indent="0" marL="0">
              <a:buNone/>
              <a:defRPr lang="en-US" sz="3200" b="1" dirty="0">
                <a:solidFill>
                  <a:srgbClr val="FFFFFF"/>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3"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C9D6E3"/>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APITEL">
    <p:bg>
      <p:bgPr>
        <a:solidFill>
          <a:srgbClr val="00326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EL">
    <p:bg>
      <p:bgPr>
        <a:solidFill>
          <a:srgbClr val="00326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685800"/>
            <a:ext cx="91440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VORTRAG 4  ·  STATISTIK  ·  WIRTSCHAFTSINFORMATIK  ·  KLEINKLASSE HS 2026</a:t>
            </a:r>
            <a:endParaRPr lang="en-US" sz="1200" dirty="0"/>
          </a:p>
        </p:txBody>
      </p:sp>
      <p:sp>
        <p:nvSpPr>
          <p:cNvPr id="3" name="Text 1"/>
          <p:cNvSpPr txBox="1"/>
          <p:nvPr/>
        </p:nvSpPr>
        <p:spPr>
          <a:xfrm>
            <a:off x="685800" y="1600200"/>
            <a:ext cx="7132320" cy="2286000"/>
          </a:xfrm>
          <a:prstGeom prst="rect">
            <a:avLst/>
          </a:prstGeom>
          <a:noFill/>
          <a:ln/>
        </p:spPr>
        <p:txBody>
          <a:bodyPr wrap="square" lIns="0" tIns="0" rIns="0" bIns="0" rtlCol="0" anchor="t"/>
          <a:lstStyle/>
          <a:p>
            <a:pPr indent="0" marL="0">
              <a:lnSpc>
                <a:spcPct val="92000"/>
              </a:lnSpc>
              <a:buNone/>
            </a:pPr>
            <a:r>
              <a:rPr lang="en-US" sz="6400" b="1" dirty="0">
                <a:solidFill>
                  <a:srgbClr val="FFFFFF"/>
                </a:solidFill>
                <a:latin typeface="Arial" pitchFamily="34" charset="0"/>
                <a:ea typeface="Arial" pitchFamily="34" charset="-122"/>
                <a:cs typeface="Arial" pitchFamily="34" charset="-120"/>
              </a:rPr>
              <a:t>Das Berkeley-</a:t>
            </a:r>
            <a:endParaRPr lang="en-US" sz="6400" dirty="0"/>
          </a:p>
          <a:p>
            <a:pPr indent="0" marL="0">
              <a:lnSpc>
                <a:spcPct val="92000"/>
              </a:lnSpc>
              <a:buNone/>
            </a:pPr>
            <a:r>
              <a:rPr lang="en-US" sz="6400" b="1" dirty="0">
                <a:solidFill>
                  <a:srgbClr val="FFFFFF"/>
                </a:solidFill>
                <a:latin typeface="Arial" pitchFamily="34" charset="0"/>
                <a:ea typeface="Arial" pitchFamily="34" charset="-122"/>
                <a:cs typeface="Arial" pitchFamily="34" charset="-120"/>
              </a:rPr>
              <a:t>Paradoxon</a:t>
            </a:r>
            <a:endParaRPr lang="en-US" sz="6400" dirty="0"/>
          </a:p>
        </p:txBody>
      </p:sp>
      <p:sp>
        <p:nvSpPr>
          <p:cNvPr id="4" name="Text 2"/>
          <p:cNvSpPr txBox="1"/>
          <p:nvPr/>
        </p:nvSpPr>
        <p:spPr>
          <a:xfrm>
            <a:off x="685800" y="3977640"/>
            <a:ext cx="6583680" cy="914400"/>
          </a:xfrm>
          <a:prstGeom prst="rect">
            <a:avLst/>
          </a:prstGeom>
          <a:noFill/>
          <a:ln/>
        </p:spPr>
        <p:txBody>
          <a:bodyPr wrap="square" lIns="0" tIns="0" rIns="0" bIns="0" rtlCol="0" anchor="t"/>
          <a:lstStyle/>
          <a:p>
            <a:pPr indent="0" marL="0">
              <a:lnSpc>
                <a:spcPct val="110000"/>
              </a:lnSpc>
              <a:buNone/>
            </a:pPr>
            <a:r>
              <a:rPr lang="en-US" sz="1900" dirty="0">
                <a:solidFill>
                  <a:srgbClr val="C9D6E3"/>
                </a:solidFill>
                <a:latin typeface="Arial" pitchFamily="34" charset="0"/>
                <a:ea typeface="Arial" pitchFamily="34" charset="-122"/>
                <a:cs typeface="Arial" pitchFamily="34" charset="-120"/>
              </a:rPr>
              <a:t>Zulassungen an der UC Berkeley 1973: Funktionen in Python, Visualisierung und stochastische Unabhängigkeit</a:t>
            </a:r>
            <a:endParaRPr lang="en-US" sz="1900" dirty="0"/>
          </a:p>
        </p:txBody>
      </p:sp>
      <p:sp>
        <p:nvSpPr>
          <p:cNvPr id="5" name="Text 3"/>
          <p:cNvSpPr txBox="1"/>
          <p:nvPr/>
        </p:nvSpPr>
        <p:spPr>
          <a:xfrm>
            <a:off x="685800" y="5897880"/>
            <a:ext cx="7315200" cy="32004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Leorat Krasniqi  ·  Teoman-Doganay Lam  ·  Filip Lazic</a:t>
            </a:r>
            <a:endParaRPr lang="en-US" sz="1500" dirty="0"/>
          </a:p>
        </p:txBody>
      </p:sp>
      <p:sp>
        <p:nvSpPr>
          <p:cNvPr id="6" name="Shape 4"/>
          <p:cNvSpPr/>
          <p:nvPr/>
        </p:nvSpPr>
        <p:spPr>
          <a:xfrm>
            <a:off x="8732520" y="2942005"/>
            <a:ext cx="960120" cy="2498675"/>
          </a:xfrm>
          <a:prstGeom prst="rect">
            <a:avLst/>
          </a:prstGeom>
          <a:solidFill>
            <a:srgbClr val="D9541E"/>
          </a:solidFill>
          <a:ln/>
        </p:spPr>
      </p:sp>
      <p:sp>
        <p:nvSpPr>
          <p:cNvPr id="7" name="Text 5"/>
          <p:cNvSpPr txBox="1"/>
          <p:nvPr/>
        </p:nvSpPr>
        <p:spPr>
          <a:xfrm>
            <a:off x="8549640" y="2484805"/>
            <a:ext cx="1325880"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30.4 %</a:t>
            </a:r>
            <a:endParaRPr lang="en-US" sz="2000" dirty="0"/>
          </a:p>
        </p:txBody>
      </p:sp>
      <p:sp>
        <p:nvSpPr>
          <p:cNvPr id="8" name="Text 6"/>
          <p:cNvSpPr txBox="1"/>
          <p:nvPr/>
        </p:nvSpPr>
        <p:spPr>
          <a:xfrm>
            <a:off x="8549640" y="5550408"/>
            <a:ext cx="1325880" cy="274320"/>
          </a:xfrm>
          <a:prstGeom prst="rect">
            <a:avLst/>
          </a:prstGeom>
          <a:noFill/>
          <a:ln/>
        </p:spPr>
        <p:txBody>
          <a:bodyPr wrap="square" lIns="0" tIns="0" rIns="0" bIns="0" rtlCol="0" anchor="t"/>
          <a:lstStyle/>
          <a:p>
            <a:pPr algn="ctr" indent="0" marL="0">
              <a:buNone/>
            </a:pPr>
            <a:r>
              <a:rPr lang="en-US" sz="1300" dirty="0">
                <a:solidFill>
                  <a:srgbClr val="C9D6E3"/>
                </a:solidFill>
                <a:latin typeface="Arial" pitchFamily="34" charset="0"/>
                <a:ea typeface="Arial" pitchFamily="34" charset="-122"/>
                <a:cs typeface="Arial" pitchFamily="34" charset="-120"/>
              </a:rPr>
              <a:t>Frauen</a:t>
            </a:r>
            <a:endParaRPr lang="en-US" sz="1300" dirty="0"/>
          </a:p>
        </p:txBody>
      </p:sp>
      <p:sp>
        <p:nvSpPr>
          <p:cNvPr id="9" name="Shape 7"/>
          <p:cNvSpPr/>
          <p:nvPr/>
        </p:nvSpPr>
        <p:spPr>
          <a:xfrm>
            <a:off x="10104120" y="1783080"/>
            <a:ext cx="960120" cy="3657600"/>
          </a:xfrm>
          <a:prstGeom prst="rect">
            <a:avLst/>
          </a:prstGeom>
          <a:solidFill>
            <a:srgbClr val="4A90C2"/>
          </a:solidFill>
          <a:ln/>
        </p:spPr>
      </p:sp>
      <p:sp>
        <p:nvSpPr>
          <p:cNvPr id="10" name="Text 8"/>
          <p:cNvSpPr txBox="1"/>
          <p:nvPr/>
        </p:nvSpPr>
        <p:spPr>
          <a:xfrm>
            <a:off x="9921240" y="1325880"/>
            <a:ext cx="1325880"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44.5 %</a:t>
            </a:r>
            <a:endParaRPr lang="en-US" sz="2000" dirty="0"/>
          </a:p>
        </p:txBody>
      </p:sp>
      <p:sp>
        <p:nvSpPr>
          <p:cNvPr id="11" name="Text 9"/>
          <p:cNvSpPr txBox="1"/>
          <p:nvPr/>
        </p:nvSpPr>
        <p:spPr>
          <a:xfrm>
            <a:off x="9921240" y="5550408"/>
            <a:ext cx="1325880" cy="274320"/>
          </a:xfrm>
          <a:prstGeom prst="rect">
            <a:avLst/>
          </a:prstGeom>
          <a:noFill/>
          <a:ln/>
        </p:spPr>
        <p:txBody>
          <a:bodyPr wrap="square" lIns="0" tIns="0" rIns="0" bIns="0" rtlCol="0" anchor="t"/>
          <a:lstStyle/>
          <a:p>
            <a:pPr algn="ctr" indent="0" marL="0">
              <a:buNone/>
            </a:pPr>
            <a:r>
              <a:rPr lang="en-US" sz="1300" dirty="0">
                <a:solidFill>
                  <a:srgbClr val="C9D6E3"/>
                </a:solidFill>
                <a:latin typeface="Arial" pitchFamily="34" charset="0"/>
                <a:ea typeface="Arial" pitchFamily="34" charset="-122"/>
                <a:cs typeface="Arial" pitchFamily="34" charset="-120"/>
              </a:rPr>
              <a:t>Männer</a:t>
            </a:r>
            <a:endParaRPr lang="en-US" sz="1300" dirty="0"/>
          </a:p>
        </p:txBody>
      </p:sp>
      <p:sp>
        <p:nvSpPr>
          <p:cNvPr id="12" name="Text 10"/>
          <p:cNvSpPr txBox="1"/>
          <p:nvPr/>
        </p:nvSpPr>
        <p:spPr>
          <a:xfrm>
            <a:off x="8549640" y="5943600"/>
            <a:ext cx="2971800" cy="274320"/>
          </a:xfrm>
          <a:prstGeom prst="rect">
            <a:avLst/>
          </a:prstGeom>
          <a:noFill/>
          <a:ln/>
        </p:spPr>
        <p:txBody>
          <a:bodyPr wrap="square" lIns="0" tIns="0" rIns="0" bIns="0" rtlCol="0" anchor="t"/>
          <a:lstStyle/>
          <a:p>
            <a:pPr algn="r" indent="0" marL="0">
              <a:buNone/>
            </a:pPr>
            <a:r>
              <a:rPr lang="en-US" sz="1100" dirty="0">
                <a:solidFill>
                  <a:srgbClr val="C9D6E3"/>
                </a:solidFill>
                <a:latin typeface="Arial" pitchFamily="34" charset="0"/>
                <a:ea typeface="Arial" pitchFamily="34" charset="-122"/>
                <a:cs typeface="Arial" pitchFamily="34" charset="-120"/>
              </a:rPr>
              <a:t>Zulassungsquote, alle Fachbereiche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AUSGANGSLAGE</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Diskriminierung in Berkeley?</a:t>
            </a:r>
            <a:endParaRPr lang="en-US" sz="3200" dirty="0"/>
          </a:p>
        </p:txBody>
      </p:sp>
      <p:sp>
        <p:nvSpPr>
          <p:cNvPr id="4" name="Text 2"/>
          <p:cNvSpPr txBox="1"/>
          <p:nvPr/>
        </p:nvSpPr>
        <p:spPr>
          <a:xfrm>
            <a:off x="685800" y="1874520"/>
            <a:ext cx="4754880" cy="1234440"/>
          </a:xfrm>
          <a:prstGeom prst="rect">
            <a:avLst/>
          </a:prstGeom>
          <a:noFill/>
          <a:ln/>
        </p:spPr>
        <p:txBody>
          <a:bodyPr wrap="square" lIns="0" tIns="0" rIns="0" bIns="0" rtlCol="0" anchor="t"/>
          <a:lstStyle/>
          <a:p>
            <a:pPr indent="0" marL="0">
              <a:buNone/>
            </a:pPr>
            <a:r>
              <a:rPr lang="en-US" sz="9600" b="1" dirty="0">
                <a:solidFill>
                  <a:srgbClr val="003262"/>
                </a:solidFill>
                <a:latin typeface="Arial" pitchFamily="34" charset="0"/>
                <a:ea typeface="Arial" pitchFamily="34" charset="-122"/>
                <a:cs typeface="Arial" pitchFamily="34" charset="-120"/>
              </a:rPr>
              <a:t>4 526</a:t>
            </a:r>
            <a:endParaRPr lang="en-US" sz="9600" dirty="0"/>
          </a:p>
        </p:txBody>
      </p:sp>
      <p:sp>
        <p:nvSpPr>
          <p:cNvPr id="5" name="Text 3"/>
          <p:cNvSpPr txBox="1"/>
          <p:nvPr/>
        </p:nvSpPr>
        <p:spPr>
          <a:xfrm>
            <a:off x="685800" y="3337560"/>
            <a:ext cx="4480560" cy="731520"/>
          </a:xfrm>
          <a:prstGeom prst="rect">
            <a:avLst/>
          </a:prstGeom>
          <a:noFill/>
          <a:ln/>
        </p:spPr>
        <p:txBody>
          <a:bodyPr wrap="square" lIns="0" tIns="0" rIns="0" bIns="0" rtlCol="0" anchor="t"/>
          <a:lstStyle/>
          <a:p>
            <a:pPr indent="0" marL="0">
              <a:buNone/>
            </a:pPr>
            <a:r>
              <a:rPr lang="en-US" sz="1900" dirty="0">
                <a:solidFill>
                  <a:srgbClr val="1A1A1A"/>
                </a:solidFill>
                <a:latin typeface="Arial" pitchFamily="34" charset="0"/>
                <a:ea typeface="Arial" pitchFamily="34" charset="-122"/>
                <a:cs typeface="Arial" pitchFamily="34" charset="-120"/>
              </a:rPr>
              <a:t>Bewerbungen für ein Graduate-Studium in 6 Fachbereichen (A bis F)</a:t>
            </a:r>
            <a:endParaRPr lang="en-US" sz="1900" dirty="0"/>
          </a:p>
        </p:txBody>
      </p:sp>
      <p:sp>
        <p:nvSpPr>
          <p:cNvPr id="6" name="Text 4"/>
          <p:cNvSpPr txBox="1"/>
          <p:nvPr/>
        </p:nvSpPr>
        <p:spPr>
          <a:xfrm>
            <a:off x="685800" y="4297680"/>
            <a:ext cx="4206240" cy="7315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 4: Zulassungsquote je Fachbereich und Geschlecht sowie Verteilung der Bewerbungen</a:t>
            </a:r>
            <a:endParaRPr lang="en-US" sz="1400" dirty="0"/>
          </a:p>
        </p:txBody>
      </p:sp>
      <p:sp>
        <p:nvSpPr>
          <p:cNvPr id="7" name="Shape 5"/>
          <p:cNvSpPr/>
          <p:nvPr/>
        </p:nvSpPr>
        <p:spPr>
          <a:xfrm>
            <a:off x="6035040" y="1828800"/>
            <a:ext cx="5470855" cy="0"/>
          </a:xfrm>
          <a:prstGeom prst="line">
            <a:avLst/>
          </a:prstGeom>
          <a:noFill/>
          <a:ln w="9525">
            <a:solidFill>
              <a:srgbClr val="C9CED6"/>
            </a:solidFill>
            <a:prstDash val="solid"/>
          </a:ln>
        </p:spPr>
      </p:sp>
      <p:sp>
        <p:nvSpPr>
          <p:cNvPr id="8" name="Text 6"/>
          <p:cNvSpPr txBox="1"/>
          <p:nvPr/>
        </p:nvSpPr>
        <p:spPr>
          <a:xfrm>
            <a:off x="6035040" y="20574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(a)</a:t>
            </a:r>
            <a:endParaRPr lang="en-US" sz="2600" dirty="0"/>
          </a:p>
        </p:txBody>
      </p:sp>
      <p:sp>
        <p:nvSpPr>
          <p:cNvPr id="9" name="Text 7"/>
          <p:cNvSpPr txBox="1"/>
          <p:nvPr/>
        </p:nvSpPr>
        <p:spPr>
          <a:xfrm>
            <a:off x="6949440" y="2084832"/>
            <a:ext cx="4553712" cy="329184"/>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Funktionen in Python</a:t>
            </a:r>
            <a:endParaRPr lang="en-US" sz="2000" dirty="0"/>
          </a:p>
        </p:txBody>
      </p:sp>
      <p:sp>
        <p:nvSpPr>
          <p:cNvPr id="10" name="Text 8"/>
          <p:cNvSpPr txBox="1"/>
          <p:nvPr/>
        </p:nvSpPr>
        <p:spPr>
          <a:xfrm>
            <a:off x="6949440" y="2487168"/>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McKinney 2018, Abschnitt 3.2</a:t>
            </a:r>
            <a:endParaRPr lang="en-US" sz="1500" dirty="0"/>
          </a:p>
        </p:txBody>
      </p:sp>
      <p:sp>
        <p:nvSpPr>
          <p:cNvPr id="11" name="Shape 9"/>
          <p:cNvSpPr/>
          <p:nvPr/>
        </p:nvSpPr>
        <p:spPr>
          <a:xfrm>
            <a:off x="6035040" y="3200400"/>
            <a:ext cx="5470855" cy="0"/>
          </a:xfrm>
          <a:prstGeom prst="line">
            <a:avLst/>
          </a:prstGeom>
          <a:noFill/>
          <a:ln w="9525">
            <a:solidFill>
              <a:srgbClr val="C9CED6"/>
            </a:solidFill>
            <a:prstDash val="solid"/>
          </a:ln>
        </p:spPr>
      </p:sp>
      <p:sp>
        <p:nvSpPr>
          <p:cNvPr id="12" name="Text 10"/>
          <p:cNvSpPr txBox="1"/>
          <p:nvPr/>
        </p:nvSpPr>
        <p:spPr>
          <a:xfrm>
            <a:off x="6035040" y="34290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(b)</a:t>
            </a:r>
            <a:endParaRPr lang="en-US" sz="2600" dirty="0"/>
          </a:p>
        </p:txBody>
      </p:sp>
      <p:sp>
        <p:nvSpPr>
          <p:cNvPr id="13" name="Text 11"/>
          <p:cNvSpPr txBox="1"/>
          <p:nvPr/>
        </p:nvSpPr>
        <p:spPr>
          <a:xfrm>
            <a:off x="6949440" y="3456432"/>
            <a:ext cx="4553712" cy="658368"/>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Die Ungerechtigkeit auf einen Blick darstellen</a:t>
            </a:r>
            <a:endParaRPr lang="en-US" sz="2000" dirty="0"/>
          </a:p>
        </p:txBody>
      </p:sp>
      <p:sp>
        <p:nvSpPr>
          <p:cNvPr id="14" name="Text 12"/>
          <p:cNvSpPr txBox="1"/>
          <p:nvPr/>
        </p:nvSpPr>
        <p:spPr>
          <a:xfrm>
            <a:off x="6949440" y="4187952"/>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Umsetzung in Python</a:t>
            </a:r>
            <a:endParaRPr lang="en-US" sz="1500" dirty="0"/>
          </a:p>
        </p:txBody>
      </p:sp>
      <p:sp>
        <p:nvSpPr>
          <p:cNvPr id="15" name="Shape 13"/>
          <p:cNvSpPr/>
          <p:nvPr/>
        </p:nvSpPr>
        <p:spPr>
          <a:xfrm>
            <a:off x="6035040" y="4572000"/>
            <a:ext cx="5470855" cy="0"/>
          </a:xfrm>
          <a:prstGeom prst="line">
            <a:avLst/>
          </a:prstGeom>
          <a:noFill/>
          <a:ln w="9525">
            <a:solidFill>
              <a:srgbClr val="C9CED6"/>
            </a:solidFill>
            <a:prstDash val="solid"/>
          </a:ln>
        </p:spPr>
      </p:sp>
      <p:sp>
        <p:nvSpPr>
          <p:cNvPr id="16" name="Text 14"/>
          <p:cNvSpPr txBox="1"/>
          <p:nvPr/>
        </p:nvSpPr>
        <p:spPr>
          <a:xfrm>
            <a:off x="6035040" y="48006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(c)</a:t>
            </a:r>
            <a:endParaRPr lang="en-US" sz="2600" dirty="0"/>
          </a:p>
        </p:txBody>
      </p:sp>
      <p:sp>
        <p:nvSpPr>
          <p:cNvPr id="17" name="Text 15"/>
          <p:cNvSpPr txBox="1"/>
          <p:nvPr/>
        </p:nvSpPr>
        <p:spPr>
          <a:xfrm>
            <a:off x="6949440" y="4828032"/>
            <a:ext cx="4553712" cy="329184"/>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Verteilungen vergleichen</a:t>
            </a:r>
            <a:endParaRPr lang="en-US" sz="2000" dirty="0"/>
          </a:p>
        </p:txBody>
      </p:sp>
      <p:sp>
        <p:nvSpPr>
          <p:cNvPr id="18" name="Text 16"/>
          <p:cNvSpPr txBox="1"/>
          <p:nvPr/>
        </p:nvSpPr>
        <p:spPr>
          <a:xfrm>
            <a:off x="6949440" y="5230368"/>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Stochastische Unabhängigkeit prüfen</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1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(a)</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Funktionen in Python</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Grundlagen nach McKinney (2018), Abschnitt 3.2 – angewendet auf die Berkeley-Daten</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989320" y="1783080"/>
            <a:ext cx="6202375" cy="4343400"/>
          </a:xfrm>
          <a:prstGeom prst="rect">
            <a:avLst/>
          </a:prstGeom>
          <a:solidFill>
            <a:srgbClr val="0E1E33"/>
          </a:solidFill>
          <a:ln/>
        </p:spPr>
      </p:sp>
      <p:sp>
        <p:nvSpPr>
          <p:cNvPr id="3" name="Text 1"/>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 FUNKTIONEN IN PYTHON</a:t>
            </a:r>
            <a:endParaRPr lang="en-US" sz="1200" dirty="0"/>
          </a:p>
        </p:txBody>
      </p:sp>
      <p:sp>
        <p:nvSpPr>
          <p:cNvPr id="4"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Funktionen: Grundlagen</a:t>
            </a:r>
            <a:endParaRPr lang="en-US" sz="3200" dirty="0"/>
          </a:p>
        </p:txBody>
      </p:sp>
      <p:sp>
        <p:nvSpPr>
          <p:cNvPr id="5" name="Text 3"/>
          <p:cNvSpPr txBox="1"/>
          <p:nvPr/>
        </p:nvSpPr>
        <p:spPr>
          <a:xfrm>
            <a:off x="685800" y="1856232"/>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01</a:t>
            </a:r>
            <a:endParaRPr lang="en-US" sz="1500" dirty="0"/>
          </a:p>
        </p:txBody>
      </p:sp>
      <p:sp>
        <p:nvSpPr>
          <p:cNvPr id="6" name="Text 4"/>
          <p:cNvSpPr txBox="1"/>
          <p:nvPr/>
        </p:nvSpPr>
        <p:spPr>
          <a:xfrm>
            <a:off x="1325880" y="1828800"/>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def und return</a:t>
            </a:r>
            <a:endParaRPr lang="en-US" sz="1900" dirty="0"/>
          </a:p>
        </p:txBody>
      </p:sp>
      <p:sp>
        <p:nvSpPr>
          <p:cNvPr id="7" name="Text 5"/>
          <p:cNvSpPr txBox="1"/>
          <p:nvPr/>
        </p:nvSpPr>
        <p:spPr>
          <a:xfrm>
            <a:off x="1325880" y="2212848"/>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def deklariert, return gibt zurück (ohne return: None)</a:t>
            </a:r>
            <a:endParaRPr lang="en-US" sz="1500" dirty="0"/>
          </a:p>
        </p:txBody>
      </p:sp>
      <p:sp>
        <p:nvSpPr>
          <p:cNvPr id="8" name="Text 6"/>
          <p:cNvSpPr txBox="1"/>
          <p:nvPr/>
        </p:nvSpPr>
        <p:spPr>
          <a:xfrm>
            <a:off x="685800" y="2935224"/>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02</a:t>
            </a:r>
            <a:endParaRPr lang="en-US" sz="1500" dirty="0"/>
          </a:p>
        </p:txBody>
      </p:sp>
      <p:sp>
        <p:nvSpPr>
          <p:cNvPr id="9" name="Text 7"/>
          <p:cNvSpPr txBox="1"/>
          <p:nvPr/>
        </p:nvSpPr>
        <p:spPr>
          <a:xfrm>
            <a:off x="1325880" y="2907792"/>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Argumente</a:t>
            </a:r>
            <a:endParaRPr lang="en-US" sz="1900" dirty="0"/>
          </a:p>
        </p:txBody>
      </p:sp>
      <p:sp>
        <p:nvSpPr>
          <p:cNvPr id="10" name="Text 8"/>
          <p:cNvSpPr txBox="1"/>
          <p:nvPr/>
        </p:nvSpPr>
        <p:spPr>
          <a:xfrm>
            <a:off x="1325880" y="3291840"/>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Positions- und Keyword-Argumente mit Standardwert</a:t>
            </a:r>
            <a:endParaRPr lang="en-US" sz="1500" dirty="0"/>
          </a:p>
        </p:txBody>
      </p:sp>
      <p:sp>
        <p:nvSpPr>
          <p:cNvPr id="11" name="Text 9"/>
          <p:cNvSpPr txBox="1"/>
          <p:nvPr/>
        </p:nvSpPr>
        <p:spPr>
          <a:xfrm>
            <a:off x="685800" y="4014216"/>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03</a:t>
            </a:r>
            <a:endParaRPr lang="en-US" sz="1500" dirty="0"/>
          </a:p>
        </p:txBody>
      </p:sp>
      <p:sp>
        <p:nvSpPr>
          <p:cNvPr id="12" name="Text 10"/>
          <p:cNvSpPr txBox="1"/>
          <p:nvPr/>
        </p:nvSpPr>
        <p:spPr>
          <a:xfrm>
            <a:off x="1325880" y="3986784"/>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Namensraum</a:t>
            </a:r>
            <a:endParaRPr lang="en-US" sz="1900" dirty="0"/>
          </a:p>
        </p:txBody>
      </p:sp>
      <p:sp>
        <p:nvSpPr>
          <p:cNvPr id="13" name="Text 11"/>
          <p:cNvSpPr txBox="1"/>
          <p:nvPr/>
        </p:nvSpPr>
        <p:spPr>
          <a:xfrm>
            <a:off x="1325880" y="4370832"/>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Lokaler Namensraum; global vermeiden</a:t>
            </a:r>
            <a:endParaRPr lang="en-US" sz="1500" dirty="0"/>
          </a:p>
        </p:txBody>
      </p:sp>
      <p:sp>
        <p:nvSpPr>
          <p:cNvPr id="14" name="Text 12"/>
          <p:cNvSpPr txBox="1"/>
          <p:nvPr/>
        </p:nvSpPr>
        <p:spPr>
          <a:xfrm>
            <a:off x="685800" y="5093208"/>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04</a:t>
            </a:r>
            <a:endParaRPr lang="en-US" sz="1500" dirty="0"/>
          </a:p>
        </p:txBody>
      </p:sp>
      <p:sp>
        <p:nvSpPr>
          <p:cNvPr id="15" name="Text 13"/>
          <p:cNvSpPr txBox="1"/>
          <p:nvPr/>
        </p:nvSpPr>
        <p:spPr>
          <a:xfrm>
            <a:off x="1325880" y="5065776"/>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Rückgabewerte</a:t>
            </a:r>
            <a:endParaRPr lang="en-US" sz="1900" dirty="0"/>
          </a:p>
        </p:txBody>
      </p:sp>
      <p:sp>
        <p:nvSpPr>
          <p:cNvPr id="16" name="Text 14"/>
          <p:cNvSpPr txBox="1"/>
          <p:nvPr/>
        </p:nvSpPr>
        <p:spPr>
          <a:xfrm>
            <a:off x="1325880" y="5449824"/>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Mehrere Rückgabewerte = ein Tupel, alternativ Dictionary</a:t>
            </a:r>
            <a:endParaRPr lang="en-US" sz="1500" dirty="0"/>
          </a:p>
        </p:txBody>
      </p:sp>
      <p:sp>
        <p:nvSpPr>
          <p:cNvPr id="17" name="Text 15"/>
          <p:cNvSpPr txBox="1"/>
          <p:nvPr/>
        </p:nvSpPr>
        <p:spPr>
          <a:xfrm>
            <a:off x="6355080" y="2057400"/>
            <a:ext cx="4572000" cy="274320"/>
          </a:xfrm>
          <a:prstGeom prst="rect">
            <a:avLst/>
          </a:prstGeom>
          <a:noFill/>
          <a:ln/>
        </p:spPr>
        <p:txBody>
          <a:bodyPr wrap="square" lIns="0" tIns="0" rIns="0" bIns="0" rtlCol="0" anchor="t"/>
          <a:lstStyle/>
          <a:p>
            <a:pPr indent="0" marL="0">
              <a:buNone/>
            </a:pPr>
            <a:r>
              <a:rPr lang="en-US" sz="1100" b="1" spc="200" kern="0" dirty="0">
                <a:solidFill>
                  <a:srgbClr val="FDB515"/>
                </a:solidFill>
                <a:latin typeface="Arial" pitchFamily="34" charset="0"/>
                <a:ea typeface="Arial" pitchFamily="34" charset="-122"/>
                <a:cs typeface="Arial" pitchFamily="34" charset="-120"/>
              </a:rPr>
              <a:t>UNSERE ANWENDUNG</a:t>
            </a:r>
            <a:endParaRPr lang="en-US" sz="1100" dirty="0"/>
          </a:p>
        </p:txBody>
      </p:sp>
      <p:sp>
        <p:nvSpPr>
          <p:cNvPr id="18" name="Text 16"/>
          <p:cNvSpPr txBox="1"/>
          <p:nvPr/>
        </p:nvSpPr>
        <p:spPr>
          <a:xfrm>
            <a:off x="6355080" y="2468880"/>
            <a:ext cx="5440680" cy="3474720"/>
          </a:xfrm>
          <a:prstGeom prst="rect">
            <a:avLst/>
          </a:prstGeom>
          <a:noFill/>
          <a:ln/>
        </p:spPr>
        <p:txBody>
          <a:bodyPr wrap="square" lIns="0" tIns="0" rIns="0" bIns="0" rtlCol="0" anchor="t"/>
          <a:lstStyle/>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def vierfeldertafel(daten, fachbereich=None):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if fachbereich is not None: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daten = daten[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daten["Fachbereich"] == fachbereich]</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return daten.pivot_table(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index="Geschlecht", columns="Entscheid",</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values="Anzahl", aggfunc="sum")</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def kennzahlen(zugelassen, abgelehnt, total):</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bewerbungen = zugelassen + abgelehnt</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return (zugelassen / bewerbungen,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bewerbungen / total)</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a:t>
            </a:r>
            <a:endParaRPr lang="en-US" sz="1300" dirty="0"/>
          </a:p>
          <a:p>
            <a:pPr indent="0" marL="0">
              <a:lnSpc>
                <a:spcPct val="105000"/>
              </a:lnSpc>
              <a:buNone/>
            </a:pPr>
            <a:r>
              <a:rPr lang="en-US" sz="1300" dirty="0">
                <a:solidFill>
                  <a:srgbClr val="FDB515"/>
                </a:solidFill>
                <a:latin typeface="Courier New" pitchFamily="34" charset="0"/>
                <a:ea typeface="Courier New" pitchFamily="34" charset="-122"/>
                <a:cs typeface="Courier New" pitchFamily="34" charset="-120"/>
              </a:rPr>
              <a:t># Tupel entpacken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quote, anteil = kennzahlen(89, 19, 1835)</a:t>
            </a:r>
            <a:endParaRPr lang="en-US" sz="13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 FUNKTIONEN IN PYTHON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Funktionen als Objekte, Lambda, yield</a:t>
            </a:r>
            <a:endParaRPr lang="en-US" sz="3200" dirty="0"/>
          </a:p>
        </p:txBody>
      </p:sp>
      <p:sp>
        <p:nvSpPr>
          <p:cNvPr id="4" name="Shape 2"/>
          <p:cNvSpPr/>
          <p:nvPr/>
        </p:nvSpPr>
        <p:spPr>
          <a:xfrm>
            <a:off x="685800" y="1783080"/>
            <a:ext cx="5272888" cy="2103120"/>
          </a:xfrm>
          <a:prstGeom prst="rect">
            <a:avLst/>
          </a:prstGeom>
          <a:solidFill>
            <a:srgbClr val="F1F3F5"/>
          </a:solidFill>
          <a:ln/>
        </p:spPr>
      </p:sp>
      <p:sp>
        <p:nvSpPr>
          <p:cNvPr id="5" name="Text 3"/>
          <p:cNvSpPr txBox="1"/>
          <p:nvPr/>
        </p:nvSpPr>
        <p:spPr>
          <a:xfrm>
            <a:off x="960120" y="1984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Funktionen sind Objekte</a:t>
            </a:r>
            <a:endParaRPr lang="en-US" sz="1800" dirty="0"/>
          </a:p>
        </p:txBody>
      </p:sp>
      <p:sp>
        <p:nvSpPr>
          <p:cNvPr id="6" name="Text 4"/>
          <p:cNvSpPr txBox="1"/>
          <p:nvPr/>
        </p:nvSpPr>
        <p:spPr>
          <a:xfrm>
            <a:off x="960120" y="2313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In Listen speichern und nacheinander anwenden</a:t>
            </a:r>
            <a:endParaRPr lang="en-US" sz="1400" dirty="0"/>
          </a:p>
        </p:txBody>
      </p:sp>
      <p:sp>
        <p:nvSpPr>
          <p:cNvPr id="7" name="Text 5"/>
          <p:cNvSpPr txBox="1"/>
          <p:nvPr/>
        </p:nvSpPr>
        <p:spPr>
          <a:xfrm>
            <a:off x="960120" y="2624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bereinigungs_schritte = [str.strip,</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entferne_prozentzeichen, in_anteil]</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tab4 = bereinige(["82.4%", "68.0%", ...],</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bereinigungs_schritte)</a:t>
            </a:r>
            <a:endParaRPr lang="en-US" sz="1200" dirty="0"/>
          </a:p>
        </p:txBody>
      </p:sp>
      <p:sp>
        <p:nvSpPr>
          <p:cNvPr id="8" name="Shape 6"/>
          <p:cNvSpPr/>
          <p:nvPr/>
        </p:nvSpPr>
        <p:spPr>
          <a:xfrm>
            <a:off x="6233008" y="1783080"/>
            <a:ext cx="5272888" cy="2103120"/>
          </a:xfrm>
          <a:prstGeom prst="rect">
            <a:avLst/>
          </a:prstGeom>
          <a:solidFill>
            <a:srgbClr val="F1F3F5"/>
          </a:solidFill>
          <a:ln/>
        </p:spPr>
      </p:sp>
      <p:sp>
        <p:nvSpPr>
          <p:cNvPr id="9" name="Text 7"/>
          <p:cNvSpPr txBox="1"/>
          <p:nvPr/>
        </p:nvSpPr>
        <p:spPr>
          <a:xfrm>
            <a:off x="6507328" y="1984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Lambda und Currying</a:t>
            </a:r>
            <a:endParaRPr lang="en-US" sz="1800" dirty="0"/>
          </a:p>
        </p:txBody>
      </p:sp>
      <p:sp>
        <p:nvSpPr>
          <p:cNvPr id="10" name="Text 8"/>
          <p:cNvSpPr txBox="1"/>
          <p:nvPr/>
        </p:nvSpPr>
        <p:spPr>
          <a:xfrm>
            <a:off x="6507328" y="2313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Anonyme Einzeiler; partial legt Argumente fest</a:t>
            </a:r>
            <a:endParaRPr lang="en-US" sz="1400" dirty="0"/>
          </a:p>
        </p:txBody>
      </p:sp>
      <p:sp>
        <p:nvSpPr>
          <p:cNvPr id="11" name="Text 9"/>
          <p:cNvSpPr txBox="1"/>
          <p:nvPr/>
        </p:nvSpPr>
        <p:spPr>
          <a:xfrm>
            <a:off x="6507328" y="2624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prozent = lambda x: f"{x:.1%}"</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pruefe_streng = partial(</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pruefe_unabhaengigkeit, alpha=0.01)</a:t>
            </a:r>
            <a:endParaRPr lang="en-US" sz="1200" dirty="0"/>
          </a:p>
        </p:txBody>
      </p:sp>
      <p:sp>
        <p:nvSpPr>
          <p:cNvPr id="12" name="Shape 10"/>
          <p:cNvSpPr/>
          <p:nvPr/>
        </p:nvSpPr>
        <p:spPr>
          <a:xfrm>
            <a:off x="685800" y="4069080"/>
            <a:ext cx="5272888" cy="2103120"/>
          </a:xfrm>
          <a:prstGeom prst="rect">
            <a:avLst/>
          </a:prstGeom>
          <a:solidFill>
            <a:srgbClr val="F1F3F5"/>
          </a:solidFill>
          <a:ln/>
        </p:spPr>
      </p:sp>
      <p:sp>
        <p:nvSpPr>
          <p:cNvPr id="13" name="Text 11"/>
          <p:cNvSpPr txBox="1"/>
          <p:nvPr/>
        </p:nvSpPr>
        <p:spPr>
          <a:xfrm>
            <a:off x="960120" y="4270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Generator mit yield</a:t>
            </a:r>
            <a:endParaRPr lang="en-US" sz="1800" dirty="0"/>
          </a:p>
        </p:txBody>
      </p:sp>
      <p:sp>
        <p:nvSpPr>
          <p:cNvPr id="14" name="Text 12"/>
          <p:cNvSpPr txBox="1"/>
          <p:nvPr/>
        </p:nvSpPr>
        <p:spPr>
          <a:xfrm>
            <a:off x="960120" y="4599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Liefert Ergebnisse erst auf Anfrage</a:t>
            </a:r>
            <a:endParaRPr lang="en-US" sz="1400" dirty="0"/>
          </a:p>
        </p:txBody>
      </p:sp>
      <p:sp>
        <p:nvSpPr>
          <p:cNvPr id="15" name="Text 13"/>
          <p:cNvSpPr txBox="1"/>
          <p:nvPr/>
        </p:nvSpPr>
        <p:spPr>
          <a:xfrm>
            <a:off x="960120" y="4910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def ergebnisse_je_fachbereich(daten, fachbereiche):</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for fb in fachbereiche:</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yield fb, pruefe_unabhaengigkeit(</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vierfeldertafel(daten, fb))</a:t>
            </a:r>
            <a:endParaRPr lang="en-US" sz="1200" dirty="0"/>
          </a:p>
        </p:txBody>
      </p:sp>
      <p:sp>
        <p:nvSpPr>
          <p:cNvPr id="16" name="Shape 14"/>
          <p:cNvSpPr/>
          <p:nvPr/>
        </p:nvSpPr>
        <p:spPr>
          <a:xfrm>
            <a:off x="6233008" y="4069080"/>
            <a:ext cx="5272888" cy="2103120"/>
          </a:xfrm>
          <a:prstGeom prst="rect">
            <a:avLst/>
          </a:prstGeom>
          <a:solidFill>
            <a:srgbClr val="F1F3F5"/>
          </a:solidFill>
          <a:ln/>
        </p:spPr>
      </p:sp>
      <p:sp>
        <p:nvSpPr>
          <p:cNvPr id="17" name="Text 15"/>
          <p:cNvSpPr txBox="1"/>
          <p:nvPr/>
        </p:nvSpPr>
        <p:spPr>
          <a:xfrm>
            <a:off x="6507328" y="4270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Ausnahmebehandlung</a:t>
            </a:r>
            <a:endParaRPr lang="en-US" sz="1800" dirty="0"/>
          </a:p>
        </p:txBody>
      </p:sp>
      <p:sp>
        <p:nvSpPr>
          <p:cNvPr id="18" name="Text 16"/>
          <p:cNvSpPr txBox="1"/>
          <p:nvPr/>
        </p:nvSpPr>
        <p:spPr>
          <a:xfrm>
            <a:off x="6507328" y="4599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Nur den erwarteten Fehler abfangen</a:t>
            </a:r>
            <a:endParaRPr lang="en-US" sz="1400" dirty="0"/>
          </a:p>
        </p:txBody>
      </p:sp>
      <p:sp>
        <p:nvSpPr>
          <p:cNvPr id="19" name="Text 17"/>
          <p:cNvSpPr txBox="1"/>
          <p:nvPr/>
        </p:nvSpPr>
        <p:spPr>
          <a:xfrm>
            <a:off x="6507328" y="4910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def in_anteil(wert):</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try:</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return float(wert) / 100</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except ValueError:</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raise ValueError(</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f"Ungültiger Tabellenwert: {wert!r}")</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2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(b)</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Umsetzung und Darstellung</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Vorüberlegungen zur programmtechnischen Umsetzung und die scheinbare Ungerechtigkeit</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(B) PROGRAMMTECHNISCHE UMSETZUNG</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Vorüberlegungen zur Umsetzung</a:t>
            </a:r>
            <a:endParaRPr lang="en-US" sz="3200" dirty="0"/>
          </a:p>
        </p:txBody>
      </p:sp>
      <p:sp>
        <p:nvSpPr>
          <p:cNvPr id="4" name="Text 2"/>
          <p:cNvSpPr txBox="1"/>
          <p:nvPr/>
        </p:nvSpPr>
        <p:spPr>
          <a:xfrm>
            <a:off x="685800"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01</a:t>
            </a:r>
            <a:endParaRPr lang="en-US" sz="4400" dirty="0"/>
          </a:p>
        </p:txBody>
      </p:sp>
      <p:sp>
        <p:nvSpPr>
          <p:cNvPr id="5" name="Text 3"/>
          <p:cNvSpPr txBox="1"/>
          <p:nvPr/>
        </p:nvSpPr>
        <p:spPr>
          <a:xfrm>
            <a:off x="685800"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Daten</a:t>
            </a:r>
            <a:endParaRPr lang="en-US" sz="1900" dirty="0"/>
          </a:p>
        </p:txBody>
      </p:sp>
      <p:sp>
        <p:nvSpPr>
          <p:cNvPr id="6" name="Text 4"/>
          <p:cNvSpPr txBox="1"/>
          <p:nvPr/>
        </p:nvSpPr>
        <p:spPr>
          <a:xfrm>
            <a:off x="685800"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Tabelle 4 enthält nur Prozente, deshalb Anzahlen aus dem Originaldatensatz (Bickel et al. 1975). Der Code prüft sie gegen Tabelle 4: </a:t>
            </a:r>
            <a:pPr indent="0" marL="0">
              <a:lnSpc>
                <a:spcPct val="105000"/>
              </a:lnSpc>
              <a:buNone/>
            </a:pPr>
            <a:r>
              <a:rPr lang="en-US" sz="1500" b="1" dirty="0">
                <a:solidFill>
                  <a:srgbClr val="003262"/>
                </a:solidFill>
                <a:latin typeface="Arial" pitchFamily="34" charset="0"/>
                <a:ea typeface="Arial" pitchFamily="34" charset="-122"/>
                <a:cs typeface="Arial" pitchFamily="34" charset="-120"/>
              </a:rPr>
              <a:t>0 Abweichungen</a:t>
            </a:r>
            <a:endParaRPr lang="en-US" sz="1500" dirty="0"/>
          </a:p>
        </p:txBody>
      </p:sp>
      <p:sp>
        <p:nvSpPr>
          <p:cNvPr id="7" name="Text 5"/>
          <p:cNvSpPr txBox="1"/>
          <p:nvPr/>
        </p:nvSpPr>
        <p:spPr>
          <a:xfrm>
            <a:off x="3470834"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02</a:t>
            </a:r>
            <a:endParaRPr lang="en-US" sz="4400" dirty="0"/>
          </a:p>
        </p:txBody>
      </p:sp>
      <p:sp>
        <p:nvSpPr>
          <p:cNvPr id="8" name="Text 6"/>
          <p:cNvSpPr txBox="1"/>
          <p:nvPr/>
        </p:nvSpPr>
        <p:spPr>
          <a:xfrm>
            <a:off x="3470834"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Kontrolle</a:t>
            </a:r>
            <a:endParaRPr lang="en-US" sz="1900" dirty="0"/>
          </a:p>
        </p:txBody>
      </p:sp>
      <p:sp>
        <p:nvSpPr>
          <p:cNvPr id="9" name="Text 7"/>
          <p:cNvSpPr txBox="1"/>
          <p:nvPr/>
        </p:nvSpPr>
        <p:spPr>
          <a:xfrm>
            <a:off x="3470834"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Plausibilitätskontrolle:</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P(Z | G) =</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Σ P(Fᵢ | G) · P(Z | Fᵢ, G)</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ergibt die Zeile «Total»</a:t>
            </a:r>
            <a:endParaRPr lang="en-US" sz="1500" dirty="0"/>
          </a:p>
        </p:txBody>
      </p:sp>
      <p:sp>
        <p:nvSpPr>
          <p:cNvPr id="10" name="Text 8"/>
          <p:cNvSpPr txBox="1"/>
          <p:nvPr/>
        </p:nvSpPr>
        <p:spPr>
          <a:xfrm>
            <a:off x="6255868"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03</a:t>
            </a:r>
            <a:endParaRPr lang="en-US" sz="4400" dirty="0"/>
          </a:p>
        </p:txBody>
      </p:sp>
      <p:sp>
        <p:nvSpPr>
          <p:cNvPr id="11" name="Text 9"/>
          <p:cNvSpPr txBox="1"/>
          <p:nvPr/>
        </p:nvSpPr>
        <p:spPr>
          <a:xfrm>
            <a:off x="6255868"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Struktur</a:t>
            </a:r>
            <a:endParaRPr lang="en-US" sz="1900" dirty="0"/>
          </a:p>
        </p:txBody>
      </p:sp>
      <p:sp>
        <p:nvSpPr>
          <p:cNvPr id="12" name="Text 10"/>
          <p:cNvSpPr txBox="1"/>
          <p:nvPr/>
        </p:nvSpPr>
        <p:spPr>
          <a:xfrm>
            <a:off x="6255868"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Langes DataFrame (Fachbereich × Geschlecht × Entscheid), daraus jede Kreuztabelle mit pivot_table</a:t>
            </a:r>
            <a:endParaRPr lang="en-US" sz="1500" dirty="0"/>
          </a:p>
        </p:txBody>
      </p:sp>
      <p:sp>
        <p:nvSpPr>
          <p:cNvPr id="13" name="Text 11"/>
          <p:cNvSpPr txBox="1"/>
          <p:nvPr/>
        </p:nvSpPr>
        <p:spPr>
          <a:xfrm>
            <a:off x="9040901"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04</a:t>
            </a:r>
            <a:endParaRPr lang="en-US" sz="4400" dirty="0"/>
          </a:p>
        </p:txBody>
      </p:sp>
      <p:sp>
        <p:nvSpPr>
          <p:cNvPr id="14" name="Text 12"/>
          <p:cNvSpPr txBox="1"/>
          <p:nvPr/>
        </p:nvSpPr>
        <p:spPr>
          <a:xfrm>
            <a:off x="9040901"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Funktionen</a:t>
            </a:r>
            <a:endParaRPr lang="en-US" sz="1900" dirty="0"/>
          </a:p>
        </p:txBody>
      </p:sp>
      <p:sp>
        <p:nvSpPr>
          <p:cNvPr id="15" name="Text 13"/>
          <p:cNvSpPr txBox="1"/>
          <p:nvPr/>
        </p:nvSpPr>
        <p:spPr>
          <a:xfrm>
            <a:off x="9040901"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Wiederholte Schritte als Funktionen: gesamt und für jeden der 6 Fachbereiche</a:t>
            </a:r>
            <a:endParaRPr lang="en-US" sz="1500" dirty="0"/>
          </a:p>
        </p:txBody>
      </p:sp>
      <p:sp>
        <p:nvSpPr>
          <p:cNvPr id="16" name="Shape 14"/>
          <p:cNvSpPr/>
          <p:nvPr/>
        </p:nvSpPr>
        <p:spPr>
          <a:xfrm>
            <a:off x="0" y="4709160"/>
            <a:ext cx="12191695" cy="1371600"/>
          </a:xfrm>
          <a:prstGeom prst="rect">
            <a:avLst/>
          </a:prstGeom>
          <a:solidFill>
            <a:srgbClr val="F1F3F5"/>
          </a:solidFill>
          <a:ln/>
        </p:spPr>
      </p:sp>
      <p:sp>
        <p:nvSpPr>
          <p:cNvPr id="17" name="Text 15"/>
          <p:cNvSpPr txBox="1"/>
          <p:nvPr/>
        </p:nvSpPr>
        <p:spPr>
          <a:xfrm>
            <a:off x="685800" y="4873752"/>
            <a:ext cx="3657600"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LIBRARIES</a:t>
            </a:r>
            <a:endParaRPr lang="en-US" sz="1100" dirty="0"/>
          </a:p>
        </p:txBody>
      </p:sp>
      <p:sp>
        <p:nvSpPr>
          <p:cNvPr id="18" name="Text 16"/>
          <p:cNvSpPr txBox="1"/>
          <p:nvPr/>
        </p:nvSpPr>
        <p:spPr>
          <a:xfrm>
            <a:off x="685800"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pandas</a:t>
            </a:r>
            <a:endParaRPr lang="en-US" sz="2000" dirty="0"/>
          </a:p>
        </p:txBody>
      </p:sp>
      <p:sp>
        <p:nvSpPr>
          <p:cNvPr id="19" name="Text 17"/>
          <p:cNvSpPr txBox="1"/>
          <p:nvPr/>
        </p:nvSpPr>
        <p:spPr>
          <a:xfrm>
            <a:off x="685800"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Tabellen</a:t>
            </a:r>
            <a:endParaRPr lang="en-US" sz="1400" dirty="0"/>
          </a:p>
        </p:txBody>
      </p:sp>
      <p:sp>
        <p:nvSpPr>
          <p:cNvPr id="20" name="Text 18"/>
          <p:cNvSpPr txBox="1"/>
          <p:nvPr/>
        </p:nvSpPr>
        <p:spPr>
          <a:xfrm>
            <a:off x="3470834"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numpy</a:t>
            </a:r>
            <a:endParaRPr lang="en-US" sz="2000" dirty="0"/>
          </a:p>
        </p:txBody>
      </p:sp>
      <p:sp>
        <p:nvSpPr>
          <p:cNvPr id="21" name="Text 19"/>
          <p:cNvSpPr txBox="1"/>
          <p:nvPr/>
        </p:nvSpPr>
        <p:spPr>
          <a:xfrm>
            <a:off x="3470834"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Rechnen</a:t>
            </a:r>
            <a:endParaRPr lang="en-US" sz="1400" dirty="0"/>
          </a:p>
        </p:txBody>
      </p:sp>
      <p:sp>
        <p:nvSpPr>
          <p:cNvPr id="22" name="Text 20"/>
          <p:cNvSpPr txBox="1"/>
          <p:nvPr/>
        </p:nvSpPr>
        <p:spPr>
          <a:xfrm>
            <a:off x="6255868"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matplotlib</a:t>
            </a:r>
            <a:endParaRPr lang="en-US" sz="2000" dirty="0"/>
          </a:p>
        </p:txBody>
      </p:sp>
      <p:sp>
        <p:nvSpPr>
          <p:cNvPr id="23" name="Text 21"/>
          <p:cNvSpPr txBox="1"/>
          <p:nvPr/>
        </p:nvSpPr>
        <p:spPr>
          <a:xfrm>
            <a:off x="6255868"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Grafiken</a:t>
            </a:r>
            <a:endParaRPr lang="en-US" sz="1400" dirty="0"/>
          </a:p>
        </p:txBody>
      </p:sp>
      <p:sp>
        <p:nvSpPr>
          <p:cNvPr id="24" name="Text 22"/>
          <p:cNvSpPr txBox="1"/>
          <p:nvPr/>
        </p:nvSpPr>
        <p:spPr>
          <a:xfrm>
            <a:off x="9040901"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scipy.stats</a:t>
            </a:r>
            <a:endParaRPr lang="en-US" sz="2000" dirty="0"/>
          </a:p>
        </p:txBody>
      </p:sp>
      <p:sp>
        <p:nvSpPr>
          <p:cNvPr id="25" name="Text 23"/>
          <p:cNvSpPr txBox="1"/>
          <p:nvPr/>
        </p:nvSpPr>
        <p:spPr>
          <a:xfrm>
            <a:off x="9040901"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Chi-Quadrat-Test</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(B) DARSTELLUNG IN PYTHON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Die scheinbare Ungerechtigkeit</a:t>
            </a:r>
            <a:endParaRPr lang="en-US" sz="3200" dirty="0"/>
          </a:p>
        </p:txBody>
      </p:sp>
      <p:sp>
        <p:nvSpPr>
          <p:cNvPr id="4" name="Text 2"/>
          <p:cNvSpPr txBox="1"/>
          <p:nvPr/>
        </p:nvSpPr>
        <p:spPr>
          <a:xfrm>
            <a:off x="685800" y="1691640"/>
            <a:ext cx="59436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über alle sechs Fachbereiche</a:t>
            </a:r>
            <a:endParaRPr lang="en-US" sz="1300" dirty="0"/>
          </a:p>
        </p:txBody>
      </p:sp>
      <p:graphicFrame>
        <p:nvGraphicFramePr>
          <p:cNvPr id="5" name="Chart 0" descr=""/>
          <p:cNvGraphicFramePr/>
          <p:nvPr/>
        </p:nvGraphicFramePr>
        <p:xfrm>
          <a:off x="502920" y="2011680"/>
          <a:ext cx="6035040" cy="41148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315200" y="1783080"/>
            <a:ext cx="4187952" cy="1143000"/>
          </a:xfrm>
          <a:prstGeom prst="rect">
            <a:avLst/>
          </a:prstGeom>
          <a:noFill/>
          <a:ln/>
        </p:spPr>
        <p:txBody>
          <a:bodyPr wrap="square" lIns="0" tIns="0" rIns="0" bIns="0" rtlCol="0" anchor="t"/>
          <a:lstStyle/>
          <a:p>
            <a:pPr indent="0" marL="0">
              <a:buNone/>
            </a:pPr>
            <a:r>
              <a:rPr lang="en-US" sz="8800" b="1" dirty="0">
                <a:solidFill>
                  <a:srgbClr val="003262"/>
                </a:solidFill>
                <a:latin typeface="Arial" pitchFamily="34" charset="0"/>
                <a:ea typeface="Arial" pitchFamily="34" charset="-122"/>
                <a:cs typeface="Arial" pitchFamily="34" charset="-120"/>
              </a:rPr>
              <a:t>14.2</a:t>
            </a:r>
            <a:endParaRPr lang="en-US" sz="8800" dirty="0"/>
          </a:p>
        </p:txBody>
      </p:sp>
      <p:sp>
        <p:nvSpPr>
          <p:cNvPr id="7" name="Text 4"/>
          <p:cNvSpPr txBox="1"/>
          <p:nvPr/>
        </p:nvSpPr>
        <p:spPr>
          <a:xfrm>
            <a:off x="7315200" y="2971800"/>
            <a:ext cx="4023360" cy="365760"/>
          </a:xfrm>
          <a:prstGeom prst="rect">
            <a:avLst/>
          </a:prstGeom>
          <a:noFill/>
          <a:ln/>
        </p:spPr>
        <p:txBody>
          <a:bodyPr wrap="square" lIns="0" tIns="0" rIns="0" bIns="0" rtlCol="0" anchor="t"/>
          <a:lstStyle/>
          <a:p>
            <a:pPr indent="0" marL="0">
              <a:buNone/>
            </a:pPr>
            <a:r>
              <a:rPr lang="en-US" sz="1600" dirty="0">
                <a:solidFill>
                  <a:srgbClr val="5F6672"/>
                </a:solidFill>
                <a:latin typeface="Arial" pitchFamily="34" charset="0"/>
                <a:ea typeface="Arial" pitchFamily="34" charset="-122"/>
                <a:cs typeface="Arial" pitchFamily="34" charset="-120"/>
              </a:rPr>
              <a:t>Prozentpunkte Differenz zulasten der Frauen</a:t>
            </a:r>
            <a:endParaRPr lang="en-US" sz="1600" dirty="0"/>
          </a:p>
        </p:txBody>
      </p:sp>
      <p:sp>
        <p:nvSpPr>
          <p:cNvPr id="8" name="Text 5"/>
          <p:cNvSpPr txBox="1"/>
          <p:nvPr/>
        </p:nvSpPr>
        <p:spPr>
          <a:xfrm>
            <a:off x="7315200" y="3703320"/>
            <a:ext cx="4187952" cy="548640"/>
          </a:xfrm>
          <a:prstGeom prst="rect">
            <a:avLst/>
          </a:prstGeom>
          <a:noFill/>
          <a:ln/>
        </p:spPr>
        <p:txBody>
          <a:bodyPr wrap="square" lIns="0" tIns="0" rIns="0" bIns="0" rtlCol="0" anchor="t"/>
          <a:lstStyle/>
          <a:p>
            <a:pPr indent="0" marL="0">
              <a:buNone/>
            </a:pPr>
            <a:r>
              <a:rPr lang="en-US" sz="3400" b="1" dirty="0">
                <a:solidFill>
                  <a:srgbClr val="1A1A1A"/>
                </a:solidFill>
                <a:latin typeface="Arial" pitchFamily="34" charset="0"/>
                <a:ea typeface="Arial" pitchFamily="34" charset="-122"/>
                <a:cs typeface="Arial" pitchFamily="34" charset="-120"/>
              </a:rPr>
              <a:t>817 statt 557</a:t>
            </a:r>
            <a:endParaRPr lang="en-US" sz="3400" dirty="0"/>
          </a:p>
        </p:txBody>
      </p:sp>
      <p:sp>
        <p:nvSpPr>
          <p:cNvPr id="9" name="Text 6"/>
          <p:cNvSpPr txBox="1"/>
          <p:nvPr/>
        </p:nvSpPr>
        <p:spPr>
          <a:xfrm>
            <a:off x="7315200" y="4279392"/>
            <a:ext cx="402336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Frauen wären bei der Quote der Männer zugelassen worden</a:t>
            </a:r>
            <a:endParaRPr lang="en-US" sz="1500" dirty="0"/>
          </a:p>
        </p:txBody>
      </p:sp>
      <p:sp>
        <p:nvSpPr>
          <p:cNvPr id="10" name="Text 7"/>
          <p:cNvSpPr txBox="1"/>
          <p:nvPr/>
        </p:nvSpPr>
        <p:spPr>
          <a:xfrm>
            <a:off x="7315200" y="5257800"/>
            <a:ext cx="4187952" cy="502920"/>
          </a:xfrm>
          <a:prstGeom prst="rect">
            <a:avLst/>
          </a:prstGeom>
          <a:noFill/>
          <a:ln/>
        </p:spPr>
        <p:txBody>
          <a:bodyPr wrap="square" lIns="0" tIns="0" rIns="0" bIns="0" rtlCol="0" anchor="t"/>
          <a:lstStyle/>
          <a:p>
            <a:pPr indent="0" marL="0">
              <a:buNone/>
            </a:pPr>
            <a:r>
              <a:rPr lang="en-US" sz="2800" b="1" dirty="0">
                <a:solidFill>
                  <a:srgbClr val="D9541E"/>
                </a:solidFill>
                <a:latin typeface="Arial" pitchFamily="34" charset="0"/>
                <a:ea typeface="Arial" pitchFamily="34" charset="-122"/>
                <a:cs typeface="Arial" pitchFamily="34" charset="-120"/>
              </a:rPr>
              <a:t>Also Diskriminierung?</a:t>
            </a:r>
            <a:endParaRPr lang="en-US" sz="28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3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(c)</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Vergleich der Verteilungen</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Quoten je Fachbereich, Verteilung der Bewerbungen und stochastische Unabhängigkeit</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Je Fachbereich: kein Nachteil für Frauen</a:t>
            </a:r>
            <a:endParaRPr lang="en-US" sz="3200" dirty="0"/>
          </a:p>
        </p:txBody>
      </p:sp>
      <p:sp>
        <p:nvSpPr>
          <p:cNvPr id="4" name="Text 2"/>
          <p:cNvSpPr txBox="1"/>
          <p:nvPr/>
        </p:nvSpPr>
        <p:spPr>
          <a:xfrm>
            <a:off x="685800" y="1691640"/>
            <a:ext cx="713232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5" name="Chart 0" descr=""/>
          <p:cNvGraphicFramePr/>
          <p:nvPr/>
        </p:nvGraphicFramePr>
        <p:xfrm>
          <a:off x="502920" y="2011680"/>
          <a:ext cx="7406640" cy="41148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366760" y="1783080"/>
            <a:ext cx="3136392" cy="868680"/>
          </a:xfrm>
          <a:prstGeom prst="rect">
            <a:avLst/>
          </a:prstGeom>
          <a:noFill/>
          <a:ln/>
        </p:spPr>
        <p:txBody>
          <a:bodyPr wrap="square" lIns="0" tIns="0" rIns="0" bIns="0" rtlCol="0" anchor="t"/>
          <a:lstStyle/>
          <a:p>
            <a:pPr indent="0" marL="0">
              <a:buNone/>
            </a:pPr>
            <a:r>
              <a:rPr lang="en-US" sz="6000" b="1" dirty="0">
                <a:solidFill>
                  <a:srgbClr val="D9541E"/>
                </a:solidFill>
                <a:latin typeface="Arial" pitchFamily="34" charset="0"/>
                <a:ea typeface="Arial" pitchFamily="34" charset="-122"/>
                <a:cs typeface="Arial" pitchFamily="34" charset="-120"/>
              </a:rPr>
              <a:t>4 von 6</a:t>
            </a:r>
            <a:endParaRPr lang="en-US" sz="6000" dirty="0"/>
          </a:p>
        </p:txBody>
      </p:sp>
      <p:sp>
        <p:nvSpPr>
          <p:cNvPr id="7" name="Text 4"/>
          <p:cNvSpPr txBox="1"/>
          <p:nvPr/>
        </p:nvSpPr>
        <p:spPr>
          <a:xfrm>
            <a:off x="8366760" y="2670048"/>
            <a:ext cx="3136392" cy="5486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Fachbereichen mit höherer Quote für Frauen</a:t>
            </a:r>
            <a:endParaRPr lang="en-US" sz="1500" dirty="0"/>
          </a:p>
        </p:txBody>
      </p:sp>
      <p:sp>
        <p:nvSpPr>
          <p:cNvPr id="8" name="Text 5"/>
          <p:cNvSpPr txBox="1"/>
          <p:nvPr/>
        </p:nvSpPr>
        <p:spPr>
          <a:xfrm>
            <a:off x="8366760" y="3474720"/>
            <a:ext cx="3136392" cy="411480"/>
          </a:xfrm>
          <a:prstGeom prst="rect">
            <a:avLst/>
          </a:prstGeom>
          <a:noFill/>
          <a:ln/>
        </p:spPr>
        <p:txBody>
          <a:bodyPr wrap="square" lIns="0" tIns="0" rIns="0" bIns="0" rtlCol="0" anchor="t"/>
          <a:lstStyle/>
          <a:p>
            <a:pPr indent="0" marL="0">
              <a:buNone/>
            </a:pPr>
            <a:r>
              <a:rPr lang="en-US" sz="1000" b="1" spc="100" kern="0" dirty="0">
                <a:solidFill>
                  <a:srgbClr val="5F6672"/>
                </a:solidFill>
                <a:latin typeface="Arial" pitchFamily="34" charset="0"/>
                <a:ea typeface="Arial" pitchFamily="34" charset="-122"/>
                <a:cs typeface="Arial" pitchFamily="34" charset="-120"/>
              </a:rPr>
              <a:t>DIFFERENZ FRAUEN − MÄNNER, IN PROZENTPUNKTEN</a:t>
            </a:r>
            <a:endParaRPr lang="en-US" sz="1000" dirty="0"/>
          </a:p>
        </p:txBody>
      </p:sp>
      <p:sp>
        <p:nvSpPr>
          <p:cNvPr id="9" name="Text 6"/>
          <p:cNvSpPr txBox="1"/>
          <p:nvPr/>
        </p:nvSpPr>
        <p:spPr>
          <a:xfrm>
            <a:off x="8366760" y="3931920"/>
            <a:ext cx="1097280" cy="292608"/>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FB A</a:t>
            </a:r>
            <a:endParaRPr lang="en-US" sz="1500" dirty="0"/>
          </a:p>
        </p:txBody>
      </p:sp>
      <p:sp>
        <p:nvSpPr>
          <p:cNvPr id="10" name="Text 7"/>
          <p:cNvSpPr txBox="1"/>
          <p:nvPr/>
        </p:nvSpPr>
        <p:spPr>
          <a:xfrm>
            <a:off x="9692640" y="3931920"/>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+20.3</a:t>
            </a:r>
            <a:endParaRPr lang="en-US" sz="1500" dirty="0"/>
          </a:p>
        </p:txBody>
      </p:sp>
      <p:sp>
        <p:nvSpPr>
          <p:cNvPr id="11" name="Text 8"/>
          <p:cNvSpPr txBox="1"/>
          <p:nvPr/>
        </p:nvSpPr>
        <p:spPr>
          <a:xfrm>
            <a:off x="8366760" y="4279392"/>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B</a:t>
            </a:r>
            <a:endParaRPr lang="en-US" sz="1500" dirty="0"/>
          </a:p>
        </p:txBody>
      </p:sp>
      <p:sp>
        <p:nvSpPr>
          <p:cNvPr id="12" name="Text 9"/>
          <p:cNvSpPr txBox="1"/>
          <p:nvPr/>
        </p:nvSpPr>
        <p:spPr>
          <a:xfrm>
            <a:off x="9692640" y="4279392"/>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+5.0</a:t>
            </a:r>
            <a:endParaRPr lang="en-US" sz="1500" dirty="0"/>
          </a:p>
        </p:txBody>
      </p:sp>
      <p:sp>
        <p:nvSpPr>
          <p:cNvPr id="13" name="Text 10"/>
          <p:cNvSpPr txBox="1"/>
          <p:nvPr/>
        </p:nvSpPr>
        <p:spPr>
          <a:xfrm>
            <a:off x="8366760" y="4626864"/>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C</a:t>
            </a:r>
            <a:endParaRPr lang="en-US" sz="1500" dirty="0"/>
          </a:p>
        </p:txBody>
      </p:sp>
      <p:sp>
        <p:nvSpPr>
          <p:cNvPr id="14" name="Text 11"/>
          <p:cNvSpPr txBox="1"/>
          <p:nvPr/>
        </p:nvSpPr>
        <p:spPr>
          <a:xfrm>
            <a:off x="9692640" y="4626864"/>
            <a:ext cx="1810512" cy="292608"/>
          </a:xfrm>
          <a:prstGeom prst="rect">
            <a:avLst/>
          </a:prstGeom>
          <a:noFill/>
          <a:ln/>
        </p:spPr>
        <p:txBody>
          <a:bodyPr wrap="square" lIns="0" tIns="0" rIns="0" bIns="0" rtlCol="0" anchor="t"/>
          <a:lstStyle/>
          <a:p>
            <a:pPr algn="r" indent="0" marL="0">
              <a:buNone/>
            </a:pPr>
            <a:r>
              <a:rPr lang="en-US" sz="1500" b="1" dirty="0">
                <a:solidFill>
                  <a:srgbClr val="5F6672"/>
                </a:solidFill>
                <a:latin typeface="Arial" pitchFamily="34" charset="0"/>
                <a:ea typeface="Arial" pitchFamily="34" charset="-122"/>
                <a:cs typeface="Arial" pitchFamily="34" charset="-120"/>
              </a:rPr>
              <a:t>−2.8</a:t>
            </a:r>
            <a:endParaRPr lang="en-US" sz="1500" dirty="0"/>
          </a:p>
        </p:txBody>
      </p:sp>
      <p:sp>
        <p:nvSpPr>
          <p:cNvPr id="15" name="Text 12"/>
          <p:cNvSpPr txBox="1"/>
          <p:nvPr/>
        </p:nvSpPr>
        <p:spPr>
          <a:xfrm>
            <a:off x="8366760" y="4974336"/>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D</a:t>
            </a:r>
            <a:endParaRPr lang="en-US" sz="1500" dirty="0"/>
          </a:p>
        </p:txBody>
      </p:sp>
      <p:sp>
        <p:nvSpPr>
          <p:cNvPr id="16" name="Text 13"/>
          <p:cNvSpPr txBox="1"/>
          <p:nvPr/>
        </p:nvSpPr>
        <p:spPr>
          <a:xfrm>
            <a:off x="9692640" y="4974336"/>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+1.8</a:t>
            </a:r>
            <a:endParaRPr lang="en-US" sz="1500" dirty="0"/>
          </a:p>
        </p:txBody>
      </p:sp>
      <p:sp>
        <p:nvSpPr>
          <p:cNvPr id="17" name="Text 14"/>
          <p:cNvSpPr txBox="1"/>
          <p:nvPr/>
        </p:nvSpPr>
        <p:spPr>
          <a:xfrm>
            <a:off x="8366760" y="5321808"/>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E</a:t>
            </a:r>
            <a:endParaRPr lang="en-US" sz="1500" dirty="0"/>
          </a:p>
        </p:txBody>
      </p:sp>
      <p:sp>
        <p:nvSpPr>
          <p:cNvPr id="18" name="Text 15"/>
          <p:cNvSpPr txBox="1"/>
          <p:nvPr/>
        </p:nvSpPr>
        <p:spPr>
          <a:xfrm>
            <a:off x="9692640" y="5321808"/>
            <a:ext cx="1810512" cy="292608"/>
          </a:xfrm>
          <a:prstGeom prst="rect">
            <a:avLst/>
          </a:prstGeom>
          <a:noFill/>
          <a:ln/>
        </p:spPr>
        <p:txBody>
          <a:bodyPr wrap="square" lIns="0" tIns="0" rIns="0" bIns="0" rtlCol="0" anchor="t"/>
          <a:lstStyle/>
          <a:p>
            <a:pPr algn="r" indent="0" marL="0">
              <a:buNone/>
            </a:pPr>
            <a:r>
              <a:rPr lang="en-US" sz="1500" b="1" dirty="0">
                <a:solidFill>
                  <a:srgbClr val="5F6672"/>
                </a:solidFill>
                <a:latin typeface="Arial" pitchFamily="34" charset="0"/>
                <a:ea typeface="Arial" pitchFamily="34" charset="-122"/>
                <a:cs typeface="Arial" pitchFamily="34" charset="-120"/>
              </a:rPr>
              <a:t>−3.8</a:t>
            </a:r>
            <a:endParaRPr lang="en-US" sz="1500" dirty="0"/>
          </a:p>
        </p:txBody>
      </p:sp>
      <p:sp>
        <p:nvSpPr>
          <p:cNvPr id="19" name="Text 16"/>
          <p:cNvSpPr txBox="1"/>
          <p:nvPr/>
        </p:nvSpPr>
        <p:spPr>
          <a:xfrm>
            <a:off x="8366760" y="5669280"/>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F</a:t>
            </a:r>
            <a:endParaRPr lang="en-US" sz="1500" dirty="0"/>
          </a:p>
        </p:txBody>
      </p:sp>
      <p:sp>
        <p:nvSpPr>
          <p:cNvPr id="20" name="Text 17"/>
          <p:cNvSpPr txBox="1"/>
          <p:nvPr/>
        </p:nvSpPr>
        <p:spPr>
          <a:xfrm>
            <a:off x="9692640" y="5669280"/>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+1.1</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Frauen wählten selektivere Fachbereiche</a:t>
            </a:r>
            <a:endParaRPr lang="en-US" sz="3200" dirty="0"/>
          </a:p>
        </p:txBody>
      </p:sp>
      <p:sp>
        <p:nvSpPr>
          <p:cNvPr id="4" name="Text 2"/>
          <p:cNvSpPr txBox="1"/>
          <p:nvPr/>
        </p:nvSpPr>
        <p:spPr>
          <a:xfrm>
            <a:off x="685800" y="1737360"/>
            <a:ext cx="2743200" cy="914400"/>
          </a:xfrm>
          <a:prstGeom prst="rect">
            <a:avLst/>
          </a:prstGeom>
          <a:noFill/>
          <a:ln/>
        </p:spPr>
        <p:txBody>
          <a:bodyPr wrap="square" lIns="0" tIns="0" rIns="0" bIns="0" rtlCol="0" anchor="t"/>
          <a:lstStyle/>
          <a:p>
            <a:pPr indent="0" marL="0">
              <a:buNone/>
            </a:pPr>
            <a:r>
              <a:rPr lang="en-US" sz="6000" b="1" dirty="0">
                <a:solidFill>
                  <a:srgbClr val="4A90C2"/>
                </a:solidFill>
                <a:latin typeface="Arial" pitchFamily="34" charset="0"/>
                <a:ea typeface="Arial" pitchFamily="34" charset="-122"/>
                <a:cs typeface="Arial" pitchFamily="34" charset="-120"/>
              </a:rPr>
              <a:t>51.5 %</a:t>
            </a:r>
            <a:endParaRPr lang="en-US" sz="6000" dirty="0"/>
          </a:p>
        </p:txBody>
      </p:sp>
      <p:sp>
        <p:nvSpPr>
          <p:cNvPr id="5" name="Text 3"/>
          <p:cNvSpPr txBox="1"/>
          <p:nvPr/>
        </p:nvSpPr>
        <p:spPr>
          <a:xfrm>
            <a:off x="3474720" y="1901952"/>
            <a:ext cx="2560320" cy="7772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der Männer bewarben sich in A oder B (Zulassungsquote ≈ 64 %)</a:t>
            </a:r>
            <a:endParaRPr lang="en-US" sz="1500" dirty="0"/>
          </a:p>
        </p:txBody>
      </p:sp>
      <p:sp>
        <p:nvSpPr>
          <p:cNvPr id="6" name="Text 4"/>
          <p:cNvSpPr txBox="1"/>
          <p:nvPr/>
        </p:nvSpPr>
        <p:spPr>
          <a:xfrm>
            <a:off x="6355080" y="1737360"/>
            <a:ext cx="2194560" cy="914400"/>
          </a:xfrm>
          <a:prstGeom prst="rect">
            <a:avLst/>
          </a:prstGeom>
          <a:noFill/>
          <a:ln/>
        </p:spPr>
        <p:txBody>
          <a:bodyPr wrap="square" lIns="0" tIns="0" rIns="0" bIns="0" rtlCol="0" anchor="t"/>
          <a:lstStyle/>
          <a:p>
            <a:pPr indent="0" marL="0">
              <a:buNone/>
            </a:pPr>
            <a:r>
              <a:rPr lang="en-US" sz="6000" b="1" dirty="0">
                <a:solidFill>
                  <a:srgbClr val="D9541E"/>
                </a:solidFill>
                <a:latin typeface="Arial" pitchFamily="34" charset="0"/>
                <a:ea typeface="Arial" pitchFamily="34" charset="-122"/>
                <a:cs typeface="Arial" pitchFamily="34" charset="-120"/>
              </a:rPr>
              <a:t>7.2 %</a:t>
            </a:r>
            <a:endParaRPr lang="en-US" sz="6000" dirty="0"/>
          </a:p>
        </p:txBody>
      </p:sp>
      <p:sp>
        <p:nvSpPr>
          <p:cNvPr id="7" name="Text 5"/>
          <p:cNvSpPr txBox="1"/>
          <p:nvPr/>
        </p:nvSpPr>
        <p:spPr>
          <a:xfrm>
            <a:off x="8595360" y="1901952"/>
            <a:ext cx="2907792" cy="7772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der Frauen – 92.8 % bewarben sich in C bis F (Quoten 6 bis 35 %)</a:t>
            </a:r>
            <a:endParaRPr lang="en-US" sz="1500" dirty="0"/>
          </a:p>
        </p:txBody>
      </p:sp>
      <p:sp>
        <p:nvSpPr>
          <p:cNvPr id="8" name="Text 6"/>
          <p:cNvSpPr txBox="1"/>
          <p:nvPr/>
        </p:nvSpPr>
        <p:spPr>
          <a:xfrm>
            <a:off x="685800" y="3154680"/>
            <a:ext cx="100584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Anteil aller Bewerbungen des Geschlechts je Fachbereich,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9" name="Chart 0" descr=""/>
          <p:cNvGraphicFramePr/>
          <p:nvPr/>
        </p:nvGraphicFramePr>
        <p:xfrm>
          <a:off x="502920" y="3474720"/>
          <a:ext cx="11155680" cy="26974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Mehr Bewerberinnen, tiefere Zulassungsquote</a:t>
            </a:r>
            <a:endParaRPr lang="en-US" sz="3200" dirty="0"/>
          </a:p>
        </p:txBody>
      </p:sp>
      <p:sp>
        <p:nvSpPr>
          <p:cNvPr id="4" name="Text 2"/>
          <p:cNvSpPr txBox="1"/>
          <p:nvPr/>
        </p:nvSpPr>
        <p:spPr>
          <a:xfrm>
            <a:off x="685800" y="1645920"/>
            <a:ext cx="4572000" cy="256032"/>
          </a:xfrm>
          <a:prstGeom prst="rect">
            <a:avLst/>
          </a:prstGeom>
          <a:noFill/>
          <a:ln/>
        </p:spPr>
        <p:txBody>
          <a:bodyPr wrap="square" lIns="0" tIns="0" rIns="0" bIns="0" rtlCol="0" anchor="t"/>
          <a:lstStyle/>
          <a:p>
            <a:pPr indent="0" marL="0">
              <a:buNone/>
            </a:pPr>
            <a:r>
              <a:rPr lang="en-US" sz="1200" dirty="0">
                <a:solidFill>
                  <a:srgbClr val="5F6672"/>
                </a:solidFill>
                <a:latin typeface="Arial" pitchFamily="34" charset="0"/>
                <a:ea typeface="Arial" pitchFamily="34" charset="-122"/>
                <a:cs typeface="Arial" pitchFamily="34" charset="-120"/>
              </a:rPr>
              <a:t>Zulassungsquote des Fachbereichs</a:t>
            </a:r>
            <a:endParaRPr lang="en-US" sz="1200" dirty="0"/>
          </a:p>
        </p:txBody>
      </p:sp>
      <p:sp>
        <p:nvSpPr>
          <p:cNvPr id="5" name="Shape 3"/>
          <p:cNvSpPr/>
          <p:nvPr/>
        </p:nvSpPr>
        <p:spPr>
          <a:xfrm>
            <a:off x="1371600" y="5623560"/>
            <a:ext cx="5943600" cy="0"/>
          </a:xfrm>
          <a:prstGeom prst="line">
            <a:avLst/>
          </a:prstGeom>
          <a:noFill/>
          <a:ln w="12700">
            <a:solidFill>
              <a:srgbClr val="C9CED6"/>
            </a:solidFill>
            <a:prstDash val="solid"/>
          </a:ln>
        </p:spPr>
      </p:sp>
      <p:sp>
        <p:nvSpPr>
          <p:cNvPr id="6" name="Shape 4"/>
          <p:cNvSpPr/>
          <p:nvPr/>
        </p:nvSpPr>
        <p:spPr>
          <a:xfrm>
            <a:off x="1371600" y="1965960"/>
            <a:ext cx="0" cy="3657600"/>
          </a:xfrm>
          <a:prstGeom prst="line">
            <a:avLst/>
          </a:prstGeom>
          <a:noFill/>
          <a:ln w="12700">
            <a:solidFill>
              <a:srgbClr val="C9CED6"/>
            </a:solidFill>
            <a:prstDash val="solid"/>
          </a:ln>
        </p:spPr>
      </p:sp>
      <p:sp>
        <p:nvSpPr>
          <p:cNvPr id="7" name="Text 5"/>
          <p:cNvSpPr txBox="1"/>
          <p:nvPr/>
        </p:nvSpPr>
        <p:spPr>
          <a:xfrm>
            <a:off x="685800" y="55138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0 %</a:t>
            </a:r>
            <a:endParaRPr lang="en-US" sz="1200" dirty="0"/>
          </a:p>
        </p:txBody>
      </p:sp>
      <p:sp>
        <p:nvSpPr>
          <p:cNvPr id="8" name="Text 6"/>
          <p:cNvSpPr txBox="1"/>
          <p:nvPr/>
        </p:nvSpPr>
        <p:spPr>
          <a:xfrm>
            <a:off x="10058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0 %</a:t>
            </a:r>
            <a:endParaRPr lang="en-US" sz="1200" dirty="0"/>
          </a:p>
        </p:txBody>
      </p:sp>
      <p:sp>
        <p:nvSpPr>
          <p:cNvPr id="9" name="Text 7"/>
          <p:cNvSpPr txBox="1"/>
          <p:nvPr/>
        </p:nvSpPr>
        <p:spPr>
          <a:xfrm>
            <a:off x="685800" y="45994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20 %</a:t>
            </a:r>
            <a:endParaRPr lang="en-US" sz="1200" dirty="0"/>
          </a:p>
        </p:txBody>
      </p:sp>
      <p:sp>
        <p:nvSpPr>
          <p:cNvPr id="10" name="Text 8"/>
          <p:cNvSpPr txBox="1"/>
          <p:nvPr/>
        </p:nvSpPr>
        <p:spPr>
          <a:xfrm>
            <a:off x="24917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20 %</a:t>
            </a:r>
            <a:endParaRPr lang="en-US" sz="1200" dirty="0"/>
          </a:p>
        </p:txBody>
      </p:sp>
      <p:sp>
        <p:nvSpPr>
          <p:cNvPr id="11" name="Text 9"/>
          <p:cNvSpPr txBox="1"/>
          <p:nvPr/>
        </p:nvSpPr>
        <p:spPr>
          <a:xfrm>
            <a:off x="685800" y="36850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40 %</a:t>
            </a:r>
            <a:endParaRPr lang="en-US" sz="1200" dirty="0"/>
          </a:p>
        </p:txBody>
      </p:sp>
      <p:sp>
        <p:nvSpPr>
          <p:cNvPr id="12" name="Text 10"/>
          <p:cNvSpPr txBox="1"/>
          <p:nvPr/>
        </p:nvSpPr>
        <p:spPr>
          <a:xfrm>
            <a:off x="39776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40 %</a:t>
            </a:r>
            <a:endParaRPr lang="en-US" sz="1200" dirty="0"/>
          </a:p>
        </p:txBody>
      </p:sp>
      <p:sp>
        <p:nvSpPr>
          <p:cNvPr id="13" name="Text 11"/>
          <p:cNvSpPr txBox="1"/>
          <p:nvPr/>
        </p:nvSpPr>
        <p:spPr>
          <a:xfrm>
            <a:off x="685800" y="27706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60 %</a:t>
            </a:r>
            <a:endParaRPr lang="en-US" sz="1200" dirty="0"/>
          </a:p>
        </p:txBody>
      </p:sp>
      <p:sp>
        <p:nvSpPr>
          <p:cNvPr id="14" name="Text 12"/>
          <p:cNvSpPr txBox="1"/>
          <p:nvPr/>
        </p:nvSpPr>
        <p:spPr>
          <a:xfrm>
            <a:off x="54635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60 %</a:t>
            </a:r>
            <a:endParaRPr lang="en-US" sz="1200" dirty="0"/>
          </a:p>
        </p:txBody>
      </p:sp>
      <p:sp>
        <p:nvSpPr>
          <p:cNvPr id="15" name="Text 13"/>
          <p:cNvSpPr txBox="1"/>
          <p:nvPr/>
        </p:nvSpPr>
        <p:spPr>
          <a:xfrm>
            <a:off x="685800" y="18562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80 %</a:t>
            </a:r>
            <a:endParaRPr lang="en-US" sz="1200" dirty="0"/>
          </a:p>
        </p:txBody>
      </p:sp>
      <p:sp>
        <p:nvSpPr>
          <p:cNvPr id="16" name="Text 14"/>
          <p:cNvSpPr txBox="1"/>
          <p:nvPr/>
        </p:nvSpPr>
        <p:spPr>
          <a:xfrm>
            <a:off x="69494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80 %</a:t>
            </a:r>
            <a:endParaRPr lang="en-US" sz="1200" dirty="0"/>
          </a:p>
        </p:txBody>
      </p:sp>
      <p:sp>
        <p:nvSpPr>
          <p:cNvPr id="17" name="Text 15"/>
          <p:cNvSpPr txBox="1"/>
          <p:nvPr/>
        </p:nvSpPr>
        <p:spPr>
          <a:xfrm>
            <a:off x="1371600" y="5971032"/>
            <a:ext cx="5943600" cy="256032"/>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Frauenanteil unter den Bewerbungen</a:t>
            </a:r>
            <a:endParaRPr lang="en-US" sz="1200" dirty="0"/>
          </a:p>
        </p:txBody>
      </p:sp>
      <p:sp>
        <p:nvSpPr>
          <p:cNvPr id="18" name="Shape 16"/>
          <p:cNvSpPr/>
          <p:nvPr/>
        </p:nvSpPr>
        <p:spPr>
          <a:xfrm>
            <a:off x="1938337" y="2385198"/>
            <a:ext cx="586538" cy="586538"/>
          </a:xfrm>
          <a:prstGeom prst="ellipse">
            <a:avLst/>
          </a:prstGeom>
          <a:solidFill>
            <a:srgbClr val="003262">
              <a:alpha val="85000"/>
            </a:srgbClr>
          </a:solidFill>
          <a:ln w="19050">
            <a:solidFill>
              <a:srgbClr val="FFFFFF"/>
            </a:solidFill>
            <a:prstDash val="solid"/>
          </a:ln>
        </p:spPr>
      </p:sp>
      <p:sp>
        <p:nvSpPr>
          <p:cNvPr id="19" name="Text 17"/>
          <p:cNvSpPr txBox="1"/>
          <p:nvPr/>
        </p:nvSpPr>
        <p:spPr>
          <a:xfrm>
            <a:off x="2598028" y="2541307"/>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A</a:t>
            </a:r>
            <a:endParaRPr lang="en-US" sz="1300" dirty="0"/>
          </a:p>
        </p:txBody>
      </p:sp>
      <p:sp>
        <p:nvSpPr>
          <p:cNvPr id="20" name="Shape 18"/>
          <p:cNvSpPr/>
          <p:nvPr/>
        </p:nvSpPr>
        <p:spPr>
          <a:xfrm>
            <a:off x="1456878" y="2499646"/>
            <a:ext cx="464444" cy="464444"/>
          </a:xfrm>
          <a:prstGeom prst="ellipse">
            <a:avLst/>
          </a:prstGeom>
          <a:solidFill>
            <a:srgbClr val="003262">
              <a:alpha val="85000"/>
            </a:srgbClr>
          </a:solidFill>
          <a:ln w="19050">
            <a:solidFill>
              <a:srgbClr val="FFFFFF"/>
            </a:solidFill>
            <a:prstDash val="solid"/>
          </a:ln>
        </p:spPr>
      </p:sp>
      <p:sp>
        <p:nvSpPr>
          <p:cNvPr id="21" name="Text 19"/>
          <p:cNvSpPr txBox="1"/>
          <p:nvPr/>
        </p:nvSpPr>
        <p:spPr>
          <a:xfrm>
            <a:off x="1369060" y="2188750"/>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B</a:t>
            </a:r>
            <a:endParaRPr lang="en-US" sz="1300" dirty="0"/>
          </a:p>
        </p:txBody>
      </p:sp>
      <p:sp>
        <p:nvSpPr>
          <p:cNvPr id="22" name="Shape 20"/>
          <p:cNvSpPr/>
          <p:nvPr/>
        </p:nvSpPr>
        <p:spPr>
          <a:xfrm>
            <a:off x="5879928" y="3728972"/>
            <a:ext cx="581804" cy="581804"/>
          </a:xfrm>
          <a:prstGeom prst="ellipse">
            <a:avLst/>
          </a:prstGeom>
          <a:solidFill>
            <a:srgbClr val="003262">
              <a:alpha val="85000"/>
            </a:srgbClr>
          </a:solidFill>
          <a:ln w="19050">
            <a:solidFill>
              <a:srgbClr val="FFFFFF"/>
            </a:solidFill>
            <a:prstDash val="solid"/>
          </a:ln>
        </p:spPr>
      </p:sp>
      <p:sp>
        <p:nvSpPr>
          <p:cNvPr id="23" name="Text 21"/>
          <p:cNvSpPr txBox="1"/>
          <p:nvPr/>
        </p:nvSpPr>
        <p:spPr>
          <a:xfrm>
            <a:off x="6534884" y="3882714"/>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C</a:t>
            </a:r>
            <a:endParaRPr lang="en-US" sz="1300" dirty="0"/>
          </a:p>
        </p:txBody>
      </p:sp>
      <p:sp>
        <p:nvSpPr>
          <p:cNvPr id="24" name="Shape 22"/>
          <p:cNvSpPr/>
          <p:nvPr/>
        </p:nvSpPr>
        <p:spPr>
          <a:xfrm>
            <a:off x="4619154" y="3800495"/>
            <a:ext cx="540403" cy="540403"/>
          </a:xfrm>
          <a:prstGeom prst="ellipse">
            <a:avLst/>
          </a:prstGeom>
          <a:solidFill>
            <a:srgbClr val="003262">
              <a:alpha val="85000"/>
            </a:srgbClr>
          </a:solidFill>
          <a:ln w="19050">
            <a:solidFill>
              <a:srgbClr val="FFFFFF"/>
            </a:solidFill>
            <a:prstDash val="solid"/>
          </a:ln>
        </p:spPr>
      </p:sp>
      <p:sp>
        <p:nvSpPr>
          <p:cNvPr id="25" name="Text 23"/>
          <p:cNvSpPr txBox="1"/>
          <p:nvPr/>
        </p:nvSpPr>
        <p:spPr>
          <a:xfrm>
            <a:off x="3905922" y="3933536"/>
            <a:ext cx="640080" cy="274320"/>
          </a:xfrm>
          <a:prstGeom prst="rect">
            <a:avLst/>
          </a:prstGeom>
          <a:noFill/>
          <a:ln/>
        </p:spPr>
        <p:txBody>
          <a:bodyPr wrap="square" lIns="0" tIns="0" rIns="0" bIns="0" rtlCol="0" anchor="t"/>
          <a:lstStyle/>
          <a:p>
            <a:pPr algn="r" indent="0" marL="0">
              <a:buNone/>
            </a:pPr>
            <a:r>
              <a:rPr lang="en-US" sz="1300" b="1" dirty="0">
                <a:solidFill>
                  <a:srgbClr val="1A1A1A"/>
                </a:solidFill>
                <a:latin typeface="Arial" pitchFamily="34" charset="0"/>
                <a:ea typeface="Arial" pitchFamily="34" charset="-122"/>
                <a:cs typeface="Arial" pitchFamily="34" charset="-120"/>
              </a:rPr>
              <a:t>FB D</a:t>
            </a:r>
            <a:endParaRPr lang="en-US" sz="1300" dirty="0"/>
          </a:p>
        </p:txBody>
      </p:sp>
      <p:sp>
        <p:nvSpPr>
          <p:cNvPr id="26" name="Shape 24"/>
          <p:cNvSpPr/>
          <p:nvPr/>
        </p:nvSpPr>
        <p:spPr>
          <a:xfrm>
            <a:off x="6139223" y="4240708"/>
            <a:ext cx="464047" cy="464047"/>
          </a:xfrm>
          <a:prstGeom prst="ellipse">
            <a:avLst/>
          </a:prstGeom>
          <a:solidFill>
            <a:srgbClr val="003262">
              <a:alpha val="85000"/>
            </a:srgbClr>
          </a:solidFill>
          <a:ln w="19050">
            <a:solidFill>
              <a:srgbClr val="FFFFFF"/>
            </a:solidFill>
            <a:prstDash val="solid"/>
          </a:ln>
        </p:spPr>
      </p:sp>
      <p:sp>
        <p:nvSpPr>
          <p:cNvPr id="27" name="Text 25"/>
          <p:cNvSpPr txBox="1"/>
          <p:nvPr/>
        </p:nvSpPr>
        <p:spPr>
          <a:xfrm>
            <a:off x="6676422" y="4335571"/>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E</a:t>
            </a:r>
            <a:endParaRPr lang="en-US" sz="1300" dirty="0"/>
          </a:p>
        </p:txBody>
      </p:sp>
      <p:sp>
        <p:nvSpPr>
          <p:cNvPr id="28" name="Shape 26"/>
          <p:cNvSpPr/>
          <p:nvPr/>
        </p:nvSpPr>
        <p:spPr>
          <a:xfrm>
            <a:off x="4663311" y="5072454"/>
            <a:ext cx="513103" cy="513103"/>
          </a:xfrm>
          <a:prstGeom prst="ellipse">
            <a:avLst/>
          </a:prstGeom>
          <a:solidFill>
            <a:srgbClr val="003262">
              <a:alpha val="85000"/>
            </a:srgbClr>
          </a:solidFill>
          <a:ln w="19050">
            <a:solidFill>
              <a:srgbClr val="FFFFFF"/>
            </a:solidFill>
            <a:prstDash val="solid"/>
          </a:ln>
        </p:spPr>
      </p:sp>
      <p:sp>
        <p:nvSpPr>
          <p:cNvPr id="29" name="Text 27"/>
          <p:cNvSpPr txBox="1"/>
          <p:nvPr/>
        </p:nvSpPr>
        <p:spPr>
          <a:xfrm>
            <a:off x="5249566" y="5191845"/>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F</a:t>
            </a:r>
            <a:endParaRPr lang="en-US" sz="1300" dirty="0"/>
          </a:p>
        </p:txBody>
      </p:sp>
      <p:sp>
        <p:nvSpPr>
          <p:cNvPr id="30" name="Text 28"/>
          <p:cNvSpPr txBox="1"/>
          <p:nvPr/>
        </p:nvSpPr>
        <p:spPr>
          <a:xfrm>
            <a:off x="8092440" y="1874520"/>
            <a:ext cx="3410712" cy="914400"/>
          </a:xfrm>
          <a:prstGeom prst="rect">
            <a:avLst/>
          </a:prstGeom>
          <a:noFill/>
          <a:ln/>
        </p:spPr>
        <p:txBody>
          <a:bodyPr wrap="square" lIns="0" tIns="0" rIns="0" bIns="0" rtlCol="0" anchor="t"/>
          <a:lstStyle/>
          <a:p>
            <a:pPr indent="0" marL="0">
              <a:buNone/>
            </a:pPr>
            <a:r>
              <a:rPr lang="en-US" sz="6000" b="1" dirty="0">
                <a:solidFill>
                  <a:srgbClr val="003262"/>
                </a:solidFill>
                <a:latin typeface="Arial" pitchFamily="34" charset="0"/>
                <a:ea typeface="Arial" pitchFamily="34" charset="-122"/>
                <a:cs typeface="Arial" pitchFamily="34" charset="-120"/>
              </a:rPr>
              <a:t>r = −0.79</a:t>
            </a:r>
            <a:endParaRPr lang="en-US" sz="6000" dirty="0"/>
          </a:p>
        </p:txBody>
      </p:sp>
      <p:sp>
        <p:nvSpPr>
          <p:cNvPr id="31" name="Text 29"/>
          <p:cNvSpPr txBox="1"/>
          <p:nvPr/>
        </p:nvSpPr>
        <p:spPr>
          <a:xfrm>
            <a:off x="8092440" y="2834640"/>
            <a:ext cx="3200400" cy="59436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Korrelation zwischen Frauenanteil und Zulassungsquote des Fachbereichs</a:t>
            </a:r>
            <a:endParaRPr lang="en-US" sz="1500" dirty="0"/>
          </a:p>
        </p:txBody>
      </p:sp>
      <p:sp>
        <p:nvSpPr>
          <p:cNvPr id="32" name="Text 30"/>
          <p:cNvSpPr txBox="1"/>
          <p:nvPr/>
        </p:nvSpPr>
        <p:spPr>
          <a:xfrm>
            <a:off x="8092440" y="3840480"/>
            <a:ext cx="3291840" cy="100584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Je höher der Frauenanteil, desto tiefer die Zulassungsquote des Fachbereichs.</a:t>
            </a:r>
            <a:endParaRPr lang="en-US" sz="1900" dirty="0"/>
          </a:p>
        </p:txBody>
      </p:sp>
      <p:sp>
        <p:nvSpPr>
          <p:cNvPr id="33" name="Text 31"/>
          <p:cNvSpPr txBox="1"/>
          <p:nvPr/>
        </p:nvSpPr>
        <p:spPr>
          <a:xfrm>
            <a:off x="8092440" y="5349240"/>
            <a:ext cx="3291840" cy="274320"/>
          </a:xfrm>
          <a:prstGeom prst="rect">
            <a:avLst/>
          </a:prstGeom>
          <a:noFill/>
          <a:ln/>
        </p:spPr>
        <p:txBody>
          <a:bodyPr wrap="square" lIns="0" tIns="0" rIns="0" bIns="0" rtlCol="0" anchor="t"/>
          <a:lstStyle/>
          <a:p>
            <a:pPr indent="0" marL="0">
              <a:buNone/>
            </a:pPr>
            <a:r>
              <a:rPr lang="en-US" sz="1200" dirty="0">
                <a:solidFill>
                  <a:srgbClr val="5F6672"/>
                </a:solidFill>
                <a:latin typeface="Arial" pitchFamily="34" charset="0"/>
                <a:ea typeface="Arial" pitchFamily="34" charset="-122"/>
                <a:cs typeface="Arial" pitchFamily="34" charset="-120"/>
              </a:rPr>
              <a:t>Punktfläche ~ Anzahl Bewerbungen</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DIE ERKLÄRUNG</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Die Erklärung: totale Wahrscheinlichkeit</a:t>
            </a:r>
            <a:endParaRPr lang="en-US" sz="3200" dirty="0"/>
          </a:p>
        </p:txBody>
      </p:sp>
      <p:sp>
        <p:nvSpPr>
          <p:cNvPr id="4" name="Shape 2"/>
          <p:cNvSpPr/>
          <p:nvPr/>
        </p:nvSpPr>
        <p:spPr>
          <a:xfrm>
            <a:off x="0" y="1783080"/>
            <a:ext cx="12191695" cy="1234440"/>
          </a:xfrm>
          <a:prstGeom prst="rect">
            <a:avLst/>
          </a:prstGeom>
          <a:solidFill>
            <a:srgbClr val="F1F3F5"/>
          </a:solidFill>
          <a:ln/>
        </p:spPr>
      </p:sp>
      <p:sp>
        <p:nvSpPr>
          <p:cNvPr id="5" name="Text 3"/>
          <p:cNvSpPr txBox="1"/>
          <p:nvPr/>
        </p:nvSpPr>
        <p:spPr>
          <a:xfrm>
            <a:off x="685800" y="1947672"/>
            <a:ext cx="7772400" cy="548640"/>
          </a:xfrm>
          <a:prstGeom prst="rect">
            <a:avLst/>
          </a:prstGeom>
          <a:noFill/>
          <a:ln/>
        </p:spPr>
        <p:txBody>
          <a:bodyPr wrap="square" lIns="0" tIns="0" rIns="0" bIns="0" rtlCol="0" anchor="t"/>
          <a:lstStyle/>
          <a:p>
            <a:pPr indent="0" marL="0">
              <a:buNone/>
            </a:pPr>
            <a:r>
              <a:rPr lang="en-US" sz="3000" b="1" dirty="0">
                <a:solidFill>
                  <a:srgbClr val="003262"/>
                </a:solidFill>
                <a:latin typeface="Arial" pitchFamily="34" charset="0"/>
                <a:ea typeface="Arial" pitchFamily="34" charset="-122"/>
                <a:cs typeface="Arial" pitchFamily="34" charset="-120"/>
              </a:rPr>
              <a:t>P(Z | G) = Σᵢ P(Fᵢ | G) · P(Z | Fᵢ, G)</a:t>
            </a:r>
            <a:endParaRPr lang="en-US" sz="3000" dirty="0"/>
          </a:p>
        </p:txBody>
      </p:sp>
      <p:sp>
        <p:nvSpPr>
          <p:cNvPr id="6" name="Text 4"/>
          <p:cNvSpPr txBox="1"/>
          <p:nvPr/>
        </p:nvSpPr>
        <p:spPr>
          <a:xfrm>
            <a:off x="685800" y="2542032"/>
            <a:ext cx="7772400" cy="320040"/>
          </a:xfrm>
          <a:prstGeom prst="rect">
            <a:avLst/>
          </a:prstGeom>
          <a:noFill/>
          <a:ln/>
        </p:spPr>
        <p:txBody>
          <a:bodyPr wrap="square" lIns="0" tIns="0" rIns="0" bIns="0" rtlCol="0" anchor="t"/>
          <a:lstStyle/>
          <a:p>
            <a:pPr indent="0" marL="0">
              <a:buNone/>
            </a:pPr>
            <a:r>
              <a:rPr lang="en-US" sz="1700" dirty="0">
                <a:solidFill>
                  <a:srgbClr val="1A1A1A"/>
                </a:solidFill>
                <a:latin typeface="Arial" pitchFamily="34" charset="0"/>
                <a:ea typeface="Arial" pitchFamily="34" charset="-122"/>
                <a:cs typeface="Arial" pitchFamily="34" charset="-120"/>
              </a:rPr>
              <a:t>Gesamtquote = gewichteter Mittelwert der Fachbereichsquoten</a:t>
            </a:r>
            <a:endParaRPr lang="en-US" sz="1700" dirty="0"/>
          </a:p>
        </p:txBody>
      </p:sp>
      <p:sp>
        <p:nvSpPr>
          <p:cNvPr id="7" name="Text 5"/>
          <p:cNvSpPr txBox="1"/>
          <p:nvPr/>
        </p:nvSpPr>
        <p:spPr>
          <a:xfrm>
            <a:off x="685800" y="3291840"/>
            <a:ext cx="64008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8" name="Chart 0" descr=""/>
          <p:cNvGraphicFramePr/>
          <p:nvPr/>
        </p:nvGraphicFramePr>
        <p:xfrm>
          <a:off x="502920" y="3611880"/>
          <a:ext cx="6400800" cy="25603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7589520" y="3337560"/>
            <a:ext cx="3913632" cy="27432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Gleiche Gewichte für beide Geschlechter:</a:t>
            </a:r>
            <a:endParaRPr lang="en-US" sz="1500" dirty="0"/>
          </a:p>
        </p:txBody>
      </p:sp>
      <p:sp>
        <p:nvSpPr>
          <p:cNvPr id="10" name="Text 7"/>
          <p:cNvSpPr txBox="1"/>
          <p:nvPr/>
        </p:nvSpPr>
        <p:spPr>
          <a:xfrm>
            <a:off x="7589520" y="3657600"/>
            <a:ext cx="3913632" cy="5486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Frauen  </a:t>
            </a:r>
            <a:pPr indent="0" marL="0">
              <a:buNone/>
            </a:pPr>
            <a:r>
              <a:rPr lang="en-US" sz="3200" b="1" dirty="0">
                <a:solidFill>
                  <a:srgbClr val="D9541E"/>
                </a:solidFill>
                <a:latin typeface="Arial" pitchFamily="34" charset="0"/>
                <a:ea typeface="Arial" pitchFamily="34" charset="-122"/>
                <a:cs typeface="Arial" pitchFamily="34" charset="-120"/>
              </a:rPr>
              <a:t>43.0 %</a:t>
            </a:r>
            <a:endParaRPr lang="en-US" sz="3200" dirty="0"/>
          </a:p>
        </p:txBody>
      </p:sp>
      <p:sp>
        <p:nvSpPr>
          <p:cNvPr id="11" name="Text 8"/>
          <p:cNvSpPr txBox="1"/>
          <p:nvPr/>
        </p:nvSpPr>
        <p:spPr>
          <a:xfrm>
            <a:off x="7589520" y="4224528"/>
            <a:ext cx="3913632" cy="5486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Männer  </a:t>
            </a:r>
            <a:pPr indent="0" marL="0">
              <a:buNone/>
            </a:pPr>
            <a:r>
              <a:rPr lang="en-US" sz="3200" b="1" dirty="0">
                <a:solidFill>
                  <a:srgbClr val="4A90C2"/>
                </a:solidFill>
                <a:latin typeface="Arial" pitchFamily="34" charset="0"/>
                <a:ea typeface="Arial" pitchFamily="34" charset="-122"/>
                <a:cs typeface="Arial" pitchFamily="34" charset="-120"/>
              </a:rPr>
              <a:t>38.7 %</a:t>
            </a:r>
            <a:endParaRPr lang="en-US" sz="3200" dirty="0"/>
          </a:p>
        </p:txBody>
      </p:sp>
      <p:sp>
        <p:nvSpPr>
          <p:cNvPr id="12" name="Text 9"/>
          <p:cNvSpPr txBox="1"/>
          <p:nvPr/>
        </p:nvSpPr>
        <p:spPr>
          <a:xfrm>
            <a:off x="7589520" y="4919472"/>
            <a:ext cx="3913632"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Der Unterschied kehrt sich um.</a:t>
            </a:r>
            <a:endParaRPr lang="en-US" sz="1900" dirty="0"/>
          </a:p>
        </p:txBody>
      </p:sp>
      <p:sp>
        <p:nvSpPr>
          <p:cNvPr id="13" name="Text 10"/>
          <p:cNvSpPr txBox="1"/>
          <p:nvPr/>
        </p:nvSpPr>
        <p:spPr>
          <a:xfrm>
            <a:off x="7589520" y="5486400"/>
            <a:ext cx="3913632" cy="274320"/>
          </a:xfrm>
          <a:prstGeom prst="rect">
            <a:avLst/>
          </a:prstGeom>
          <a:noFill/>
          <a:ln/>
        </p:spPr>
        <p:txBody>
          <a:bodyPr wrap="square" lIns="0" tIns="0" rIns="0" bIns="0" rtlCol="0" anchor="t"/>
          <a:lstStyle/>
          <a:p>
            <a:pPr indent="0" marL="0">
              <a:buNone/>
            </a:pPr>
            <a:r>
              <a:rPr lang="en-US" sz="1200" dirty="0">
                <a:solidFill>
                  <a:srgbClr val="5F6672"/>
                </a:solidFill>
                <a:latin typeface="Courier New" pitchFamily="34" charset="0"/>
                <a:ea typeface="Courier New" pitchFamily="34" charset="-122"/>
                <a:cs typeface="Courier New" pitchFamily="34" charset="-120"/>
              </a:rPr>
              <a:t>gesamtquote(quote_g[g], gewichte_alle)</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STOCHASTISCHE UNABHÄNGIGKEIT</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Stochastische Unabhängigkeit</a:t>
            </a:r>
            <a:endParaRPr lang="en-US" sz="3200" dirty="0"/>
          </a:p>
        </p:txBody>
      </p:sp>
      <p:sp>
        <p:nvSpPr>
          <p:cNvPr id="4" name="Text 2"/>
          <p:cNvSpPr txBox="1"/>
          <p:nvPr/>
        </p:nvSpPr>
        <p:spPr>
          <a:xfrm>
            <a:off x="685800" y="1691640"/>
            <a:ext cx="10820095" cy="411480"/>
          </a:xfrm>
          <a:prstGeom prst="rect">
            <a:avLst/>
          </a:prstGeom>
          <a:noFill/>
          <a:ln/>
        </p:spPr>
        <p:txBody>
          <a:bodyPr wrap="square" lIns="0" tIns="0" rIns="0" bIns="0" rtlCol="0" anchor="t"/>
          <a:lstStyle/>
          <a:p>
            <a:pPr indent="0" marL="0">
              <a:buNone/>
            </a:pPr>
            <a:r>
              <a:rPr lang="en-US" sz="2100" b="1" dirty="0">
                <a:solidFill>
                  <a:srgbClr val="003262"/>
                </a:solidFill>
                <a:latin typeface="Arial" pitchFamily="34" charset="0"/>
                <a:ea typeface="Arial" pitchFamily="34" charset="-122"/>
                <a:cs typeface="Arial" pitchFamily="34" charset="-120"/>
              </a:rPr>
              <a:t>Z, W unabhängig   ⇔   P(Z ∩ W) = P(Z) · P(W)   ⇔   P(Z | W) = P(Z)</a:t>
            </a:r>
            <a:endParaRPr lang="en-US" sz="2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20095" cy="914400"/>
        </p:xfrm>
        <a:graphic>
          <a:graphicData uri="http://schemas.openxmlformats.org/drawingml/2006/table">
            <a:tbl>
              <a:tblPr/>
              <a:tblGrid>
                <a:gridCol w="1143000"/>
                <a:gridCol w="1234440"/>
                <a:gridCol w="1234440"/>
                <a:gridCol w="1234440"/>
                <a:gridCol w="1371600"/>
                <a:gridCol w="4602175"/>
              </a:tblGrid>
              <a:tr h="384048">
                <a:tc>
                  <a:txBody>
                    <a:bodyPr/>
                    <a:lstStyle/>
                    <a:p>
                      <a:pPr algn="l" indent="0" marL="0">
                        <a:buNone/>
                      </a:pP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P(Z)·P(W)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l" indent="0" marL="0">
                        <a:buNone/>
                      </a:pPr>
                      <a:r>
                        <a:rPr lang="en-US" sz="1300" b="1" dirty="0">
                          <a:solidFill>
                            <a:srgbClr val="5F6672"/>
                          </a:solidFill>
                          <a:latin typeface="Arial" pitchFamily="34" charset="0"/>
                          <a:ea typeface="Arial" pitchFamily="34" charset="-122"/>
                          <a:cs typeface="Arial" pitchFamily="34" charset="-120"/>
                        </a:rPr>
                        <a:t>Chi-Quadrat-Test (α = 5 %)</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Gesamt</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30.4 %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44.5 %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0.1231</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0.1572</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l" indent="0" marL="0">
                        <a:buNone/>
                      </a:pPr>
                      <a:r>
                        <a:rPr lang="en-US" sz="1500" b="1" dirty="0">
                          <a:solidFill>
                            <a:srgbClr val="D9541E"/>
                          </a:solidFill>
                          <a:latin typeface="Arial" pitchFamily="34" charset="0"/>
                          <a:ea typeface="Arial" pitchFamily="34" charset="-122"/>
                          <a:cs typeface="Arial" pitchFamily="34" charset="-120"/>
                        </a:rPr>
                        <a:t>χ² = 92.2, p &lt; 0.001: 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A</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82.4 %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0.0954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0.0746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b="1" dirty="0">
                          <a:solidFill>
                            <a:srgbClr val="D9541E"/>
                          </a:solidFill>
                          <a:latin typeface="Arial" pitchFamily="34" charset="0"/>
                          <a:ea typeface="Arial" pitchFamily="34" charset="-122"/>
                          <a:cs typeface="Arial" pitchFamily="34" charset="-120"/>
                        </a:rPr>
                        <a:t>χ² = 17.3, p &lt; 0.001: abhängig (pro Frauen)</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B</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68.0 %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63.0 %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0.0291</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0.0270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0.61: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C</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36.9 %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0.2200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0.2266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0.39: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D</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0.1654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0.1608</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0.59: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E</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27.7 %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0.1610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0.1694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0.32: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F</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0.0336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0.0308</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0.54: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bl>
          </a:graphicData>
        </a:graphic>
      </p:graphicFrame>
      <p:sp>
        <p:nvSpPr>
          <p:cNvPr id="6" name="Text 3"/>
          <p:cNvSpPr txBox="1"/>
          <p:nvPr/>
        </p:nvSpPr>
        <p:spPr>
          <a:xfrm>
            <a:off x="685800" y="5541264"/>
            <a:ext cx="10820095" cy="54864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Insgesamt abhängig, innerhalb der Fachbereiche (bis auf A) unabhängig: bedingte Unabhängigkeit gegeben Fachbereich</a:t>
            </a:r>
            <a:endParaRPr lang="en-US" sz="17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FAZIT  ·  SIMPSON-PARADOXON</a:t>
            </a:r>
            <a:endParaRPr lang="en-US" sz="1200" dirty="0"/>
          </a:p>
        </p:txBody>
      </p:sp>
      <p:sp>
        <p:nvSpPr>
          <p:cNvPr id="3" name="Text 0"/>
          <p:cNvSpPr/>
          <p:nvPr>
            <p:ph idx="100" type="title" hasCustomPrompt="1"/>
          </p:nvPr>
        </p:nvSpPr>
        <p:spPr>
          <a:xfrm>
            <a:off x="685800" y="786384"/>
            <a:ext cx="10820095" cy="15544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Die Drittvariable Fachbereich</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kehrt den Zusammenhang um</a:t>
            </a:r>
            <a:endParaRPr lang="en-US" sz="3200" dirty="0"/>
          </a:p>
        </p:txBody>
      </p:sp>
      <p:sp>
        <p:nvSpPr>
          <p:cNvPr id="4" name="Text 2"/>
          <p:cNvSpPr txBox="1"/>
          <p:nvPr/>
        </p:nvSpPr>
        <p:spPr>
          <a:xfrm>
            <a:off x="685800"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01</a:t>
            </a:r>
            <a:endParaRPr lang="en-US" sz="3000" dirty="0"/>
          </a:p>
        </p:txBody>
      </p:sp>
      <p:sp>
        <p:nvSpPr>
          <p:cNvPr id="5" name="Text 3"/>
          <p:cNvSpPr txBox="1"/>
          <p:nvPr/>
        </p:nvSpPr>
        <p:spPr>
          <a:xfrm>
            <a:off x="685800"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AGGREGIERT</a:t>
            </a:r>
            <a:endParaRPr lang="en-US" sz="1200" dirty="0"/>
          </a:p>
        </p:txBody>
      </p:sp>
      <p:sp>
        <p:nvSpPr>
          <p:cNvPr id="6" name="Text 4"/>
          <p:cNvSpPr txBox="1"/>
          <p:nvPr/>
        </p:nvSpPr>
        <p:spPr>
          <a:xfrm>
            <a:off x="685800"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Zulassung und Geschlecht sind stochastisch abhängig (30.4 % vs. 44.5 %)</a:t>
            </a:r>
            <a:endParaRPr lang="en-US" sz="1700" dirty="0"/>
          </a:p>
        </p:txBody>
      </p:sp>
      <p:sp>
        <p:nvSpPr>
          <p:cNvPr id="7" name="Text 5"/>
          <p:cNvSpPr txBox="1"/>
          <p:nvPr/>
        </p:nvSpPr>
        <p:spPr>
          <a:xfrm>
            <a:off x="2904683"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02</a:t>
            </a:r>
            <a:endParaRPr lang="en-US" sz="3000" dirty="0"/>
          </a:p>
        </p:txBody>
      </p:sp>
      <p:sp>
        <p:nvSpPr>
          <p:cNvPr id="8" name="Text 6"/>
          <p:cNvSpPr txBox="1"/>
          <p:nvPr/>
        </p:nvSpPr>
        <p:spPr>
          <a:xfrm>
            <a:off x="2904683"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JE FACHBEREICH</a:t>
            </a:r>
            <a:endParaRPr lang="en-US" sz="1200" dirty="0"/>
          </a:p>
        </p:txBody>
      </p:sp>
      <p:sp>
        <p:nvSpPr>
          <p:cNvPr id="9" name="Text 7"/>
          <p:cNvSpPr txBox="1"/>
          <p:nvPr/>
        </p:nvSpPr>
        <p:spPr>
          <a:xfrm>
            <a:off x="2904683"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Kein Nachteil für Frauen; bedingt auf den Fachbereich meist unabhängig</a:t>
            </a:r>
            <a:endParaRPr lang="en-US" sz="1700" dirty="0"/>
          </a:p>
        </p:txBody>
      </p:sp>
      <p:sp>
        <p:nvSpPr>
          <p:cNvPr id="10" name="Text 8"/>
          <p:cNvSpPr txBox="1"/>
          <p:nvPr/>
        </p:nvSpPr>
        <p:spPr>
          <a:xfrm>
            <a:off x="5123566"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03</a:t>
            </a:r>
            <a:endParaRPr lang="en-US" sz="3000" dirty="0"/>
          </a:p>
        </p:txBody>
      </p:sp>
      <p:sp>
        <p:nvSpPr>
          <p:cNvPr id="11" name="Text 9"/>
          <p:cNvSpPr txBox="1"/>
          <p:nvPr/>
        </p:nvSpPr>
        <p:spPr>
          <a:xfrm>
            <a:off x="5123566"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URSACHE</a:t>
            </a:r>
            <a:endParaRPr lang="en-US" sz="1200" dirty="0"/>
          </a:p>
        </p:txBody>
      </p:sp>
      <p:sp>
        <p:nvSpPr>
          <p:cNvPr id="12" name="Text 10"/>
          <p:cNvSpPr txBox="1"/>
          <p:nvPr/>
        </p:nvSpPr>
        <p:spPr>
          <a:xfrm>
            <a:off x="5123566"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Frauen bewarben sich häufiger in stark umkämpften Fachbereichen</a:t>
            </a:r>
            <a:endParaRPr lang="en-US" sz="1700" dirty="0"/>
          </a:p>
        </p:txBody>
      </p:sp>
      <p:sp>
        <p:nvSpPr>
          <p:cNvPr id="13" name="Text 11"/>
          <p:cNvSpPr txBox="1"/>
          <p:nvPr/>
        </p:nvSpPr>
        <p:spPr>
          <a:xfrm>
            <a:off x="7342449"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04</a:t>
            </a:r>
            <a:endParaRPr lang="en-US" sz="3000" dirty="0"/>
          </a:p>
        </p:txBody>
      </p:sp>
      <p:sp>
        <p:nvSpPr>
          <p:cNvPr id="14" name="Text 12"/>
          <p:cNvSpPr txBox="1"/>
          <p:nvPr/>
        </p:nvSpPr>
        <p:spPr>
          <a:xfrm>
            <a:off x="7342449"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GRENZEN</a:t>
            </a:r>
            <a:endParaRPr lang="en-US" sz="1200" dirty="0"/>
          </a:p>
        </p:txBody>
      </p:sp>
      <p:sp>
        <p:nvSpPr>
          <p:cNvPr id="15" name="Text 13"/>
          <p:cNvSpPr txBox="1"/>
          <p:nvPr/>
        </p:nvSpPr>
        <p:spPr>
          <a:xfrm>
            <a:off x="7342449"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Beobachtungsdaten eines Jahres; Gründe für die Fachbereichswahl bleiben offen</a:t>
            </a:r>
            <a:endParaRPr lang="en-US" sz="1700" dirty="0"/>
          </a:p>
        </p:txBody>
      </p:sp>
      <p:sp>
        <p:nvSpPr>
          <p:cNvPr id="16" name="Text 14"/>
          <p:cNvSpPr txBox="1"/>
          <p:nvPr/>
        </p:nvSpPr>
        <p:spPr>
          <a:xfrm>
            <a:off x="9561332"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05</a:t>
            </a:r>
            <a:endParaRPr lang="en-US" sz="3000" dirty="0"/>
          </a:p>
        </p:txBody>
      </p:sp>
      <p:sp>
        <p:nvSpPr>
          <p:cNvPr id="17" name="Text 15"/>
          <p:cNvSpPr txBox="1"/>
          <p:nvPr/>
        </p:nvSpPr>
        <p:spPr>
          <a:xfrm>
            <a:off x="9561332"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PYTHON</a:t>
            </a:r>
            <a:endParaRPr lang="en-US" sz="1200" dirty="0"/>
          </a:p>
        </p:txBody>
      </p:sp>
      <p:sp>
        <p:nvSpPr>
          <p:cNvPr id="18" name="Text 16"/>
          <p:cNvSpPr txBox="1"/>
          <p:nvPr/>
        </p:nvSpPr>
        <p:spPr>
          <a:xfrm>
            <a:off x="9561332"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Dieselben Funktionen für Gesamtanalyse, 6 Fachbereiche und Standardisierung</a:t>
            </a:r>
            <a:endParaRPr lang="en-US" sz="17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QUELLEN  ·  FRAGEN</a:t>
            </a:r>
            <a:endParaRPr lang="en-US" sz="1200" dirty="0"/>
          </a:p>
        </p:txBody>
      </p:sp>
      <p:sp>
        <p:nvSpPr>
          <p:cNvPr id="3" name="Text 1"/>
          <p:cNvSpPr txBox="1"/>
          <p:nvPr/>
        </p:nvSpPr>
        <p:spPr>
          <a:xfrm>
            <a:off x="685800" y="2103120"/>
            <a:ext cx="4937760" cy="1280160"/>
          </a:xfrm>
          <a:prstGeom prst="rect">
            <a:avLst/>
          </a:prstGeom>
          <a:noFill/>
          <a:ln/>
        </p:spPr>
        <p:txBody>
          <a:bodyPr wrap="square" lIns="0" tIns="0" rIns="0" bIns="0" rtlCol="0" anchor="t"/>
          <a:lstStyle/>
          <a:p>
            <a:pPr indent="0" marL="0">
              <a:buNone/>
            </a:pPr>
            <a:r>
              <a:rPr lang="en-US" sz="8800" b="1" dirty="0">
                <a:solidFill>
                  <a:srgbClr val="003262"/>
                </a:solidFill>
                <a:latin typeface="Arial" pitchFamily="34" charset="0"/>
                <a:ea typeface="Arial" pitchFamily="34" charset="-122"/>
                <a:cs typeface="Arial" pitchFamily="34" charset="-120"/>
              </a:rPr>
              <a:t>Fragen?</a:t>
            </a:r>
            <a:endParaRPr lang="en-US" sz="8800" dirty="0"/>
          </a:p>
        </p:txBody>
      </p:sp>
      <p:sp>
        <p:nvSpPr>
          <p:cNvPr id="4" name="Text 2"/>
          <p:cNvSpPr txBox="1"/>
          <p:nvPr/>
        </p:nvSpPr>
        <p:spPr>
          <a:xfrm>
            <a:off x="685800" y="3520440"/>
            <a:ext cx="4937760" cy="365760"/>
          </a:xfrm>
          <a:prstGeom prst="rect">
            <a:avLst/>
          </a:prstGeom>
          <a:noFill/>
          <a:ln/>
        </p:spPr>
        <p:txBody>
          <a:bodyPr wrap="square" lIns="0" tIns="0" rIns="0" bIns="0" rtlCol="0" anchor="t"/>
          <a:lstStyle/>
          <a:p>
            <a:pPr indent="0" marL="0">
              <a:buNone/>
            </a:pPr>
            <a:r>
              <a:rPr lang="en-US" sz="1900" dirty="0">
                <a:solidFill>
                  <a:srgbClr val="5F6672"/>
                </a:solidFill>
                <a:latin typeface="Arial" pitchFamily="34" charset="0"/>
                <a:ea typeface="Arial" pitchFamily="34" charset="-122"/>
                <a:cs typeface="Arial" pitchFamily="34" charset="-120"/>
              </a:rPr>
              <a:t>Danke für die Aufmerksamkeit.</a:t>
            </a:r>
            <a:endParaRPr lang="en-US" sz="1900" dirty="0"/>
          </a:p>
        </p:txBody>
      </p:sp>
      <p:sp>
        <p:nvSpPr>
          <p:cNvPr id="5" name="Text 3"/>
          <p:cNvSpPr txBox="1"/>
          <p:nvPr/>
        </p:nvSpPr>
        <p:spPr>
          <a:xfrm>
            <a:off x="6126480" y="1234440"/>
            <a:ext cx="4572000" cy="27432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QUELLEN</a:t>
            </a:r>
            <a:endParaRPr lang="en-US" sz="1100" dirty="0"/>
          </a:p>
        </p:txBody>
      </p:sp>
      <p:sp>
        <p:nvSpPr>
          <p:cNvPr id="6" name="Text 4"/>
          <p:cNvSpPr txBox="1"/>
          <p:nvPr/>
        </p:nvSpPr>
        <p:spPr>
          <a:xfrm>
            <a:off x="6126480" y="1600200"/>
            <a:ext cx="5376672" cy="4480560"/>
          </a:xfrm>
          <a:prstGeom prst="rect">
            <a:avLst/>
          </a:prstGeom>
          <a:noFill/>
          <a:ln/>
        </p:spPr>
        <p:txBody>
          <a:bodyPr wrap="square" lIns="0" tIns="0" rIns="0" bIns="0" rtlCol="0" anchor="t"/>
          <a:lstStyle/>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Bickel, P. J., Hammel, E. A. &amp; O'Connell, J. W. (1975). Sex Bias in Graduate Admissions: Data from Berkeley. Science, 187(4175), 398–404.</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McKinney, W. (2018). Datenanalyse mit Python (2. Aufl.). O'Reilly. Abschnitt 3.2 Funktionen.</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Newbold, P., Carlson, W. &amp; Thorne, B. (2013). Statistics for Business and Economics (8th ed.). Pearson.</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ZHAW SML (HS 2026). Folienskript Statistik, Teil 3; Aufgabe 4, Tabelle 4: UCB Admissions.</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Code: Vortrag4_Berkeley_Analyse.ipynb</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ANHANG</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R</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Reserve</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Zusatzfolien für Rückfragen</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13</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Gesamtquote als gewichteter Mittelwert</a:t>
            </a:r>
            <a:endParaRPr lang="en-US" sz="3200" dirty="0"/>
          </a:p>
        </p:txBody>
      </p:sp>
      <p:sp>
        <p:nvSpPr>
          <p:cNvPr id="4" name="Text 2"/>
          <p:cNvSpPr txBox="1"/>
          <p:nvPr/>
        </p:nvSpPr>
        <p:spPr>
          <a:xfrm>
            <a:off x="685800" y="1828800"/>
            <a:ext cx="3291840" cy="822960"/>
          </a:xfrm>
          <a:prstGeom prst="rect">
            <a:avLst/>
          </a:prstGeom>
          <a:noFill/>
          <a:ln/>
        </p:spPr>
        <p:txBody>
          <a:bodyPr wrap="square" lIns="0" tIns="0" rIns="0" bIns="0" rtlCol="0" anchor="t"/>
          <a:lstStyle/>
          <a:p>
            <a:pPr indent="0" marL="0">
              <a:buNone/>
            </a:pPr>
            <a:r>
              <a:rPr lang="en-US" sz="1900" b="1" dirty="0">
                <a:solidFill>
                  <a:srgbClr val="003262"/>
                </a:solidFill>
                <a:latin typeface="Arial" pitchFamily="34" charset="0"/>
                <a:ea typeface="Arial" pitchFamily="34" charset="-122"/>
                <a:cs typeface="Arial" pitchFamily="34" charset="-120"/>
              </a:rPr>
              <a:t>P(Z | G) =</a:t>
            </a:r>
            <a:endParaRPr lang="en-US" sz="1900" dirty="0"/>
          </a:p>
          <a:p>
            <a:pPr indent="0" marL="0">
              <a:buNone/>
            </a:pPr>
            <a:r>
              <a:rPr lang="en-US" sz="1900" b="1" dirty="0">
                <a:solidFill>
                  <a:srgbClr val="003262"/>
                </a:solidFill>
                <a:latin typeface="Arial" pitchFamily="34" charset="0"/>
                <a:ea typeface="Arial" pitchFamily="34" charset="-122"/>
                <a:cs typeface="Arial" pitchFamily="34" charset="-120"/>
              </a:rPr>
              <a:t>Σᵢ P(Fᵢ | G) · P(Z | Fᵢ, G)</a:t>
            </a:r>
            <a:endParaRPr lang="en-US" sz="1900" dirty="0"/>
          </a:p>
        </p:txBody>
      </p:sp>
      <p:sp>
        <p:nvSpPr>
          <p:cNvPr id="5" name="Text 3"/>
          <p:cNvSpPr txBox="1"/>
          <p:nvPr/>
        </p:nvSpPr>
        <p:spPr>
          <a:xfrm>
            <a:off x="685800" y="2880360"/>
            <a:ext cx="3200400" cy="54864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Beitrag je Fachbereich = Anteil × Quote</a:t>
            </a:r>
            <a:endParaRPr lang="en-US" sz="1600" dirty="0"/>
          </a:p>
        </p:txBody>
      </p:sp>
      <p:sp>
        <p:nvSpPr>
          <p:cNvPr id="6" name="Text 4"/>
          <p:cNvSpPr txBox="1"/>
          <p:nvPr/>
        </p:nvSpPr>
        <p:spPr>
          <a:xfrm>
            <a:off x="685800" y="3657600"/>
            <a:ext cx="3200400" cy="219456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Frauen haben ihre grossen Gewichte bei den tiefen Quoten (C–F), Männer bei den hohen (A, B). Deshalb ist die Summe der Frauen klein, obwohl ihre Quoten je Fachbereich meist höher sind.</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343400" y="1828800"/>
          <a:ext cx="7162495" cy="914400"/>
        </p:xfrm>
        <a:graphic>
          <a:graphicData uri="http://schemas.openxmlformats.org/drawingml/2006/table">
            <a:tbl>
              <a:tblPr/>
              <a:tblGrid>
                <a:gridCol w="667512"/>
                <a:gridCol w="1081735"/>
                <a:gridCol w="1081735"/>
                <a:gridCol w="1097280"/>
                <a:gridCol w="1081735"/>
                <a:gridCol w="1081735"/>
                <a:gridCol w="1070762"/>
              </a:tblGrid>
              <a:tr h="457200">
                <a:tc>
                  <a:txBody>
                    <a:bodyPr/>
                    <a:lstStyle/>
                    <a:p>
                      <a:pPr algn="l" indent="0" marL="0">
                        <a:buNone/>
                      </a:pPr>
                      <a:r>
                        <a:rPr lang="en-US" sz="1300" b="1" dirty="0">
                          <a:solidFill>
                            <a:srgbClr val="5F6672"/>
                          </a:solidFill>
                          <a:latin typeface="Arial" pitchFamily="34" charset="0"/>
                          <a:ea typeface="Arial" pitchFamily="34" charset="-122"/>
                          <a:cs typeface="Arial" pitchFamily="34" charset="-120"/>
                        </a:rPr>
                        <a:t>FB</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Anteil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Quote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D9541E"/>
                          </a:solidFill>
                          <a:latin typeface="Arial" pitchFamily="34" charset="0"/>
                          <a:ea typeface="Arial" pitchFamily="34" charset="-122"/>
                          <a:cs typeface="Arial" pitchFamily="34" charset="-120"/>
                        </a:rPr>
                        <a:t>Beitrag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Anteil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Quote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4A90C2"/>
                          </a:solidFill>
                          <a:latin typeface="Arial" pitchFamily="34" charset="0"/>
                          <a:ea typeface="Arial" pitchFamily="34" charset="-122"/>
                          <a:cs typeface="Arial" pitchFamily="34" charset="-120"/>
                        </a:rPr>
                        <a:t>Beitrag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A</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82.4 %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30.7 %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19.1 %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68.0 %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20.8 %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63.0 %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13.1 %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C</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32.3 %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11.0 %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36.9 %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4.5 %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D</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20.4 %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7.1 %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15.5 %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5.1 %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E</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21.4 %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5.1 %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27.7 %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2.0 %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18.6 %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1.3 %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0.8 %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Σ</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1A1A1A"/>
                          </a:solidFill>
                          <a:latin typeface="Arial" pitchFamily="34" charset="0"/>
                          <a:ea typeface="Arial" pitchFamily="34" charset="-122"/>
                          <a:cs typeface="Arial" pitchFamily="34" charset="-120"/>
                        </a:rPr>
                        <a:t>100 %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D9541E"/>
                          </a:solidFill>
                          <a:latin typeface="Arial" pitchFamily="34" charset="0"/>
                          <a:ea typeface="Arial" pitchFamily="34" charset="-122"/>
                          <a:cs typeface="Arial" pitchFamily="34" charset="-120"/>
                        </a:rPr>
                        <a:t>30.4 %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1A1A1A"/>
                          </a:solidFill>
                          <a:latin typeface="Arial" pitchFamily="34" charset="0"/>
                          <a:ea typeface="Arial" pitchFamily="34" charset="-122"/>
                          <a:cs typeface="Arial" pitchFamily="34" charset="-120"/>
                        </a:rPr>
                        <a:t>100 %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4A90C2"/>
                          </a:solidFill>
                          <a:latin typeface="Arial" pitchFamily="34" charset="0"/>
                          <a:ea typeface="Arial" pitchFamily="34" charset="-122"/>
                          <a:cs typeface="Arial" pitchFamily="34" charset="-120"/>
                        </a:rPr>
                        <a:t>44.6 %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r>
            </a:tbl>
          </a:graphicData>
        </a:graphic>
      </p:graphicFrame>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14</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So funktioniert der Chi-Quadrat-Test</a:t>
            </a:r>
            <a:endParaRPr lang="en-US" sz="3200" dirty="0"/>
          </a:p>
        </p:txBody>
      </p:sp>
      <p:sp>
        <p:nvSpPr>
          <p:cNvPr id="4" name="Text 2"/>
          <p:cNvSpPr txBox="1"/>
          <p:nvPr/>
        </p:nvSpPr>
        <p:spPr>
          <a:xfrm>
            <a:off x="685800" y="1783080"/>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H₀</a:t>
            </a:r>
            <a:endParaRPr lang="en-US" sz="2200" dirty="0"/>
          </a:p>
        </p:txBody>
      </p:sp>
      <p:sp>
        <p:nvSpPr>
          <p:cNvPr id="5" name="Text 3"/>
          <p:cNvSpPr txBox="1"/>
          <p:nvPr/>
        </p:nvSpPr>
        <p:spPr>
          <a:xfrm>
            <a:off x="1508760" y="1819656"/>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Z und W sind unabhängig</a:t>
            </a:r>
            <a:endParaRPr lang="en-US" sz="1500" dirty="0"/>
          </a:p>
        </p:txBody>
      </p:sp>
      <p:sp>
        <p:nvSpPr>
          <p:cNvPr id="6" name="Text 4"/>
          <p:cNvSpPr txBox="1"/>
          <p:nvPr/>
        </p:nvSpPr>
        <p:spPr>
          <a:xfrm>
            <a:off x="685800" y="2532888"/>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E</a:t>
            </a:r>
            <a:endParaRPr lang="en-US" sz="2200" dirty="0"/>
          </a:p>
        </p:txBody>
      </p:sp>
      <p:sp>
        <p:nvSpPr>
          <p:cNvPr id="7" name="Text 5"/>
          <p:cNvSpPr txBox="1"/>
          <p:nvPr/>
        </p:nvSpPr>
        <p:spPr>
          <a:xfrm>
            <a:off x="1508760" y="2569464"/>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Erwartete Häufigkeit je Zelle: E = n · P(Z) · P(W)</a:t>
            </a:r>
            <a:endParaRPr lang="en-US" sz="1500" dirty="0"/>
          </a:p>
        </p:txBody>
      </p:sp>
      <p:sp>
        <p:nvSpPr>
          <p:cNvPr id="8" name="Text 6"/>
          <p:cNvSpPr txBox="1"/>
          <p:nvPr/>
        </p:nvSpPr>
        <p:spPr>
          <a:xfrm>
            <a:off x="685800" y="3282696"/>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χ²</a:t>
            </a:r>
            <a:endParaRPr lang="en-US" sz="2200" dirty="0"/>
          </a:p>
        </p:txBody>
      </p:sp>
      <p:sp>
        <p:nvSpPr>
          <p:cNvPr id="9" name="Text 7"/>
          <p:cNvSpPr txBox="1"/>
          <p:nvPr/>
        </p:nvSpPr>
        <p:spPr>
          <a:xfrm>
            <a:off x="1508760" y="3319272"/>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Teststatistik: χ² = Σ (B − E)² / E</a:t>
            </a:r>
            <a:endParaRPr lang="en-US" sz="1500" dirty="0"/>
          </a:p>
        </p:txBody>
      </p:sp>
      <p:sp>
        <p:nvSpPr>
          <p:cNvPr id="10" name="Text 8"/>
          <p:cNvSpPr txBox="1"/>
          <p:nvPr/>
        </p:nvSpPr>
        <p:spPr>
          <a:xfrm>
            <a:off x="685800" y="4032504"/>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df</a:t>
            </a:r>
            <a:endParaRPr lang="en-US" sz="2200" dirty="0"/>
          </a:p>
        </p:txBody>
      </p:sp>
      <p:sp>
        <p:nvSpPr>
          <p:cNvPr id="11" name="Text 9"/>
          <p:cNvSpPr txBox="1"/>
          <p:nvPr/>
        </p:nvSpPr>
        <p:spPr>
          <a:xfrm>
            <a:off x="1508760" y="4069080"/>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Freiheitsgrade: (2 − 1) · (2 − 1) = 1; kritischer Wert (α = 5 %): 3.84</a:t>
            </a:r>
            <a:endParaRPr lang="en-US" sz="1500" dirty="0"/>
          </a:p>
        </p:txBody>
      </p:sp>
      <p:sp>
        <p:nvSpPr>
          <p:cNvPr id="12" name="Text 10"/>
          <p:cNvSpPr txBox="1"/>
          <p:nvPr/>
        </p:nvSpPr>
        <p:spPr>
          <a:xfrm>
            <a:off x="685800" y="4892040"/>
            <a:ext cx="5120640" cy="411480"/>
          </a:xfrm>
          <a:prstGeom prst="rect">
            <a:avLst/>
          </a:prstGeom>
          <a:noFill/>
          <a:ln/>
        </p:spPr>
        <p:txBody>
          <a:bodyPr wrap="square" lIns="0" tIns="0" rIns="0" bIns="0" rtlCol="0" anchor="t"/>
          <a:lstStyle/>
          <a:p>
            <a:pPr indent="0" marL="0">
              <a:buNone/>
            </a:pPr>
            <a:r>
              <a:rPr lang="en-US" sz="2100" b="1" dirty="0">
                <a:solidFill>
                  <a:srgbClr val="D9541E"/>
                </a:solidFill>
                <a:latin typeface="Arial" pitchFamily="34" charset="0"/>
                <a:ea typeface="Arial" pitchFamily="34" charset="-122"/>
                <a:cs typeface="Arial" pitchFamily="34" charset="-120"/>
              </a:rPr>
              <a:t>χ² = 92.2, p &lt; 0.001  →  H₀ verwerfen</a:t>
            </a:r>
            <a:endParaRPr lang="en-US" sz="2100" dirty="0"/>
          </a:p>
        </p:txBody>
      </p:sp>
      <p:sp>
        <p:nvSpPr>
          <p:cNvPr id="13" name="Text 11"/>
          <p:cNvSpPr txBox="1"/>
          <p:nvPr/>
        </p:nvSpPr>
        <p:spPr>
          <a:xfrm>
            <a:off x="685800" y="5440680"/>
            <a:ext cx="5120640" cy="274320"/>
          </a:xfrm>
          <a:prstGeom prst="rect">
            <a:avLst/>
          </a:prstGeom>
          <a:noFill/>
          <a:ln/>
        </p:spPr>
        <p:txBody>
          <a:bodyPr wrap="square" lIns="0" tIns="0" rIns="0" bIns="0" rtlCol="0" anchor="t"/>
          <a:lstStyle/>
          <a:p>
            <a:pPr indent="0" marL="0">
              <a:buNone/>
            </a:pPr>
            <a:r>
              <a:rPr lang="en-US" sz="1200" dirty="0">
                <a:solidFill>
                  <a:srgbClr val="5F6672"/>
                </a:solidFill>
                <a:latin typeface="Courier New" pitchFamily="34" charset="0"/>
                <a:ea typeface="Courier New" pitchFamily="34" charset="-122"/>
                <a:cs typeface="Courier New" pitchFamily="34" charset="-120"/>
              </a:rPr>
              <a:t>Python: chi2_contingency(tafel, correction=False)</a:t>
            </a:r>
            <a:endParaRPr lang="en-US" sz="1200" dirty="0"/>
          </a:p>
        </p:txBody>
      </p:sp>
      <p:sp>
        <p:nvSpPr>
          <p:cNvPr id="14" name="Text 12"/>
          <p:cNvSpPr txBox="1"/>
          <p:nvPr/>
        </p:nvSpPr>
        <p:spPr>
          <a:xfrm>
            <a:off x="7406640"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zugelassen</a:t>
            </a:r>
            <a:endParaRPr lang="en-US" sz="1300" dirty="0"/>
          </a:p>
        </p:txBody>
      </p:sp>
      <p:sp>
        <p:nvSpPr>
          <p:cNvPr id="15" name="Text 13"/>
          <p:cNvSpPr txBox="1"/>
          <p:nvPr/>
        </p:nvSpPr>
        <p:spPr>
          <a:xfrm>
            <a:off x="8759952"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abgelehnt</a:t>
            </a:r>
            <a:endParaRPr lang="en-US" sz="1300" dirty="0"/>
          </a:p>
        </p:txBody>
      </p:sp>
      <p:sp>
        <p:nvSpPr>
          <p:cNvPr id="16" name="Text 14"/>
          <p:cNvSpPr txBox="1"/>
          <p:nvPr/>
        </p:nvSpPr>
        <p:spPr>
          <a:xfrm>
            <a:off x="10113264"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Total</a:t>
            </a:r>
            <a:endParaRPr lang="en-US" sz="1300" dirty="0"/>
          </a:p>
        </p:txBody>
      </p:sp>
      <p:sp>
        <p:nvSpPr>
          <p:cNvPr id="17" name="Text 15"/>
          <p:cNvSpPr txBox="1"/>
          <p:nvPr/>
        </p:nvSpPr>
        <p:spPr>
          <a:xfrm>
            <a:off x="6263640" y="21945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Frauen</a:t>
            </a:r>
            <a:endParaRPr lang="en-US" sz="1500" dirty="0"/>
          </a:p>
        </p:txBody>
      </p:sp>
      <p:sp>
        <p:nvSpPr>
          <p:cNvPr id="18" name="Shape 16"/>
          <p:cNvSpPr/>
          <p:nvPr/>
        </p:nvSpPr>
        <p:spPr>
          <a:xfrm>
            <a:off x="7406640" y="2194560"/>
            <a:ext cx="1298448" cy="859536"/>
          </a:xfrm>
          <a:prstGeom prst="rect">
            <a:avLst/>
          </a:prstGeom>
          <a:solidFill>
            <a:srgbClr val="FBE3D9"/>
          </a:solidFill>
          <a:ln/>
        </p:spPr>
      </p:sp>
      <p:sp>
        <p:nvSpPr>
          <p:cNvPr id="19" name="Text 17"/>
          <p:cNvSpPr txBox="1"/>
          <p:nvPr/>
        </p:nvSpPr>
        <p:spPr>
          <a:xfrm>
            <a:off x="7406640" y="2322576"/>
            <a:ext cx="1298448" cy="365760"/>
          </a:xfrm>
          <a:prstGeom prst="rect">
            <a:avLst/>
          </a:prstGeom>
          <a:noFill/>
          <a:ln/>
        </p:spPr>
        <p:txBody>
          <a:bodyPr wrap="square" lIns="0" tIns="0" rIns="0" bIns="0" rtlCol="0" anchor="t"/>
          <a:lstStyle/>
          <a:p>
            <a:pPr algn="ctr" indent="0" marL="0">
              <a:buNone/>
            </a:pPr>
            <a:r>
              <a:rPr lang="en-US" sz="2400" b="1" dirty="0">
                <a:solidFill>
                  <a:srgbClr val="D9541E"/>
                </a:solidFill>
                <a:latin typeface="Arial" pitchFamily="34" charset="0"/>
                <a:ea typeface="Arial" pitchFamily="34" charset="-122"/>
                <a:cs typeface="Arial" pitchFamily="34" charset="-120"/>
              </a:rPr>
              <a:t>557</a:t>
            </a:r>
            <a:endParaRPr lang="en-US" sz="2400" dirty="0"/>
          </a:p>
        </p:txBody>
      </p:sp>
      <p:sp>
        <p:nvSpPr>
          <p:cNvPr id="20" name="Text 18"/>
          <p:cNvSpPr txBox="1"/>
          <p:nvPr/>
        </p:nvSpPr>
        <p:spPr>
          <a:xfrm>
            <a:off x="7406640" y="27249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711.5</a:t>
            </a:r>
            <a:endParaRPr lang="en-US" sz="1200" dirty="0"/>
          </a:p>
        </p:txBody>
      </p:sp>
      <p:sp>
        <p:nvSpPr>
          <p:cNvPr id="21" name="Shape 19"/>
          <p:cNvSpPr/>
          <p:nvPr/>
        </p:nvSpPr>
        <p:spPr>
          <a:xfrm>
            <a:off x="8759952" y="2194560"/>
            <a:ext cx="1298448" cy="859536"/>
          </a:xfrm>
          <a:prstGeom prst="rect">
            <a:avLst/>
          </a:prstGeom>
          <a:solidFill>
            <a:srgbClr val="F1F3F5"/>
          </a:solidFill>
          <a:ln/>
        </p:spPr>
      </p:sp>
      <p:sp>
        <p:nvSpPr>
          <p:cNvPr id="22" name="Text 20"/>
          <p:cNvSpPr txBox="1"/>
          <p:nvPr/>
        </p:nvSpPr>
        <p:spPr>
          <a:xfrm>
            <a:off x="8759952" y="23225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1 278</a:t>
            </a:r>
            <a:endParaRPr lang="en-US" sz="2400" dirty="0"/>
          </a:p>
        </p:txBody>
      </p:sp>
      <p:sp>
        <p:nvSpPr>
          <p:cNvPr id="23" name="Text 21"/>
          <p:cNvSpPr txBox="1"/>
          <p:nvPr/>
        </p:nvSpPr>
        <p:spPr>
          <a:xfrm>
            <a:off x="8759952" y="27249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1 123.5</a:t>
            </a:r>
            <a:endParaRPr lang="en-US" sz="1200" dirty="0"/>
          </a:p>
        </p:txBody>
      </p:sp>
      <p:sp>
        <p:nvSpPr>
          <p:cNvPr id="24" name="Text 22"/>
          <p:cNvSpPr txBox="1"/>
          <p:nvPr/>
        </p:nvSpPr>
        <p:spPr>
          <a:xfrm>
            <a:off x="10113264" y="24688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1 835</a:t>
            </a:r>
            <a:endParaRPr lang="en-US" sz="1700" dirty="0"/>
          </a:p>
        </p:txBody>
      </p:sp>
      <p:sp>
        <p:nvSpPr>
          <p:cNvPr id="25" name="Text 23"/>
          <p:cNvSpPr txBox="1"/>
          <p:nvPr/>
        </p:nvSpPr>
        <p:spPr>
          <a:xfrm>
            <a:off x="6263640" y="31089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Männer</a:t>
            </a:r>
            <a:endParaRPr lang="en-US" sz="1500" dirty="0"/>
          </a:p>
        </p:txBody>
      </p:sp>
      <p:sp>
        <p:nvSpPr>
          <p:cNvPr id="26" name="Shape 24"/>
          <p:cNvSpPr/>
          <p:nvPr/>
        </p:nvSpPr>
        <p:spPr>
          <a:xfrm>
            <a:off x="7406640" y="3108960"/>
            <a:ext cx="1298448" cy="859536"/>
          </a:xfrm>
          <a:prstGeom prst="rect">
            <a:avLst/>
          </a:prstGeom>
          <a:solidFill>
            <a:srgbClr val="F1F3F5"/>
          </a:solidFill>
          <a:ln/>
        </p:spPr>
      </p:sp>
      <p:sp>
        <p:nvSpPr>
          <p:cNvPr id="27" name="Text 25"/>
          <p:cNvSpPr txBox="1"/>
          <p:nvPr/>
        </p:nvSpPr>
        <p:spPr>
          <a:xfrm>
            <a:off x="7406640" y="32369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1 198</a:t>
            </a:r>
            <a:endParaRPr lang="en-US" sz="2400" dirty="0"/>
          </a:p>
        </p:txBody>
      </p:sp>
      <p:sp>
        <p:nvSpPr>
          <p:cNvPr id="28" name="Text 26"/>
          <p:cNvSpPr txBox="1"/>
          <p:nvPr/>
        </p:nvSpPr>
        <p:spPr>
          <a:xfrm>
            <a:off x="7406640" y="36393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1 043.5</a:t>
            </a:r>
            <a:endParaRPr lang="en-US" sz="1200" dirty="0"/>
          </a:p>
        </p:txBody>
      </p:sp>
      <p:sp>
        <p:nvSpPr>
          <p:cNvPr id="29" name="Shape 27"/>
          <p:cNvSpPr/>
          <p:nvPr/>
        </p:nvSpPr>
        <p:spPr>
          <a:xfrm>
            <a:off x="8759952" y="3108960"/>
            <a:ext cx="1298448" cy="859536"/>
          </a:xfrm>
          <a:prstGeom prst="rect">
            <a:avLst/>
          </a:prstGeom>
          <a:solidFill>
            <a:srgbClr val="F1F3F5"/>
          </a:solidFill>
          <a:ln/>
        </p:spPr>
      </p:sp>
      <p:sp>
        <p:nvSpPr>
          <p:cNvPr id="30" name="Text 28"/>
          <p:cNvSpPr txBox="1"/>
          <p:nvPr/>
        </p:nvSpPr>
        <p:spPr>
          <a:xfrm>
            <a:off x="8759952" y="32369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1 493</a:t>
            </a:r>
            <a:endParaRPr lang="en-US" sz="2400" dirty="0"/>
          </a:p>
        </p:txBody>
      </p:sp>
      <p:sp>
        <p:nvSpPr>
          <p:cNvPr id="31" name="Text 29"/>
          <p:cNvSpPr txBox="1"/>
          <p:nvPr/>
        </p:nvSpPr>
        <p:spPr>
          <a:xfrm>
            <a:off x="8759952" y="36393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1 647.5</a:t>
            </a:r>
            <a:endParaRPr lang="en-US" sz="1200" dirty="0"/>
          </a:p>
        </p:txBody>
      </p:sp>
      <p:sp>
        <p:nvSpPr>
          <p:cNvPr id="32" name="Text 30"/>
          <p:cNvSpPr txBox="1"/>
          <p:nvPr/>
        </p:nvSpPr>
        <p:spPr>
          <a:xfrm>
            <a:off x="10113264" y="33832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2 691</a:t>
            </a:r>
            <a:endParaRPr lang="en-US" sz="1700" dirty="0"/>
          </a:p>
        </p:txBody>
      </p:sp>
      <p:sp>
        <p:nvSpPr>
          <p:cNvPr id="33" name="Text 31"/>
          <p:cNvSpPr txBox="1"/>
          <p:nvPr/>
        </p:nvSpPr>
        <p:spPr>
          <a:xfrm>
            <a:off x="6263640" y="40233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Total</a:t>
            </a:r>
            <a:endParaRPr lang="en-US" sz="1500" dirty="0"/>
          </a:p>
        </p:txBody>
      </p:sp>
      <p:sp>
        <p:nvSpPr>
          <p:cNvPr id="34" name="Text 32"/>
          <p:cNvSpPr txBox="1"/>
          <p:nvPr/>
        </p:nvSpPr>
        <p:spPr>
          <a:xfrm>
            <a:off x="7406640"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1 755</a:t>
            </a:r>
            <a:endParaRPr lang="en-US" sz="1700" dirty="0"/>
          </a:p>
        </p:txBody>
      </p:sp>
      <p:sp>
        <p:nvSpPr>
          <p:cNvPr id="35" name="Text 33"/>
          <p:cNvSpPr txBox="1"/>
          <p:nvPr/>
        </p:nvSpPr>
        <p:spPr>
          <a:xfrm>
            <a:off x="8759952"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2 771</a:t>
            </a:r>
            <a:endParaRPr lang="en-US" sz="1700" dirty="0"/>
          </a:p>
        </p:txBody>
      </p:sp>
      <p:sp>
        <p:nvSpPr>
          <p:cNvPr id="36" name="Text 34"/>
          <p:cNvSpPr txBox="1"/>
          <p:nvPr/>
        </p:nvSpPr>
        <p:spPr>
          <a:xfrm>
            <a:off x="10113264"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4 526</a:t>
            </a:r>
            <a:endParaRPr lang="en-US" sz="1700" dirty="0"/>
          </a:p>
        </p:txBody>
      </p:sp>
      <p:sp>
        <p:nvSpPr>
          <p:cNvPr id="37" name="Text 35"/>
          <p:cNvSpPr txBox="1"/>
          <p:nvPr/>
        </p:nvSpPr>
        <p:spPr>
          <a:xfrm>
            <a:off x="6263640" y="4983480"/>
            <a:ext cx="5242255" cy="7772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Bei Unabhängigkeit wären rund 712 Frauen zugelassen worden, tatsächlich waren es 557. Die Abweichung ist viel zu gross für Zufall.</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14</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Der Fachbereich als Drittvariable</a:t>
            </a:r>
            <a:endParaRPr lang="en-US" sz="3200" dirty="0"/>
          </a:p>
        </p:txBody>
      </p:sp>
      <p:sp>
        <p:nvSpPr>
          <p:cNvPr id="4" name="Shape 2"/>
          <p:cNvSpPr/>
          <p:nvPr/>
        </p:nvSpPr>
        <p:spPr>
          <a:xfrm flipV="1">
            <a:off x="2514600" y="2606040"/>
            <a:ext cx="2423160" cy="1371600"/>
          </a:xfrm>
          <a:prstGeom prst="line">
            <a:avLst/>
          </a:prstGeom>
          <a:noFill/>
          <a:ln w="31750">
            <a:solidFill>
              <a:srgbClr val="003262"/>
            </a:solidFill>
            <a:prstDash val="solid"/>
            <a:tailEnd type="triangle"/>
          </a:ln>
        </p:spPr>
      </p:sp>
      <p:sp>
        <p:nvSpPr>
          <p:cNvPr id="5" name="Shape 3"/>
          <p:cNvSpPr/>
          <p:nvPr/>
        </p:nvSpPr>
        <p:spPr>
          <a:xfrm>
            <a:off x="7269480" y="2606040"/>
            <a:ext cx="2423160" cy="1371600"/>
          </a:xfrm>
          <a:prstGeom prst="line">
            <a:avLst/>
          </a:prstGeom>
          <a:noFill/>
          <a:ln w="31750">
            <a:solidFill>
              <a:srgbClr val="003262"/>
            </a:solidFill>
            <a:prstDash val="solid"/>
            <a:tailEnd type="triangle"/>
          </a:ln>
        </p:spPr>
      </p:sp>
      <p:sp>
        <p:nvSpPr>
          <p:cNvPr id="6" name="Shape 4"/>
          <p:cNvSpPr/>
          <p:nvPr/>
        </p:nvSpPr>
        <p:spPr>
          <a:xfrm>
            <a:off x="3886200" y="4366260"/>
            <a:ext cx="4389120" cy="0"/>
          </a:xfrm>
          <a:prstGeom prst="line">
            <a:avLst/>
          </a:prstGeom>
          <a:noFill/>
          <a:ln w="25400">
            <a:solidFill>
              <a:srgbClr val="5F6672"/>
            </a:solidFill>
            <a:prstDash val="dash"/>
            <a:tailEnd type="triangle"/>
          </a:ln>
        </p:spPr>
      </p:sp>
      <p:sp>
        <p:nvSpPr>
          <p:cNvPr id="7" name="Shape 5"/>
          <p:cNvSpPr/>
          <p:nvPr/>
        </p:nvSpPr>
        <p:spPr>
          <a:xfrm>
            <a:off x="4727448" y="1828800"/>
            <a:ext cx="2743200" cy="777240"/>
          </a:xfrm>
          <a:prstGeom prst="rect">
            <a:avLst/>
          </a:prstGeom>
          <a:solidFill>
            <a:srgbClr val="003262"/>
          </a:solidFill>
          <a:ln/>
        </p:spPr>
      </p:sp>
      <p:sp>
        <p:nvSpPr>
          <p:cNvPr id="8" name="Text 6"/>
          <p:cNvSpPr txBox="1"/>
          <p:nvPr/>
        </p:nvSpPr>
        <p:spPr>
          <a:xfrm>
            <a:off x="4727448" y="182880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Fachbereich</a:t>
            </a:r>
            <a:endParaRPr lang="en-US" sz="2000" dirty="0"/>
          </a:p>
        </p:txBody>
      </p:sp>
      <p:sp>
        <p:nvSpPr>
          <p:cNvPr id="9" name="Shape 7"/>
          <p:cNvSpPr/>
          <p:nvPr/>
        </p:nvSpPr>
        <p:spPr>
          <a:xfrm>
            <a:off x="1143000" y="3977640"/>
            <a:ext cx="2743200" cy="777240"/>
          </a:xfrm>
          <a:prstGeom prst="rect">
            <a:avLst/>
          </a:prstGeom>
          <a:solidFill>
            <a:srgbClr val="3A4250"/>
          </a:solidFill>
          <a:ln/>
        </p:spPr>
      </p:sp>
      <p:sp>
        <p:nvSpPr>
          <p:cNvPr id="10" name="Text 8"/>
          <p:cNvSpPr txBox="1"/>
          <p:nvPr/>
        </p:nvSpPr>
        <p:spPr>
          <a:xfrm>
            <a:off x="1143000" y="397764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Geschlecht</a:t>
            </a:r>
            <a:endParaRPr lang="en-US" sz="2000" dirty="0"/>
          </a:p>
        </p:txBody>
      </p:sp>
      <p:sp>
        <p:nvSpPr>
          <p:cNvPr id="11" name="Shape 9"/>
          <p:cNvSpPr/>
          <p:nvPr/>
        </p:nvSpPr>
        <p:spPr>
          <a:xfrm>
            <a:off x="8321040" y="3977640"/>
            <a:ext cx="2743200" cy="777240"/>
          </a:xfrm>
          <a:prstGeom prst="rect">
            <a:avLst/>
          </a:prstGeom>
          <a:solidFill>
            <a:srgbClr val="3A4250"/>
          </a:solidFill>
          <a:ln/>
        </p:spPr>
      </p:sp>
      <p:sp>
        <p:nvSpPr>
          <p:cNvPr id="12" name="Text 10"/>
          <p:cNvSpPr txBox="1"/>
          <p:nvPr/>
        </p:nvSpPr>
        <p:spPr>
          <a:xfrm>
            <a:off x="8321040" y="397764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Zulassung</a:t>
            </a:r>
            <a:endParaRPr lang="en-US" sz="2000" dirty="0"/>
          </a:p>
        </p:txBody>
      </p:sp>
      <p:sp>
        <p:nvSpPr>
          <p:cNvPr id="13" name="Text 11"/>
          <p:cNvSpPr txBox="1"/>
          <p:nvPr/>
        </p:nvSpPr>
        <p:spPr>
          <a:xfrm>
            <a:off x="685800" y="2468880"/>
            <a:ext cx="3017520" cy="64008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Frauen wählen häufiger C–F</a:t>
            </a:r>
            <a:endParaRPr lang="en-US" sz="1500" dirty="0"/>
          </a:p>
          <a:p>
            <a:pPr indent="0" marL="0">
              <a:buNone/>
            </a:pPr>
            <a:r>
              <a:rPr lang="en-US" sz="1300" dirty="0">
                <a:solidFill>
                  <a:srgbClr val="5F6672"/>
                </a:solidFill>
                <a:latin typeface="Arial" pitchFamily="34" charset="0"/>
                <a:ea typeface="Arial" pitchFamily="34" charset="-122"/>
                <a:cs typeface="Arial" pitchFamily="34" charset="-120"/>
              </a:rPr>
              <a:t>χ² = 1 068.4, df = 5, p &lt; 0.001</a:t>
            </a:r>
            <a:endParaRPr lang="en-US" sz="1500" dirty="0"/>
          </a:p>
        </p:txBody>
      </p:sp>
      <p:sp>
        <p:nvSpPr>
          <p:cNvPr id="14" name="Text 12"/>
          <p:cNvSpPr txBox="1"/>
          <p:nvPr/>
        </p:nvSpPr>
        <p:spPr>
          <a:xfrm>
            <a:off x="8641080" y="2468880"/>
            <a:ext cx="2862072" cy="64008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C–F lassen wenige zu</a:t>
            </a:r>
            <a:endParaRPr lang="en-US" sz="1500" dirty="0"/>
          </a:p>
          <a:p>
            <a:pPr indent="0" marL="0">
              <a:buNone/>
            </a:pPr>
            <a:r>
              <a:rPr lang="en-US" sz="1300" dirty="0">
                <a:solidFill>
                  <a:srgbClr val="5F6672"/>
                </a:solidFill>
                <a:latin typeface="Arial" pitchFamily="34" charset="0"/>
                <a:ea typeface="Arial" pitchFamily="34" charset="-122"/>
                <a:cs typeface="Arial" pitchFamily="34" charset="-120"/>
              </a:rPr>
              <a:t>χ² = 778.9, df = 5, p &lt; 0.001</a:t>
            </a:r>
            <a:endParaRPr lang="en-US" sz="1500" dirty="0"/>
          </a:p>
        </p:txBody>
      </p:sp>
      <p:sp>
        <p:nvSpPr>
          <p:cNvPr id="15" name="Text 13"/>
          <p:cNvSpPr txBox="1"/>
          <p:nvPr/>
        </p:nvSpPr>
        <p:spPr>
          <a:xfrm>
            <a:off x="3931920" y="4526280"/>
            <a:ext cx="4297680" cy="274320"/>
          </a:xfrm>
          <a:prstGeom prst="rect">
            <a:avLst/>
          </a:prstGeom>
          <a:noFill/>
          <a:ln/>
        </p:spPr>
        <p:txBody>
          <a:bodyPr wrap="square" lIns="0" tIns="0" rIns="0" bIns="0" rtlCol="0" anchor="t"/>
          <a:lstStyle/>
          <a:p>
            <a:pPr algn="ctr" indent="0" marL="0">
              <a:buNone/>
            </a:pPr>
            <a:r>
              <a:rPr lang="en-US" sz="1400" dirty="0">
                <a:solidFill>
                  <a:srgbClr val="5F6672"/>
                </a:solidFill>
                <a:latin typeface="Arial" pitchFamily="34" charset="0"/>
                <a:ea typeface="Arial" pitchFamily="34" charset="-122"/>
                <a:cs typeface="Arial" pitchFamily="34" charset="-120"/>
              </a:rPr>
              <a:t>direkter Effekt: je Fachbereich kaum vorhanden</a:t>
            </a:r>
            <a:endParaRPr lang="en-US" sz="1400" dirty="0"/>
          </a:p>
        </p:txBody>
      </p:sp>
      <p:sp>
        <p:nvSpPr>
          <p:cNvPr id="16" name="Text 14"/>
          <p:cNvSpPr txBox="1"/>
          <p:nvPr/>
        </p:nvSpPr>
        <p:spPr>
          <a:xfrm>
            <a:off x="685800" y="5349240"/>
            <a:ext cx="10820095" cy="5943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Simpson-Paradoxon: Der Confounder «Fachbereich» erzeugt den aggregierten Zusammenhang. Korrelation ≠ Kausalität.</a:t>
            </a:r>
            <a:endParaRPr lang="en-US" sz="18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7</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Ablauf des Programms</a:t>
            </a:r>
            <a:endParaRPr lang="en-US" sz="3200" dirty="0"/>
          </a:p>
        </p:txBody>
      </p:sp>
      <p:sp>
        <p:nvSpPr>
          <p:cNvPr id="4" name="Shape 2"/>
          <p:cNvSpPr/>
          <p:nvPr/>
        </p:nvSpPr>
        <p:spPr>
          <a:xfrm>
            <a:off x="941832" y="2103120"/>
            <a:ext cx="8656076" cy="0"/>
          </a:xfrm>
          <a:prstGeom prst="line">
            <a:avLst/>
          </a:prstGeom>
          <a:noFill/>
          <a:ln w="19050">
            <a:solidFill>
              <a:srgbClr val="C9CED6"/>
            </a:solidFill>
            <a:prstDash val="solid"/>
          </a:ln>
        </p:spPr>
      </p:sp>
      <p:sp>
        <p:nvSpPr>
          <p:cNvPr id="5" name="Shape 3"/>
          <p:cNvSpPr/>
          <p:nvPr/>
        </p:nvSpPr>
        <p:spPr>
          <a:xfrm>
            <a:off x="685800" y="1847088"/>
            <a:ext cx="512064" cy="512064"/>
          </a:xfrm>
          <a:prstGeom prst="ellipse">
            <a:avLst/>
          </a:prstGeom>
          <a:solidFill>
            <a:srgbClr val="003262"/>
          </a:solidFill>
          <a:ln w="38100">
            <a:solidFill>
              <a:srgbClr val="FFFFFF"/>
            </a:solidFill>
            <a:prstDash val="solid"/>
          </a:ln>
        </p:spPr>
      </p:sp>
      <p:sp>
        <p:nvSpPr>
          <p:cNvPr id="6" name="Text 4"/>
          <p:cNvSpPr txBox="1"/>
          <p:nvPr/>
        </p:nvSpPr>
        <p:spPr>
          <a:xfrm>
            <a:off x="685800"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txBox="1"/>
          <p:nvPr/>
        </p:nvSpPr>
        <p:spPr>
          <a:xfrm>
            <a:off x="685800"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Erfassen</a:t>
            </a:r>
            <a:endParaRPr lang="en-US" sz="1900" dirty="0"/>
          </a:p>
        </p:txBody>
      </p:sp>
      <p:sp>
        <p:nvSpPr>
          <p:cNvPr id="8" name="Text 6"/>
          <p:cNvSpPr txBox="1"/>
          <p:nvPr/>
        </p:nvSpPr>
        <p:spPr>
          <a:xfrm>
            <a:off x="685800"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 4 als Strings, bereinige() mit Liste von Funktionen</a:t>
            </a:r>
            <a:endParaRPr lang="en-US" sz="1400" dirty="0"/>
          </a:p>
        </p:txBody>
      </p:sp>
      <p:sp>
        <p:nvSpPr>
          <p:cNvPr id="9" name="Shape 7"/>
          <p:cNvSpPr/>
          <p:nvPr/>
        </p:nvSpPr>
        <p:spPr>
          <a:xfrm>
            <a:off x="2849819" y="1847088"/>
            <a:ext cx="512064" cy="512064"/>
          </a:xfrm>
          <a:prstGeom prst="ellipse">
            <a:avLst/>
          </a:prstGeom>
          <a:solidFill>
            <a:srgbClr val="003262"/>
          </a:solidFill>
          <a:ln w="38100">
            <a:solidFill>
              <a:srgbClr val="FFFFFF"/>
            </a:solidFill>
            <a:prstDash val="solid"/>
          </a:ln>
        </p:spPr>
      </p:sp>
      <p:sp>
        <p:nvSpPr>
          <p:cNvPr id="10" name="Text 8"/>
          <p:cNvSpPr txBox="1"/>
          <p:nvPr/>
        </p:nvSpPr>
        <p:spPr>
          <a:xfrm>
            <a:off x="2849819"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2849819"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Prüfen</a:t>
            </a:r>
            <a:endParaRPr lang="en-US" sz="1900" dirty="0"/>
          </a:p>
        </p:txBody>
      </p:sp>
      <p:sp>
        <p:nvSpPr>
          <p:cNvPr id="12" name="Text 10"/>
          <p:cNvSpPr txBox="1"/>
          <p:nvPr/>
        </p:nvSpPr>
        <p:spPr>
          <a:xfrm>
            <a:off x="2849819"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gesamtquote(): Satz der totalen Wahrscheinlichkeit</a:t>
            </a:r>
            <a:endParaRPr lang="en-US" sz="1400" dirty="0"/>
          </a:p>
        </p:txBody>
      </p:sp>
      <p:sp>
        <p:nvSpPr>
          <p:cNvPr id="13" name="Shape 11"/>
          <p:cNvSpPr/>
          <p:nvPr/>
        </p:nvSpPr>
        <p:spPr>
          <a:xfrm>
            <a:off x="5013838" y="1847088"/>
            <a:ext cx="512064" cy="512064"/>
          </a:xfrm>
          <a:prstGeom prst="ellipse">
            <a:avLst/>
          </a:prstGeom>
          <a:solidFill>
            <a:srgbClr val="003262"/>
          </a:solidFill>
          <a:ln w="38100">
            <a:solidFill>
              <a:srgbClr val="FFFFFF"/>
            </a:solidFill>
            <a:prstDash val="solid"/>
          </a:ln>
        </p:spPr>
      </p:sp>
      <p:sp>
        <p:nvSpPr>
          <p:cNvPr id="14" name="Text 12"/>
          <p:cNvSpPr txBox="1"/>
          <p:nvPr/>
        </p:nvSpPr>
        <p:spPr>
          <a:xfrm>
            <a:off x="5013838"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5" name="Text 13"/>
          <p:cNvSpPr txBox="1"/>
          <p:nvPr/>
        </p:nvSpPr>
        <p:spPr>
          <a:xfrm>
            <a:off x="5013838"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Anzahlen</a:t>
            </a:r>
            <a:endParaRPr lang="en-US" sz="1900" dirty="0"/>
          </a:p>
        </p:txBody>
      </p:sp>
      <p:sp>
        <p:nvSpPr>
          <p:cNvPr id="16" name="Text 14"/>
          <p:cNvSpPr txBox="1"/>
          <p:nvPr/>
        </p:nvSpPr>
        <p:spPr>
          <a:xfrm>
            <a:off x="5013838"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Originaldaten als langes DataFrame, 0 Abweichungen</a:t>
            </a:r>
            <a:endParaRPr lang="en-US" sz="1400" dirty="0"/>
          </a:p>
        </p:txBody>
      </p:sp>
      <p:sp>
        <p:nvSpPr>
          <p:cNvPr id="17" name="Shape 15"/>
          <p:cNvSpPr/>
          <p:nvPr/>
        </p:nvSpPr>
        <p:spPr>
          <a:xfrm>
            <a:off x="7177857" y="1847088"/>
            <a:ext cx="512064" cy="512064"/>
          </a:xfrm>
          <a:prstGeom prst="ellipse">
            <a:avLst/>
          </a:prstGeom>
          <a:solidFill>
            <a:srgbClr val="003262"/>
          </a:solidFill>
          <a:ln w="38100">
            <a:solidFill>
              <a:srgbClr val="FFFFFF"/>
            </a:solidFill>
            <a:prstDash val="solid"/>
          </a:ln>
        </p:spPr>
      </p:sp>
      <p:sp>
        <p:nvSpPr>
          <p:cNvPr id="18" name="Text 16"/>
          <p:cNvSpPr txBox="1"/>
          <p:nvPr/>
        </p:nvSpPr>
        <p:spPr>
          <a:xfrm>
            <a:off x="7177857"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19" name="Text 17"/>
          <p:cNvSpPr txBox="1"/>
          <p:nvPr/>
        </p:nvSpPr>
        <p:spPr>
          <a:xfrm>
            <a:off x="7177857"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Analysieren</a:t>
            </a:r>
            <a:endParaRPr lang="en-US" sz="1900" dirty="0"/>
          </a:p>
        </p:txBody>
      </p:sp>
      <p:sp>
        <p:nvSpPr>
          <p:cNvPr id="20" name="Text 18"/>
          <p:cNvSpPr txBox="1"/>
          <p:nvPr/>
        </p:nvSpPr>
        <p:spPr>
          <a:xfrm>
            <a:off x="7177857"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vierfeldertafel(), pruefe_​unabhaengigkeit(): gesamt und je Fachbereich</a:t>
            </a:r>
            <a:endParaRPr lang="en-US" sz="1400" dirty="0"/>
          </a:p>
        </p:txBody>
      </p:sp>
      <p:sp>
        <p:nvSpPr>
          <p:cNvPr id="21" name="Shape 19"/>
          <p:cNvSpPr/>
          <p:nvPr/>
        </p:nvSpPr>
        <p:spPr>
          <a:xfrm>
            <a:off x="9341876" y="1847088"/>
            <a:ext cx="512064" cy="512064"/>
          </a:xfrm>
          <a:prstGeom prst="ellipse">
            <a:avLst/>
          </a:prstGeom>
          <a:solidFill>
            <a:srgbClr val="003262"/>
          </a:solidFill>
          <a:ln w="38100">
            <a:solidFill>
              <a:srgbClr val="FFFFFF"/>
            </a:solidFill>
            <a:prstDash val="solid"/>
          </a:ln>
        </p:spPr>
      </p:sp>
      <p:sp>
        <p:nvSpPr>
          <p:cNvPr id="22" name="Text 20"/>
          <p:cNvSpPr txBox="1"/>
          <p:nvPr/>
        </p:nvSpPr>
        <p:spPr>
          <a:xfrm>
            <a:off x="9341876"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3" name="Text 21"/>
          <p:cNvSpPr txBox="1"/>
          <p:nvPr/>
        </p:nvSpPr>
        <p:spPr>
          <a:xfrm>
            <a:off x="9341876"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Darstellen</a:t>
            </a:r>
            <a:endParaRPr lang="en-US" sz="1900" dirty="0"/>
          </a:p>
        </p:txBody>
      </p:sp>
      <p:sp>
        <p:nvSpPr>
          <p:cNvPr id="24" name="Text 22"/>
          <p:cNvSpPr txBox="1"/>
          <p:nvPr/>
        </p:nvSpPr>
        <p:spPr>
          <a:xfrm>
            <a:off x="9341876"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matplotlib, Farbe je Geschlecht, PNG für Text und Folien</a:t>
            </a:r>
            <a:endParaRPr lang="en-US" sz="1400" dirty="0"/>
          </a:p>
        </p:txBody>
      </p:sp>
      <p:sp>
        <p:nvSpPr>
          <p:cNvPr id="25" name="Text 23"/>
          <p:cNvSpPr txBox="1"/>
          <p:nvPr/>
        </p:nvSpPr>
        <p:spPr>
          <a:xfrm>
            <a:off x="685800"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1</a:t>
            </a:r>
            <a:endParaRPr lang="en-US" sz="1100" dirty="0"/>
          </a:p>
        </p:txBody>
      </p:sp>
      <p:sp>
        <p:nvSpPr>
          <p:cNvPr id="26" name="Text 24"/>
          <p:cNvSpPr txBox="1"/>
          <p:nvPr/>
        </p:nvSpPr>
        <p:spPr>
          <a:xfrm>
            <a:off x="685800"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Funktionen</a:t>
            </a:r>
            <a:endParaRPr lang="en-US" sz="1800" dirty="0"/>
          </a:p>
        </p:txBody>
      </p:sp>
      <p:sp>
        <p:nvSpPr>
          <p:cNvPr id="27" name="Text 25"/>
          <p:cNvSpPr txBox="1"/>
          <p:nvPr/>
        </p:nvSpPr>
        <p:spPr>
          <a:xfrm>
            <a:off x="685800"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Jeder wiederholte Schritt ist eine Funktion, gleiche Funktion für gesamt und je Fachbereich</a:t>
            </a:r>
            <a:endParaRPr lang="en-US" sz="1400" dirty="0"/>
          </a:p>
        </p:txBody>
      </p:sp>
      <p:sp>
        <p:nvSpPr>
          <p:cNvPr id="28" name="Text 26"/>
          <p:cNvSpPr txBox="1"/>
          <p:nvPr/>
        </p:nvSpPr>
        <p:spPr>
          <a:xfrm>
            <a:off x="4414418"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2</a:t>
            </a:r>
            <a:endParaRPr lang="en-US" sz="1100" dirty="0"/>
          </a:p>
        </p:txBody>
      </p:sp>
      <p:sp>
        <p:nvSpPr>
          <p:cNvPr id="29" name="Text 27"/>
          <p:cNvSpPr txBox="1"/>
          <p:nvPr/>
        </p:nvSpPr>
        <p:spPr>
          <a:xfrm>
            <a:off x="4414418"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Kein global</a:t>
            </a:r>
            <a:endParaRPr lang="en-US" sz="1800" dirty="0"/>
          </a:p>
        </p:txBody>
      </p:sp>
      <p:sp>
        <p:nvSpPr>
          <p:cNvPr id="30" name="Text 28"/>
          <p:cNvSpPr txBox="1"/>
          <p:nvPr/>
        </p:nvSpPr>
        <p:spPr>
          <a:xfrm>
            <a:off x="4414418"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Daten werden nur als Argumente übergeben (kein global), Ergebnisse mit return zurückgegeben</a:t>
            </a:r>
            <a:endParaRPr lang="en-US" sz="1400" dirty="0"/>
          </a:p>
        </p:txBody>
      </p:sp>
      <p:sp>
        <p:nvSpPr>
          <p:cNvPr id="31" name="Text 29"/>
          <p:cNvSpPr txBox="1"/>
          <p:nvPr/>
        </p:nvSpPr>
        <p:spPr>
          <a:xfrm>
            <a:off x="8143037"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3</a:t>
            </a:r>
            <a:endParaRPr lang="en-US" sz="1100" dirty="0"/>
          </a:p>
        </p:txBody>
      </p:sp>
      <p:sp>
        <p:nvSpPr>
          <p:cNvPr id="32" name="Text 30"/>
          <p:cNvSpPr txBox="1"/>
          <p:nvPr/>
        </p:nvSpPr>
        <p:spPr>
          <a:xfrm>
            <a:off x="8143037"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Fehler sichtbar</a:t>
            </a:r>
            <a:endParaRPr lang="en-US" sz="1800" dirty="0"/>
          </a:p>
        </p:txBody>
      </p:sp>
      <p:sp>
        <p:nvSpPr>
          <p:cNvPr id="33" name="Text 31"/>
          <p:cNvSpPr txBox="1"/>
          <p:nvPr/>
        </p:nvSpPr>
        <p:spPr>
          <a:xfrm>
            <a:off x="8143037"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Fehler in der Datenerfassung werden durch try/except und zwei Gegenproben sofort sichtbar</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Berkeley 1973">
  <a:themeElements>
    <a:clrScheme name="Berkeley 1973">
      <a:dk1>
        <a:srgbClr val="1A1A1A"/>
      </a:dk1>
      <a:lt1>
        <a:srgbClr val="FFFFFF"/>
      </a:lt1>
      <a:dk2>
        <a:srgbClr val="003262"/>
      </a:dk2>
      <a:lt2>
        <a:srgbClr val="F1F3F5"/>
      </a:lt2>
      <a:accent1>
        <a:srgbClr val="D9541E"/>
      </a:accent1>
      <a:accent2>
        <a:srgbClr val="4A90C2"/>
      </a:accent2>
      <a:accent3>
        <a:srgbClr val="FDB515"/>
      </a:accent3>
      <a:accent4>
        <a:srgbClr val="5F6672"/>
      </a:accent4>
      <a:accent5>
        <a:srgbClr val="C9CED6"/>
      </a:accent5>
      <a:accent6>
        <a:srgbClr val="0E1E33"/>
      </a:accent6>
      <a:hlink>
        <a:srgbClr val="003262"/>
      </a:hlink>
      <a:folHlink>
        <a:srgbClr val="5F6672"/>
      </a:folHlink>
    </a:clrScheme>
    <a:fontScheme name="Berkeley 1973">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Das Berkeley-Paradoxon</dc:title>
  <dc:subject>PptxGenJS Presentation</dc:subject>
  <dc:creator>Leorat Krasniqi, Teoman-Doganay Lam, Filip Lazic</dc:creator>
  <cp:lastModifiedBy>Leorat Krasniqi, Teoman-Doganay Lam, Filip Lazic</cp:lastModifiedBy>
  <cp:revision>1</cp:revision>
  <dcterms:created xsi:type="dcterms:W3CDTF">2026-10-19T18:41:26Z</dcterms:created>
  <dcterms:modified xsi:type="dcterms:W3CDTF">2026-10-19T18:41:26Z</dcterms:modified>
</cp:coreProperties>
</file>