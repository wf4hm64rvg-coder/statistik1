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Begrüssung, Vorstellung der Gruppe. Ablauf: 1) Funktionen in Python, 2) die Daten und eine scheinbare Ungerechtigkeit, 3) der genaue Vergleich und stochastische Unabhängigkeit. Dauer ca. 15 Minuten (3 × 5 Min.: Sprecher/in 1 Folien 1–4, Sprecher/in 2 Folien 5–7, Sprecher/in 3 Folien 8–11). Falls 20 Minuten verlangt sind: Reservefolien 13–16 nach Folie 9 bzw. 10 einschieben.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1973 befürchtete die UC Berkeley eine Klage: aggregiert wurden deutlich weniger Frauen zugelassen. Unsere drei Aufgaben: (a) Funktionen in Python, (b) Darstellung der scheinbaren Ungerechtigkeit, (c) Vergleich der Verteilungen und stochastische Unabhängigkeit.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Faustregel McKinney: Code, den man mehr als einmal braucht, gehört in eine Funktion. def/return, Positions- vs. Keyword-Argumente (Keyword nach Position, Reihenfolge egal). Lokaler Namensraum wird beim Aufruf erzeugt und danach zerstört; global möglichst vermeiden. Mehrere Rückgabewerte sind eigentlich ein Tupel; Alternative Dictionary. Rechts: unsere Anwendung.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Funktionen lassen sich in Listen speichern und als Argument übergeben (Muster clean_strings aus McKinney). Lambda: anonyme Einzeiler, ideal als Argument. partial: Currying. yield: Generator mit Lazy Evaluation. try/except: nur erwartete Fehler (ValueError) abfangen.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Tabelle 4 hat nur Prozente. Für P(W) und Chi-Quadrat brauchen wir Anzahlen: aus Originaldatensatz, Code prüft Übereinstimmung mit Tabelle 4 (0 Abweichungen). Plausibilisierung: Satz der totalen Wahrscheinlichkeit reproduziert die Totalzeile. Libraries: pandas, numpy, matplotlib, scipy; alle in Anaconda.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einziger Vergleich genügt: Gesamtquote. Balken mit Nullachse, Werte direkt beschriftet, Differenz eingezeichnet. 44.5 vs. 30.4 Prozent, 14.2 Prozentpunkte. Bei der Quote der Männer wären 817 statt 557 Frauen zugelassen worden.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Wendepunkt: In 4 von 6 Fachbereichen haben Frauen die höhere Quote, in A sogar +20 Prozentpunkte. Nur in C und E leicht tiefer (−2.8, −3.8).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51.5 % der Männer in A oder B (Quote ca. 64 %), nur 7.2 % der Frauen. 92.8 % der Frauen in C bis F mit Quoten 6 bis 35 %. Korrelation Frauenanteil zu Zulassungsquote r = −0.79.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Gesamtquote = gewichteter Mittelwert. Frauen haben hohe Gewichte bei tiefen Quoten. Gleiche Gewichte für beide (Verteilung aller Bewerbungen): Frauen 43.0 %, Männer 38.7 %. Der Unterschied kehrt sich um. Technisch: dieselbe Funktion gesamtquote, nur andere Gewichte.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 aus Teil 3: P(A|B) = P(A) bzw. P(A∩B) = P(A)P(B). Gesamt: 0.1231 statt 0.1572, also abhängig, Chi2 = 92.2, p &lt; 0.001. Je Fachbereich: B bis F unabhängig (p &gt; 0.3), nur A abhängig, aber zugunsten der Frauen. Bedingte Unabhängigkeit gegeben Fachbereich; der Fachbereich ist der Confounder.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Zusammenfassung verbirgt die Drittvariable Fachbereich: Simpson-Paradoxon. Keine Benachteiligung durch die Fachbereiche nachweisbar, aber offene Frage, warum Frauen sich in selektivere Fachbereiche bewarben. Programmtechnisch: Funktionen machen die Analyse wiederverwendbar.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Dank, Fragen aus dem Publikum entgegennehmen.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Einsatz nach Folie 9. Jede Zeile: Anteil der Bewerbungen mal Quote ergibt den Beitrag des Fachbereichs zur Gesamtquote. Frauen: Die grossen Gewichte (C, D, E, F zusammen 92.8 %) liegen bei tiefen Quoten, darum ist die Summe klein. Männer: 51.5 % der Gewichte bei A und B mit hohen Quoten. Summe Männer 44.6 % statt 44.5 % ist nur ein Rundungseffekt von Tabelle 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Einsatz nach Folie 10. Nullhypothese: Zulassung und Geschlecht sind unabhängig. Dann erwarten wir in jeder Zelle n · P(Z) · P(W), z. B. für zugelassene Frauen 4 526 · 0.388 · 0.405 = 711.5. Beobachtet sind aber nur 557. Chi-Quadrat summiert die quadrierten, standardisierten Abweichungen über alle vier Zellen: 92.2. Bei 1 Freiheitsgrad liegt der kritische Wert für alpha = 5 % bei 3.84, also wird H0 klar verworfen (p &lt; 0.001). Im Code: scipy.stats.chi2_contingency(tafel, correction=False).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Einsatz nach Folie 10 oder bei der Frage nach Kausalität. Der Fachbereich hängt mit beiden Variablen stark zusammen: Geschlecht und Fachbereichswahl (Chi2 = 1068, df = 5) und Fachbereich und Zulassung (Chi2 = 779, df = 5). Der direkte Pfeil Geschlecht -&gt; Zulassung ist innerhalb der Fachbereiche kaum vorhanden (nur A, zugunsten der Frauen). Das ist die Struktur eines Confounders und die Ursache des Simpson-Paradoxons. Korrelation ist nicht Kausalität.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Einsatz nach Folie 5, falls nach dem Aufbau des Codes gefragt wird. Der Code läuft in fünf Schritten: Tabelle 4 als Text erfassen und mit einer Liste von Funktionen bereinigen; mit dem Satz der totalen Wahrscheinlichkeit plausibilisieren; Originalanzahlen in ein langes DataFrame laden und gegen Tabelle 4 prüfen; mit denselben Funktionen gesamt und je Fachbereich analysieren; Diagramme mit einheitlichen Farben als PNG speichern. Jeder Schritt ist eine eigene Notebook-Zelle.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0000" y="1800000"/>
            <a:ext cx="10800000" cy="1080000"/>
          </a:xfrm>
          <a:prstGeom prst="rect">
            <a:avLst/>
          </a:prstGeom>
          <a:noFill/>
        </p:spPr>
        <p:txBody>
          <a:bodyPr wrap="square">
            <a:spAutoFit/>
          </a:bodyPr>
          <a:lstStyle/>
          <a:p>
            <a:pPr>
              <a:spcAft>
                <a:spcPts val="1980"/>
              </a:spcAft>
            </a:pPr>
            <a:r>
              <a:rPr sz="4400" b="1">
                <a:solidFill>
                  <a:srgbClr val="FFFFFF"/>
                </a:solidFill>
                <a:latin typeface="Calibri"/>
              </a:rPr>
              <a:t>Das Berkeley-Paradoxon</a:t>
            </a:r>
          </a:p>
        </p:txBody>
      </p:sp>
      <p:sp>
        <p:nvSpPr>
          <p:cNvPr id="4" name="TextBox 3"/>
          <p:cNvSpPr txBox="1"/>
          <p:nvPr/>
        </p:nvSpPr>
        <p:spPr>
          <a:xfrm>
            <a:off x="720000" y="2880000"/>
            <a:ext cx="10800000" cy="1080000"/>
          </a:xfrm>
          <a:prstGeom prst="rect">
            <a:avLst/>
          </a:prstGeom>
          <a:noFill/>
        </p:spPr>
        <p:txBody>
          <a:bodyPr wrap="square">
            <a:spAutoFit/>
          </a:bodyPr>
          <a:lstStyle/>
          <a:p>
            <a:pPr>
              <a:spcAft>
                <a:spcPts val="990"/>
              </a:spcAft>
            </a:pPr>
            <a:r>
              <a:rPr sz="2200" b="0">
                <a:solidFill>
                  <a:srgbClr val="DDE6F0"/>
                </a:solidFill>
                <a:latin typeface="Calibri"/>
              </a:rPr>
              <a:t>Zulassungen an der UC Berkeley 1973:</a:t>
            </a:r>
          </a:p>
          <a:p>
            <a:pPr>
              <a:spcAft>
                <a:spcPts val="990"/>
              </a:spcAft>
            </a:pPr>
            <a:r>
              <a:rPr sz="2200" b="0">
                <a:solidFill>
                  <a:srgbClr val="DDE6F0"/>
                </a:solidFill>
                <a:latin typeface="Calibri"/>
              </a:rPr>
              <a:t>Funktionen in Python, Visualisierung und stochastische Unabhängigkeit</a:t>
            </a:r>
          </a:p>
        </p:txBody>
      </p:sp>
      <p:sp>
        <p:nvSpPr>
          <p:cNvPr id="5" name="TextBox 4"/>
          <p:cNvSpPr txBox="1"/>
          <p:nvPr/>
        </p:nvSpPr>
        <p:spPr>
          <a:xfrm>
            <a:off x="720000" y="4860000"/>
            <a:ext cx="10800000" cy="1080000"/>
          </a:xfrm>
          <a:prstGeom prst="rect">
            <a:avLst/>
          </a:prstGeom>
          <a:noFill/>
        </p:spPr>
        <p:txBody>
          <a:bodyPr wrap="square">
            <a:spAutoFit/>
          </a:bodyPr>
          <a:lstStyle/>
          <a:p>
            <a:pPr>
              <a:spcAft>
                <a:spcPts val="720"/>
              </a:spcAft>
            </a:pPr>
            <a:r>
              <a:rPr sz="1600" b="0">
                <a:solidFill>
                  <a:srgbClr val="DDE6F0"/>
                </a:solidFill>
                <a:latin typeface="Calibri"/>
              </a:rPr>
              <a:t>Vortrag 4 · Statistik · Wirtschaftsinformatik · Kleinklasse HS 2026</a:t>
            </a:r>
          </a:p>
          <a:p>
            <a:pPr>
              <a:spcAft>
                <a:spcPts val="720"/>
              </a:spcAft>
            </a:pPr>
            <a:r>
              <a:rPr sz="1600" b="0">
                <a:solidFill>
                  <a:srgbClr val="DDE6F0"/>
                </a:solidFill>
                <a:latin typeface="Calibri"/>
              </a:rPr>
              <a:t>Leorat Krasniqi · Teoman-Doganay Lam · Filip Lazic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125999"/>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11160000" cy="720000"/>
          </a:xfrm>
          <a:prstGeom prst="rect">
            <a:avLst/>
          </a:prstGeom>
          <a:noFill/>
        </p:spPr>
        <p:txBody>
          <a:bodyPr wrap="square">
            <a:spAutoFit/>
          </a:bodyPr>
          <a:lstStyle/>
          <a:p>
            <a:pPr>
              <a:spcAft>
                <a:spcPts val="1350"/>
              </a:spcAft>
            </a:pPr>
            <a:r>
              <a:rPr sz="3000" b="1">
                <a:solidFill>
                  <a:srgbClr val="1F3A5F"/>
                </a:solidFill>
                <a:latin typeface="Calibri"/>
              </a:rPr>
              <a:t>Ausgangslage: Diskriminierung in Berkeley?</a:t>
            </a:r>
          </a:p>
        </p:txBody>
      </p:sp>
      <p:sp>
        <p:nvSpPr>
          <p:cNvPr id="4" name="TextBox 3"/>
          <p:cNvSpPr txBox="1"/>
          <p:nvPr/>
        </p:nvSpPr>
        <p:spPr>
          <a:xfrm>
            <a:off x="9360000" y="6372000"/>
            <a:ext cx="2520000" cy="360000"/>
          </a:xfrm>
          <a:prstGeom prst="rect">
            <a:avLst/>
          </a:prstGeom>
          <a:noFill/>
        </p:spPr>
        <p:txBody>
          <a:bodyPr wrap="square">
            <a:spAutoFit/>
          </a:bodyPr>
          <a:lstStyle/>
          <a:p>
            <a:pPr>
              <a:spcAft>
                <a:spcPts val="495"/>
              </a:spcAft>
            </a:pPr>
            <a:r>
              <a:rPr sz="1100" b="0">
                <a:solidFill>
                  <a:srgbClr val="52514E"/>
                </a:solidFill>
                <a:latin typeface="Calibri"/>
              </a:rPr>
              <a:t>Sprecher/in 1</a:t>
            </a:r>
          </a:p>
        </p:txBody>
      </p:sp>
      <p:sp>
        <p:nvSpPr>
          <p:cNvPr id="5" name="TextBox 4"/>
          <p:cNvSpPr txBox="1"/>
          <p:nvPr/>
        </p:nvSpPr>
        <p:spPr>
          <a:xfrm>
            <a:off x="540000" y="1224000"/>
            <a:ext cx="10980000" cy="4680000"/>
          </a:xfrm>
          <a:prstGeom prst="rect">
            <a:avLst/>
          </a:prstGeom>
          <a:noFill/>
        </p:spPr>
        <p:txBody>
          <a:bodyPr wrap="square">
            <a:spAutoFit/>
          </a:bodyPr>
          <a:lstStyle/>
          <a:p>
            <a:pPr>
              <a:spcAft>
                <a:spcPts val="900"/>
              </a:spcAft>
            </a:pPr>
            <a:r>
              <a:rPr sz="2000" b="0">
                <a:solidFill>
                  <a:srgbClr val="52514E"/>
                </a:solidFill>
                <a:latin typeface="Calibri"/>
              </a:rPr>
              <a:t>•  4 526 Bewerbungen für ein Graduate-Studium in 6 Fachbereichen (A bis F)</a:t>
            </a:r>
          </a:p>
          <a:p>
            <a:pPr>
              <a:spcAft>
                <a:spcPts val="900"/>
              </a:spcAft>
            </a:pPr>
            <a:r>
              <a:rPr sz="2000" b="0">
                <a:solidFill>
                  <a:srgbClr val="52514E"/>
                </a:solidFill>
                <a:latin typeface="Calibri"/>
              </a:rPr>
              <a:t>•  Tabelle 4: Zulassungsquote je Fachbereich und Geschlecht sowie Verteilung der Bewerbungen</a:t>
            </a:r>
          </a:p>
          <a:p>
            <a:pPr>
              <a:spcAft>
                <a:spcPts val="900"/>
              </a:spcAft>
            </a:pPr>
            <a:r>
              <a:rPr sz="2000" b="1">
                <a:solidFill>
                  <a:srgbClr val="52514E"/>
                </a:solidFill>
                <a:latin typeface="Calibri"/>
              </a:rPr>
              <a:t>•  Aufgabe (a): Funktionen in Python (McKinney 2018, Abschnitt 3.2)</a:t>
            </a:r>
          </a:p>
          <a:p>
            <a:pPr>
              <a:spcAft>
                <a:spcPts val="900"/>
              </a:spcAft>
            </a:pPr>
            <a:r>
              <a:rPr sz="2000" b="1">
                <a:solidFill>
                  <a:srgbClr val="52514E"/>
                </a:solidFill>
                <a:latin typeface="Calibri"/>
              </a:rPr>
              <a:t>•  Aufgabe (b): Die Ungerechtigkeit auf einen Blick darstellen</a:t>
            </a:r>
          </a:p>
          <a:p>
            <a:pPr>
              <a:spcAft>
                <a:spcPts val="900"/>
              </a:spcAft>
            </a:pPr>
            <a:r>
              <a:rPr sz="2000" b="1">
                <a:solidFill>
                  <a:srgbClr val="52514E"/>
                </a:solidFill>
                <a:latin typeface="Calibri"/>
              </a:rPr>
              <a:t>•  Aufgabe (c): Verteilungen vergleichen, stochastische Unabhängigkeit prüfen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125999"/>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11160000" cy="720000"/>
          </a:xfrm>
          <a:prstGeom prst="rect">
            <a:avLst/>
          </a:prstGeom>
          <a:noFill/>
        </p:spPr>
        <p:txBody>
          <a:bodyPr wrap="square">
            <a:spAutoFit/>
          </a:bodyPr>
          <a:lstStyle/>
          <a:p>
            <a:pPr>
              <a:spcAft>
                <a:spcPts val="1350"/>
              </a:spcAft>
            </a:pPr>
            <a:r>
              <a:rPr sz="3000" b="1">
                <a:solidFill>
                  <a:srgbClr val="1F3A5F"/>
                </a:solidFill>
                <a:latin typeface="Calibri"/>
              </a:rPr>
              <a:t>(a) Funktionen in Python: Grundlagen</a:t>
            </a:r>
          </a:p>
        </p:txBody>
      </p:sp>
      <p:sp>
        <p:nvSpPr>
          <p:cNvPr id="4" name="TextBox 3"/>
          <p:cNvSpPr txBox="1"/>
          <p:nvPr/>
        </p:nvSpPr>
        <p:spPr>
          <a:xfrm>
            <a:off x="9360000" y="6372000"/>
            <a:ext cx="2520000" cy="360000"/>
          </a:xfrm>
          <a:prstGeom prst="rect">
            <a:avLst/>
          </a:prstGeom>
          <a:noFill/>
        </p:spPr>
        <p:txBody>
          <a:bodyPr wrap="square">
            <a:spAutoFit/>
          </a:bodyPr>
          <a:lstStyle/>
          <a:p>
            <a:pPr>
              <a:spcAft>
                <a:spcPts val="495"/>
              </a:spcAft>
            </a:pPr>
            <a:r>
              <a:rPr sz="1100" b="0">
                <a:solidFill>
                  <a:srgbClr val="52514E"/>
                </a:solidFill>
                <a:latin typeface="Calibri"/>
              </a:rPr>
              <a:t>Sprecher/in 1</a:t>
            </a:r>
          </a:p>
        </p:txBody>
      </p:sp>
      <p:sp>
        <p:nvSpPr>
          <p:cNvPr id="5" name="TextBox 4"/>
          <p:cNvSpPr txBox="1"/>
          <p:nvPr/>
        </p:nvSpPr>
        <p:spPr>
          <a:xfrm>
            <a:off x="540000" y="1224000"/>
            <a:ext cx="5040000" cy="4680000"/>
          </a:xfrm>
          <a:prstGeom prst="rect">
            <a:avLst/>
          </a:prstGeom>
          <a:noFill/>
        </p:spPr>
        <p:txBody>
          <a:bodyPr wrap="square">
            <a:spAutoFit/>
          </a:bodyPr>
          <a:lstStyle/>
          <a:p>
            <a:pPr>
              <a:spcAft>
                <a:spcPts val="810"/>
              </a:spcAft>
            </a:pPr>
            <a:r>
              <a:rPr sz="1800" b="0">
                <a:solidFill>
                  <a:srgbClr val="52514E"/>
                </a:solidFill>
                <a:latin typeface="Calibri"/>
              </a:rPr>
              <a:t>•  def deklariert, return gibt zurück (ohne return: None)</a:t>
            </a:r>
          </a:p>
          <a:p>
            <a:pPr>
              <a:spcAft>
                <a:spcPts val="810"/>
              </a:spcAft>
            </a:pPr>
            <a:r>
              <a:rPr sz="1800" b="0">
                <a:solidFill>
                  <a:srgbClr val="52514E"/>
                </a:solidFill>
                <a:latin typeface="Calibri"/>
              </a:rPr>
              <a:t>•  Positions- und Keyword-Argumente mit Standardwert</a:t>
            </a:r>
          </a:p>
          <a:p>
            <a:pPr>
              <a:spcAft>
                <a:spcPts val="810"/>
              </a:spcAft>
            </a:pPr>
            <a:r>
              <a:rPr sz="1800" b="0">
                <a:solidFill>
                  <a:srgbClr val="52514E"/>
                </a:solidFill>
                <a:latin typeface="Calibri"/>
              </a:rPr>
              <a:t>•  Lokaler Namensraum; global vermeiden</a:t>
            </a:r>
          </a:p>
          <a:p>
            <a:pPr>
              <a:spcAft>
                <a:spcPts val="810"/>
              </a:spcAft>
            </a:pPr>
            <a:r>
              <a:rPr sz="1800" b="0">
                <a:solidFill>
                  <a:srgbClr val="52514E"/>
                </a:solidFill>
                <a:latin typeface="Calibri"/>
              </a:rPr>
              <a:t>•  Mehrere Rückgabewerte = ein Tupel, alternativ Dictionary</a:t>
            </a:r>
          </a:p>
        </p:txBody>
      </p:sp>
      <p:sp>
        <p:nvSpPr>
          <p:cNvPr id="6" name="TextBox 5"/>
          <p:cNvSpPr txBox="1"/>
          <p:nvPr/>
        </p:nvSpPr>
        <p:spPr>
          <a:xfrm>
            <a:off x="5760000" y="1224000"/>
            <a:ext cx="5940000" cy="4320000"/>
          </a:xfrm>
          <a:prstGeom prst="rect">
            <a:avLst/>
          </a:prstGeom>
          <a:solidFill>
            <a:srgbClr val="F2F2F2"/>
          </a:solidFill>
        </p:spPr>
        <p:txBody>
          <a:bodyPr wrap="square" lIns="144000" rIns="144000" tIns="108000" bIns="108000">
            <a:spAutoFit/>
          </a:bodyPr>
          <a:lstStyle/>
          <a:p>
            <a:pPr>
              <a:spcAft>
                <a:spcPts val="540"/>
              </a:spcAft>
            </a:pPr>
            <a:r>
              <a:rPr sz="1200" b="0">
                <a:solidFill>
                  <a:srgbClr val="202020"/>
                </a:solidFill>
                <a:latin typeface="Consolas"/>
              </a:rPr>
              <a:t>def vierfeldertafel(daten, fachbereich=None):</a:t>
            </a:r>
          </a:p>
          <a:p>
            <a:pPr>
              <a:spcAft>
                <a:spcPts val="540"/>
              </a:spcAft>
            </a:pPr>
            <a:r>
              <a:rPr sz="1200" b="0">
                <a:solidFill>
                  <a:srgbClr val="202020"/>
                </a:solidFill>
                <a:latin typeface="Consolas"/>
              </a:rPr>
              <a:t>    if fachbereich is not None:</a:t>
            </a:r>
          </a:p>
          <a:p>
            <a:pPr>
              <a:spcAft>
                <a:spcPts val="540"/>
              </a:spcAft>
            </a:pPr>
            <a:r>
              <a:rPr sz="1200" b="0">
                <a:solidFill>
                  <a:srgbClr val="202020"/>
                </a:solidFill>
                <a:latin typeface="Consolas"/>
              </a:rPr>
              <a:t>        daten = daten[daten["Fachbereich"] == fachbereich]</a:t>
            </a:r>
          </a:p>
          <a:p>
            <a:pPr>
              <a:spcAft>
                <a:spcPts val="540"/>
              </a:spcAft>
            </a:pPr>
            <a:r>
              <a:rPr sz="1200" b="0">
                <a:solidFill>
                  <a:srgbClr val="202020"/>
                </a:solidFill>
                <a:latin typeface="Consolas"/>
              </a:rPr>
              <a:t>    return daten.pivot_table(index="Geschlecht",</a:t>
            </a:r>
          </a:p>
          <a:p>
            <a:pPr>
              <a:spcAft>
                <a:spcPts val="540"/>
              </a:spcAft>
            </a:pPr>
            <a:r>
              <a:rPr sz="1200" b="0">
                <a:solidFill>
                  <a:srgbClr val="202020"/>
                </a:solidFill>
                <a:latin typeface="Consolas"/>
              </a:rPr>
              <a:t>                             columns="Entscheid",</a:t>
            </a:r>
          </a:p>
          <a:p>
            <a:pPr>
              <a:spcAft>
                <a:spcPts val="540"/>
              </a:spcAft>
            </a:pPr>
            <a:r>
              <a:rPr sz="1200" b="0">
                <a:solidFill>
                  <a:srgbClr val="202020"/>
                </a:solidFill>
                <a:latin typeface="Consolas"/>
              </a:rPr>
              <a:t>                             values="Anzahl", aggfunc="sum")</a:t>
            </a:r>
          </a:p>
          <a:p>
            <a:pPr>
              <a:spcAft>
                <a:spcPts val="540"/>
              </a:spcAft>
            </a:pPr>
            <a:r>
              <a:rPr sz="1200" b="0">
                <a:solidFill>
                  <a:srgbClr val="202020"/>
                </a:solidFill>
                <a:latin typeface="Consolas"/>
              </a:rPr>
              <a:t/>
            </a:r>
          </a:p>
          <a:p>
            <a:pPr>
              <a:spcAft>
                <a:spcPts val="540"/>
              </a:spcAft>
            </a:pPr>
            <a:r>
              <a:rPr sz="1200" b="0">
                <a:solidFill>
                  <a:srgbClr val="202020"/>
                </a:solidFill>
                <a:latin typeface="Consolas"/>
              </a:rPr>
              <a:t>def kennzahlen(zugelassen, abgelehnt, total):</a:t>
            </a:r>
          </a:p>
          <a:p>
            <a:pPr>
              <a:spcAft>
                <a:spcPts val="540"/>
              </a:spcAft>
            </a:pPr>
            <a:r>
              <a:rPr sz="1200" b="0">
                <a:solidFill>
                  <a:srgbClr val="202020"/>
                </a:solidFill>
                <a:latin typeface="Consolas"/>
              </a:rPr>
              <a:t>    bewerbungen = zugelassen + abgelehnt</a:t>
            </a:r>
          </a:p>
          <a:p>
            <a:pPr>
              <a:spcAft>
                <a:spcPts val="540"/>
              </a:spcAft>
            </a:pPr>
            <a:r>
              <a:rPr sz="1200" b="0">
                <a:solidFill>
                  <a:srgbClr val="202020"/>
                </a:solidFill>
                <a:latin typeface="Consolas"/>
              </a:rPr>
              <a:t>    return zugelassen / bewerbungen, bewerbungen / total</a:t>
            </a:r>
          </a:p>
          <a:p>
            <a:pPr>
              <a:spcAft>
                <a:spcPts val="540"/>
              </a:spcAft>
            </a:pPr>
            <a:r>
              <a:rPr sz="1200" b="0">
                <a:solidFill>
                  <a:srgbClr val="202020"/>
                </a:solidFill>
                <a:latin typeface="Consolas"/>
              </a:rPr>
              <a:t/>
            </a:r>
          </a:p>
          <a:p>
            <a:pPr>
              <a:spcAft>
                <a:spcPts val="540"/>
              </a:spcAft>
            </a:pPr>
            <a:r>
              <a:rPr sz="1200" b="0">
                <a:solidFill>
                  <a:srgbClr val="202020"/>
                </a:solidFill>
                <a:latin typeface="Consolas"/>
              </a:rPr>
              <a:t>quote, anteil = kennzahlen(89, 19, 1835)  # Tupel entpacken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125999"/>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11160000" cy="720000"/>
          </a:xfrm>
          <a:prstGeom prst="rect">
            <a:avLst/>
          </a:prstGeom>
          <a:noFill/>
        </p:spPr>
        <p:txBody>
          <a:bodyPr wrap="square">
            <a:spAutoFit/>
          </a:bodyPr>
          <a:lstStyle/>
          <a:p>
            <a:pPr>
              <a:spcAft>
                <a:spcPts val="1350"/>
              </a:spcAft>
            </a:pPr>
            <a:r>
              <a:rPr sz="3000" b="1">
                <a:solidFill>
                  <a:srgbClr val="1F3A5F"/>
                </a:solidFill>
                <a:latin typeface="Calibri"/>
              </a:rPr>
              <a:t>(a) Funktionen als Objekte, Lambda, yield</a:t>
            </a:r>
          </a:p>
        </p:txBody>
      </p:sp>
      <p:sp>
        <p:nvSpPr>
          <p:cNvPr id="4" name="TextBox 3"/>
          <p:cNvSpPr txBox="1"/>
          <p:nvPr/>
        </p:nvSpPr>
        <p:spPr>
          <a:xfrm>
            <a:off x="9360000" y="6372000"/>
            <a:ext cx="2520000" cy="360000"/>
          </a:xfrm>
          <a:prstGeom prst="rect">
            <a:avLst/>
          </a:prstGeom>
          <a:noFill/>
        </p:spPr>
        <p:txBody>
          <a:bodyPr wrap="square">
            <a:spAutoFit/>
          </a:bodyPr>
          <a:lstStyle/>
          <a:p>
            <a:pPr>
              <a:spcAft>
                <a:spcPts val="495"/>
              </a:spcAft>
            </a:pPr>
            <a:r>
              <a:rPr sz="1100" b="0">
                <a:solidFill>
                  <a:srgbClr val="52514E"/>
                </a:solidFill>
                <a:latin typeface="Calibri"/>
              </a:rPr>
              <a:t>Sprecher/in 1</a:t>
            </a:r>
          </a:p>
        </p:txBody>
      </p:sp>
      <p:sp>
        <p:nvSpPr>
          <p:cNvPr id="5" name="TextBox 4"/>
          <p:cNvSpPr txBox="1"/>
          <p:nvPr/>
        </p:nvSpPr>
        <p:spPr>
          <a:xfrm>
            <a:off x="540000" y="1188000"/>
            <a:ext cx="11088000" cy="5040000"/>
          </a:xfrm>
          <a:prstGeom prst="rect">
            <a:avLst/>
          </a:prstGeom>
          <a:solidFill>
            <a:srgbClr val="F2F2F2"/>
          </a:solidFill>
        </p:spPr>
        <p:txBody>
          <a:bodyPr wrap="square" lIns="144000" rIns="144000" tIns="108000" bIns="108000">
            <a:spAutoFit/>
          </a:bodyPr>
          <a:lstStyle/>
          <a:p>
            <a:pPr>
              <a:spcAft>
                <a:spcPts val="540"/>
              </a:spcAft>
            </a:pPr>
            <a:r>
              <a:rPr sz="1200" b="0">
                <a:solidFill>
                  <a:srgbClr val="202020"/>
                </a:solidFill>
                <a:latin typeface="Consolas"/>
              </a:rPr>
              <a:t># Funktionen in einer Liste -&gt; nacheinander anwenden</a:t>
            </a:r>
          </a:p>
          <a:p>
            <a:pPr>
              <a:spcAft>
                <a:spcPts val="540"/>
              </a:spcAft>
            </a:pPr>
            <a:r>
              <a:rPr sz="1200" b="0">
                <a:solidFill>
                  <a:srgbClr val="202020"/>
                </a:solidFill>
                <a:latin typeface="Consolas"/>
              </a:rPr>
              <a:t>bereinigungs_schritte = [str.strip, entferne_prozentzeichen, in_anteil]</a:t>
            </a:r>
          </a:p>
          <a:p>
            <a:pPr>
              <a:spcAft>
                <a:spcPts val="540"/>
              </a:spcAft>
            </a:pPr>
            <a:r>
              <a:rPr sz="1200" b="0">
                <a:solidFill>
                  <a:srgbClr val="202020"/>
                </a:solidFill>
                <a:latin typeface="Consolas"/>
              </a:rPr>
              <a:t>tab4 = bereinige(["82.4%", "68.0%", ...], bereinigungs_schritte)</a:t>
            </a:r>
          </a:p>
          <a:p>
            <a:pPr>
              <a:spcAft>
                <a:spcPts val="540"/>
              </a:spcAft>
            </a:pPr>
            <a:r>
              <a:rPr sz="1200" b="0">
                <a:solidFill>
                  <a:srgbClr val="202020"/>
                </a:solidFill>
                <a:latin typeface="Consolas"/>
              </a:rPr>
              <a:t/>
            </a:r>
          </a:p>
          <a:p>
            <a:pPr>
              <a:spcAft>
                <a:spcPts val="540"/>
              </a:spcAft>
            </a:pPr>
            <a:r>
              <a:rPr sz="1200" b="0">
                <a:solidFill>
                  <a:srgbClr val="202020"/>
                </a:solidFill>
                <a:latin typeface="Consolas"/>
              </a:rPr>
              <a:t># Lambda-Funktion und Currying</a:t>
            </a:r>
          </a:p>
          <a:p>
            <a:pPr>
              <a:spcAft>
                <a:spcPts val="540"/>
              </a:spcAft>
            </a:pPr>
            <a:r>
              <a:rPr sz="1200" b="0">
                <a:solidFill>
                  <a:srgbClr val="202020"/>
                </a:solidFill>
                <a:latin typeface="Consolas"/>
              </a:rPr>
              <a:t>prozent = lambda x: f"{x:.1%}"</a:t>
            </a:r>
          </a:p>
          <a:p>
            <a:pPr>
              <a:spcAft>
                <a:spcPts val="540"/>
              </a:spcAft>
            </a:pPr>
            <a:r>
              <a:rPr sz="1200" b="0">
                <a:solidFill>
                  <a:srgbClr val="202020"/>
                </a:solidFill>
                <a:latin typeface="Consolas"/>
              </a:rPr>
              <a:t>pruefe_streng = partial(pruefe_unabhaengigkeit, alpha=0.01)</a:t>
            </a:r>
          </a:p>
          <a:p>
            <a:pPr>
              <a:spcAft>
                <a:spcPts val="540"/>
              </a:spcAft>
            </a:pPr>
            <a:r>
              <a:rPr sz="1200" b="0">
                <a:solidFill>
                  <a:srgbClr val="202020"/>
                </a:solidFill>
                <a:latin typeface="Consolas"/>
              </a:rPr>
              <a:t/>
            </a:r>
          </a:p>
          <a:p>
            <a:pPr>
              <a:spcAft>
                <a:spcPts val="540"/>
              </a:spcAft>
            </a:pPr>
            <a:r>
              <a:rPr sz="1200" b="0">
                <a:solidFill>
                  <a:srgbClr val="202020"/>
                </a:solidFill>
                <a:latin typeface="Consolas"/>
              </a:rPr>
              <a:t># Generator: liefert Ergebnisse erst auf Anfrage</a:t>
            </a:r>
          </a:p>
          <a:p>
            <a:pPr>
              <a:spcAft>
                <a:spcPts val="540"/>
              </a:spcAft>
            </a:pPr>
            <a:r>
              <a:rPr sz="1200" b="0">
                <a:solidFill>
                  <a:srgbClr val="202020"/>
                </a:solidFill>
                <a:latin typeface="Consolas"/>
              </a:rPr>
              <a:t>def ergebnisse_je_fachbereich(daten, fachbereiche):</a:t>
            </a:r>
          </a:p>
          <a:p>
            <a:pPr>
              <a:spcAft>
                <a:spcPts val="540"/>
              </a:spcAft>
            </a:pPr>
            <a:r>
              <a:rPr sz="1200" b="0">
                <a:solidFill>
                  <a:srgbClr val="202020"/>
                </a:solidFill>
                <a:latin typeface="Consolas"/>
              </a:rPr>
              <a:t>    for fb in fachbereiche:</a:t>
            </a:r>
          </a:p>
          <a:p>
            <a:pPr>
              <a:spcAft>
                <a:spcPts val="540"/>
              </a:spcAft>
            </a:pPr>
            <a:r>
              <a:rPr sz="1200" b="0">
                <a:solidFill>
                  <a:srgbClr val="202020"/>
                </a:solidFill>
                <a:latin typeface="Consolas"/>
              </a:rPr>
              <a:t>        yield fb, pruefe_unabhaengigkeit(vierfeldertafel(daten, fb))</a:t>
            </a:r>
          </a:p>
          <a:p>
            <a:pPr>
              <a:spcAft>
                <a:spcPts val="540"/>
              </a:spcAft>
            </a:pPr>
            <a:r>
              <a:rPr sz="1200" b="0">
                <a:solidFill>
                  <a:srgbClr val="202020"/>
                </a:solidFill>
                <a:latin typeface="Consolas"/>
              </a:rPr>
              <a:t/>
            </a:r>
          </a:p>
          <a:p>
            <a:pPr>
              <a:spcAft>
                <a:spcPts val="540"/>
              </a:spcAft>
            </a:pPr>
            <a:r>
              <a:rPr sz="1200" b="0">
                <a:solidFill>
                  <a:srgbClr val="202020"/>
                </a:solidFill>
                <a:latin typeface="Consolas"/>
              </a:rPr>
              <a:t># Ausnahmebehandlung: nur den erwarteten Fehler abfangen</a:t>
            </a:r>
          </a:p>
          <a:p>
            <a:pPr>
              <a:spcAft>
                <a:spcPts val="540"/>
              </a:spcAft>
            </a:pPr>
            <a:r>
              <a:rPr sz="1200" b="0">
                <a:solidFill>
                  <a:srgbClr val="202020"/>
                </a:solidFill>
                <a:latin typeface="Consolas"/>
              </a:rPr>
              <a:t>def in_anteil(wert):</a:t>
            </a:r>
          </a:p>
          <a:p>
            <a:pPr>
              <a:spcAft>
                <a:spcPts val="540"/>
              </a:spcAft>
            </a:pPr>
            <a:r>
              <a:rPr sz="1200" b="0">
                <a:solidFill>
                  <a:srgbClr val="202020"/>
                </a:solidFill>
                <a:latin typeface="Consolas"/>
              </a:rPr>
              <a:t>    try:</a:t>
            </a:r>
          </a:p>
          <a:p>
            <a:pPr>
              <a:spcAft>
                <a:spcPts val="540"/>
              </a:spcAft>
            </a:pPr>
            <a:r>
              <a:rPr sz="1200" b="0">
                <a:solidFill>
                  <a:srgbClr val="202020"/>
                </a:solidFill>
                <a:latin typeface="Consolas"/>
              </a:rPr>
              <a:t>        return float(wert) / 100</a:t>
            </a:r>
          </a:p>
          <a:p>
            <a:pPr>
              <a:spcAft>
                <a:spcPts val="540"/>
              </a:spcAft>
            </a:pPr>
            <a:r>
              <a:rPr sz="1200" b="0">
                <a:solidFill>
                  <a:srgbClr val="202020"/>
                </a:solidFill>
                <a:latin typeface="Consolas"/>
              </a:rPr>
              <a:t>    except ValueError:</a:t>
            </a:r>
          </a:p>
          <a:p>
            <a:pPr>
              <a:spcAft>
                <a:spcPts val="540"/>
              </a:spcAft>
            </a:pPr>
            <a:r>
              <a:rPr sz="1200" b="0">
                <a:solidFill>
                  <a:srgbClr val="202020"/>
                </a:solidFill>
                <a:latin typeface="Consolas"/>
              </a:rPr>
              <a:t>        raise ValueError(f"Ungültiger Tabellenwert: {wert!r}")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125999"/>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11160000" cy="720000"/>
          </a:xfrm>
          <a:prstGeom prst="rect">
            <a:avLst/>
          </a:prstGeom>
          <a:noFill/>
        </p:spPr>
        <p:txBody>
          <a:bodyPr wrap="square">
            <a:spAutoFit/>
          </a:bodyPr>
          <a:lstStyle/>
          <a:p>
            <a:pPr>
              <a:spcAft>
                <a:spcPts val="1350"/>
              </a:spcAft>
            </a:pPr>
            <a:r>
              <a:rPr sz="3000" b="1">
                <a:solidFill>
                  <a:srgbClr val="1F3A5F"/>
                </a:solidFill>
                <a:latin typeface="Calibri"/>
              </a:rPr>
              <a:t>Vorüberlegungen zur Umsetzung</a:t>
            </a:r>
          </a:p>
        </p:txBody>
      </p:sp>
      <p:sp>
        <p:nvSpPr>
          <p:cNvPr id="4" name="TextBox 3"/>
          <p:cNvSpPr txBox="1"/>
          <p:nvPr/>
        </p:nvSpPr>
        <p:spPr>
          <a:xfrm>
            <a:off x="9360000" y="6372000"/>
            <a:ext cx="2520000" cy="360000"/>
          </a:xfrm>
          <a:prstGeom prst="rect">
            <a:avLst/>
          </a:prstGeom>
          <a:noFill/>
        </p:spPr>
        <p:txBody>
          <a:bodyPr wrap="square">
            <a:spAutoFit/>
          </a:bodyPr>
          <a:lstStyle/>
          <a:p>
            <a:pPr>
              <a:spcAft>
                <a:spcPts val="495"/>
              </a:spcAft>
            </a:pPr>
            <a:r>
              <a:rPr sz="1100" b="0">
                <a:solidFill>
                  <a:srgbClr val="52514E"/>
                </a:solidFill>
                <a:latin typeface="Calibri"/>
              </a:rPr>
              <a:t>Sprecher/in 2</a:t>
            </a:r>
          </a:p>
        </p:txBody>
      </p:sp>
      <p:sp>
        <p:nvSpPr>
          <p:cNvPr id="5" name="TextBox 4"/>
          <p:cNvSpPr txBox="1"/>
          <p:nvPr/>
        </p:nvSpPr>
        <p:spPr>
          <a:xfrm>
            <a:off x="540000" y="1224000"/>
            <a:ext cx="10980000" cy="4680000"/>
          </a:xfrm>
          <a:prstGeom prst="rect">
            <a:avLst/>
          </a:prstGeom>
          <a:noFill/>
        </p:spPr>
        <p:txBody>
          <a:bodyPr wrap="square">
            <a:spAutoFit/>
          </a:bodyPr>
          <a:lstStyle/>
          <a:p>
            <a:pPr>
              <a:spcAft>
                <a:spcPts val="855"/>
              </a:spcAft>
            </a:pPr>
            <a:r>
              <a:rPr sz="1900" b="0">
                <a:solidFill>
                  <a:srgbClr val="52514E"/>
                </a:solidFill>
                <a:latin typeface="Calibri"/>
              </a:rPr>
              <a:t>•  Tabelle 4 enthält nur Prozente, deshalb Anzahlen aus dem Originaldatensatz (Bickel et al. 1975); der Code prüft sie gegen Tabelle 4: 0 Abweichungen</a:t>
            </a:r>
          </a:p>
          <a:p>
            <a:pPr>
              <a:spcAft>
                <a:spcPts val="855"/>
              </a:spcAft>
            </a:pPr>
            <a:r>
              <a:rPr sz="1900" b="0">
                <a:solidFill>
                  <a:srgbClr val="52514E"/>
                </a:solidFill>
                <a:latin typeface="Calibri"/>
              </a:rPr>
              <a:t>•  Plausibilitätskontrolle: P(Z | G) = Σ P(Fᵢ | G) · P(Z | Fᵢ, G) ergibt die Zeile «Total»</a:t>
            </a:r>
          </a:p>
          <a:p>
            <a:pPr>
              <a:spcAft>
                <a:spcPts val="855"/>
              </a:spcAft>
            </a:pPr>
            <a:r>
              <a:rPr sz="1900" b="0">
                <a:solidFill>
                  <a:srgbClr val="52514E"/>
                </a:solidFill>
                <a:latin typeface="Calibri"/>
              </a:rPr>
              <a:t>•  Langes DataFrame (Fachbereich × Geschlecht × Entscheid), daraus jede Kreuztabelle mit pivot_table</a:t>
            </a:r>
          </a:p>
          <a:p>
            <a:pPr>
              <a:spcAft>
                <a:spcPts val="855"/>
              </a:spcAft>
            </a:pPr>
            <a:r>
              <a:rPr sz="1900" b="0">
                <a:solidFill>
                  <a:srgbClr val="52514E"/>
                </a:solidFill>
                <a:latin typeface="Calibri"/>
              </a:rPr>
              <a:t>•  Wiederholte Schritte als Funktionen: gesamt und für jeden der 6 Fachbereiche</a:t>
            </a:r>
          </a:p>
          <a:p>
            <a:pPr>
              <a:spcAft>
                <a:spcPts val="855"/>
              </a:spcAft>
            </a:pPr>
            <a:r>
              <a:rPr sz="1900" b="1">
                <a:solidFill>
                  <a:srgbClr val="52514E"/>
                </a:solidFill>
                <a:latin typeface="Calibri"/>
              </a:rPr>
              <a:t>•  pandas: Tabellen · numpy: Rechnen · matplotlib: Grafiken · scipy.stats: Chi-Quadrat-Test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125999"/>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11160000" cy="720000"/>
          </a:xfrm>
          <a:prstGeom prst="rect">
            <a:avLst/>
          </a:prstGeom>
          <a:noFill/>
        </p:spPr>
        <p:txBody>
          <a:bodyPr wrap="square">
            <a:spAutoFit/>
          </a:bodyPr>
          <a:lstStyle/>
          <a:p>
            <a:pPr>
              <a:spcAft>
                <a:spcPts val="1350"/>
              </a:spcAft>
            </a:pPr>
            <a:r>
              <a:rPr sz="3000" b="1">
                <a:solidFill>
                  <a:srgbClr val="1F3A5F"/>
                </a:solidFill>
                <a:latin typeface="Calibri"/>
              </a:rPr>
              <a:t>(b) Die scheinbare Ungerechtigkeit</a:t>
            </a:r>
          </a:p>
        </p:txBody>
      </p:sp>
      <p:sp>
        <p:nvSpPr>
          <p:cNvPr id="4" name="TextBox 3"/>
          <p:cNvSpPr txBox="1"/>
          <p:nvPr/>
        </p:nvSpPr>
        <p:spPr>
          <a:xfrm>
            <a:off x="9360000" y="6372000"/>
            <a:ext cx="2520000" cy="360000"/>
          </a:xfrm>
          <a:prstGeom prst="rect">
            <a:avLst/>
          </a:prstGeom>
          <a:noFill/>
        </p:spPr>
        <p:txBody>
          <a:bodyPr wrap="square">
            <a:spAutoFit/>
          </a:bodyPr>
          <a:lstStyle/>
          <a:p>
            <a:pPr>
              <a:spcAft>
                <a:spcPts val="495"/>
              </a:spcAft>
            </a:pPr>
            <a:r>
              <a:rPr sz="1100" b="0">
                <a:solidFill>
                  <a:srgbClr val="52514E"/>
                </a:solidFill>
                <a:latin typeface="Calibri"/>
              </a:rPr>
              <a:t>Sprecher/in 2</a:t>
            </a:r>
          </a:p>
        </p:txBody>
      </p:sp>
      <p:pic>
        <p:nvPicPr>
          <p:cNvPr id="5" name="Picture 4" descr="abb1_gesamtquote.png"/>
          <p:cNvPicPr>
            <a:picLocks noChangeAspect="1"/>
          </p:cNvPicPr>
          <p:nvPr/>
        </p:nvPicPr>
        <p:blipFill>
          <a:blip r:embed="rId3"/>
          <a:stretch>
            <a:fillRect/>
          </a:stretch>
        </p:blipFill>
        <p:spPr>
          <a:xfrm>
            <a:off x="540000" y="1152000"/>
            <a:ext cx="7457143" cy="5220000"/>
          </a:xfrm>
          <a:prstGeom prst="rect">
            <a:avLst/>
          </a:prstGeom>
        </p:spPr>
      </p:pic>
      <p:sp>
        <p:nvSpPr>
          <p:cNvPr id="6" name="TextBox 5"/>
          <p:cNvSpPr txBox="1"/>
          <p:nvPr/>
        </p:nvSpPr>
        <p:spPr>
          <a:xfrm>
            <a:off x="8100000" y="1620000"/>
            <a:ext cx="3780000" cy="4680000"/>
          </a:xfrm>
          <a:prstGeom prst="rect">
            <a:avLst/>
          </a:prstGeom>
          <a:noFill/>
        </p:spPr>
        <p:txBody>
          <a:bodyPr wrap="square">
            <a:spAutoFit/>
          </a:bodyPr>
          <a:lstStyle/>
          <a:p>
            <a:pPr>
              <a:spcAft>
                <a:spcPts val="810"/>
              </a:spcAft>
            </a:pPr>
            <a:r>
              <a:rPr sz="1800" b="0">
                <a:solidFill>
                  <a:srgbClr val="52514E"/>
                </a:solidFill>
                <a:latin typeface="Calibri"/>
              </a:rPr>
              <a:t>•  Männer: 44.5 %</a:t>
            </a:r>
          </a:p>
          <a:p>
            <a:pPr>
              <a:spcAft>
                <a:spcPts val="810"/>
              </a:spcAft>
            </a:pPr>
            <a:r>
              <a:rPr sz="1800" b="0">
                <a:solidFill>
                  <a:srgbClr val="52514E"/>
                </a:solidFill>
                <a:latin typeface="Calibri"/>
              </a:rPr>
              <a:t>•  Frauen: 30.4 %</a:t>
            </a:r>
          </a:p>
          <a:p>
            <a:pPr>
              <a:spcAft>
                <a:spcPts val="810"/>
              </a:spcAft>
            </a:pPr>
            <a:r>
              <a:rPr sz="1800" b="0">
                <a:solidFill>
                  <a:srgbClr val="52514E"/>
                </a:solidFill>
                <a:latin typeface="Calibri"/>
              </a:rPr>
              <a:t>•  Differenz: 14.2 Prozentpunkte</a:t>
            </a:r>
          </a:p>
          <a:p>
            <a:pPr>
              <a:spcAft>
                <a:spcPts val="810"/>
              </a:spcAft>
            </a:pPr>
            <a:r>
              <a:rPr sz="1800" b="0">
                <a:solidFill>
                  <a:srgbClr val="52514E"/>
                </a:solidFill>
                <a:latin typeface="Calibri"/>
              </a:rPr>
              <a:t>•  Bei Männerquote: 817 statt 557 Frauen zugelassen</a:t>
            </a:r>
          </a:p>
          <a:p>
            <a:pPr>
              <a:spcAft>
                <a:spcPts val="810"/>
              </a:spcAft>
            </a:pPr>
            <a:r>
              <a:rPr sz="1800" b="1">
                <a:solidFill>
                  <a:srgbClr val="52514E"/>
                </a:solidFill>
                <a:latin typeface="Calibri"/>
              </a:rPr>
              <a:t>•  Also Diskriminierung?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125999"/>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11160000" cy="720000"/>
          </a:xfrm>
          <a:prstGeom prst="rect">
            <a:avLst/>
          </a:prstGeom>
          <a:noFill/>
        </p:spPr>
        <p:txBody>
          <a:bodyPr wrap="square">
            <a:spAutoFit/>
          </a:bodyPr>
          <a:lstStyle/>
          <a:p>
            <a:pPr>
              <a:spcAft>
                <a:spcPts val="1350"/>
              </a:spcAft>
            </a:pPr>
            <a:r>
              <a:rPr sz="3000" b="1">
                <a:solidFill>
                  <a:srgbClr val="1F3A5F"/>
                </a:solidFill>
                <a:latin typeface="Calibri"/>
              </a:rPr>
              <a:t>(c) Je Fachbereich: kein Nachteil für Frauen</a:t>
            </a:r>
          </a:p>
        </p:txBody>
      </p:sp>
      <p:sp>
        <p:nvSpPr>
          <p:cNvPr id="4" name="TextBox 3"/>
          <p:cNvSpPr txBox="1"/>
          <p:nvPr/>
        </p:nvSpPr>
        <p:spPr>
          <a:xfrm>
            <a:off x="9360000" y="6372000"/>
            <a:ext cx="2520000" cy="360000"/>
          </a:xfrm>
          <a:prstGeom prst="rect">
            <a:avLst/>
          </a:prstGeom>
          <a:noFill/>
        </p:spPr>
        <p:txBody>
          <a:bodyPr wrap="square">
            <a:spAutoFit/>
          </a:bodyPr>
          <a:lstStyle/>
          <a:p>
            <a:pPr>
              <a:spcAft>
                <a:spcPts val="495"/>
              </a:spcAft>
            </a:pPr>
            <a:r>
              <a:rPr sz="1100" b="0">
                <a:solidFill>
                  <a:srgbClr val="52514E"/>
                </a:solidFill>
                <a:latin typeface="Calibri"/>
              </a:rPr>
              <a:t>Sprecher/in 2</a:t>
            </a:r>
          </a:p>
        </p:txBody>
      </p:sp>
      <p:pic>
        <p:nvPicPr>
          <p:cNvPr id="5" name="Picture 4" descr="abb2_quote_fachbereich.png"/>
          <p:cNvPicPr>
            <a:picLocks noChangeAspect="1"/>
          </p:cNvPicPr>
          <p:nvPr/>
        </p:nvPicPr>
        <p:blipFill>
          <a:blip r:embed="rId3"/>
          <a:stretch>
            <a:fillRect/>
          </a:stretch>
        </p:blipFill>
        <p:spPr>
          <a:xfrm>
            <a:off x="540000" y="1224000"/>
            <a:ext cx="8181818" cy="4500000"/>
          </a:xfrm>
          <a:prstGeom prst="rect">
            <a:avLst/>
          </a:prstGeom>
        </p:spPr>
      </p:pic>
      <p:sp>
        <p:nvSpPr>
          <p:cNvPr id="6" name="TextBox 5"/>
          <p:cNvSpPr txBox="1"/>
          <p:nvPr/>
        </p:nvSpPr>
        <p:spPr>
          <a:xfrm>
            <a:off x="8928000" y="1620000"/>
            <a:ext cx="3060000" cy="4680000"/>
          </a:xfrm>
          <a:prstGeom prst="rect">
            <a:avLst/>
          </a:prstGeom>
          <a:noFill/>
        </p:spPr>
        <p:txBody>
          <a:bodyPr wrap="square">
            <a:spAutoFit/>
          </a:bodyPr>
          <a:lstStyle/>
          <a:p>
            <a:pPr>
              <a:spcAft>
                <a:spcPts val="765"/>
              </a:spcAft>
            </a:pPr>
            <a:r>
              <a:rPr sz="1700" b="0">
                <a:solidFill>
                  <a:srgbClr val="52514E"/>
                </a:solidFill>
                <a:latin typeface="Calibri"/>
              </a:rPr>
              <a:t>•  In 4 von 6 Fachbereichen haben Frauen die höhere Quote</a:t>
            </a:r>
          </a:p>
          <a:p>
            <a:pPr>
              <a:spcAft>
                <a:spcPts val="765"/>
              </a:spcAft>
            </a:pPr>
            <a:r>
              <a:rPr sz="1700" b="0">
                <a:solidFill>
                  <a:srgbClr val="52514E"/>
                </a:solidFill>
                <a:latin typeface="Calibri"/>
              </a:rPr>
              <a:t>•  FB A: +20.3 Prozentpunkte</a:t>
            </a:r>
          </a:p>
          <a:p>
            <a:pPr>
              <a:spcAft>
                <a:spcPts val="765"/>
              </a:spcAft>
            </a:pPr>
            <a:r>
              <a:rPr sz="1700" b="0">
                <a:solidFill>
                  <a:srgbClr val="52514E"/>
                </a:solidFill>
                <a:latin typeface="Calibri"/>
              </a:rPr>
              <a:t>•  FB C und E: −2.8 bzw. −3.8 Prozentpunkte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125999"/>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11160000" cy="720000"/>
          </a:xfrm>
          <a:prstGeom prst="rect">
            <a:avLst/>
          </a:prstGeom>
          <a:noFill/>
        </p:spPr>
        <p:txBody>
          <a:bodyPr wrap="square">
            <a:spAutoFit/>
          </a:bodyPr>
          <a:lstStyle/>
          <a:p>
            <a:pPr>
              <a:spcAft>
                <a:spcPts val="1350"/>
              </a:spcAft>
            </a:pPr>
            <a:r>
              <a:rPr sz="3000" b="1">
                <a:solidFill>
                  <a:srgbClr val="1F3A5F"/>
                </a:solidFill>
                <a:latin typeface="Calibri"/>
              </a:rPr>
              <a:t>(c) Frauen wählten selektivere Fachbereiche</a:t>
            </a:r>
          </a:p>
        </p:txBody>
      </p:sp>
      <p:sp>
        <p:nvSpPr>
          <p:cNvPr id="4" name="TextBox 3"/>
          <p:cNvSpPr txBox="1"/>
          <p:nvPr/>
        </p:nvSpPr>
        <p:spPr>
          <a:xfrm>
            <a:off x="9360000" y="6372000"/>
            <a:ext cx="2520000" cy="360000"/>
          </a:xfrm>
          <a:prstGeom prst="rect">
            <a:avLst/>
          </a:prstGeom>
          <a:noFill/>
        </p:spPr>
        <p:txBody>
          <a:bodyPr wrap="square">
            <a:spAutoFit/>
          </a:bodyPr>
          <a:lstStyle/>
          <a:p>
            <a:pPr>
              <a:spcAft>
                <a:spcPts val="495"/>
              </a:spcAft>
            </a:pPr>
            <a:r>
              <a:rPr sz="1100" b="0">
                <a:solidFill>
                  <a:srgbClr val="52514E"/>
                </a:solidFill>
                <a:latin typeface="Calibri"/>
              </a:rPr>
              <a:t>Sprecher/in 3</a:t>
            </a:r>
          </a:p>
        </p:txBody>
      </p:sp>
      <p:pic>
        <p:nvPicPr>
          <p:cNvPr id="5" name="Picture 4" descr="abb3_anteil_fachbereich.png"/>
          <p:cNvPicPr>
            <a:picLocks noChangeAspect="1"/>
          </p:cNvPicPr>
          <p:nvPr/>
        </p:nvPicPr>
        <p:blipFill>
          <a:blip r:embed="rId3"/>
          <a:stretch>
            <a:fillRect/>
          </a:stretch>
        </p:blipFill>
        <p:spPr>
          <a:xfrm>
            <a:off x="288000" y="1224000"/>
            <a:ext cx="5832000" cy="3207600"/>
          </a:xfrm>
          <a:prstGeom prst="rect">
            <a:avLst/>
          </a:prstGeom>
        </p:spPr>
      </p:pic>
      <p:pic>
        <p:nvPicPr>
          <p:cNvPr id="6" name="Picture 5" descr="abb4_selektivitaet.png"/>
          <p:cNvPicPr>
            <a:picLocks noChangeAspect="1"/>
          </p:cNvPicPr>
          <p:nvPr/>
        </p:nvPicPr>
        <p:blipFill>
          <a:blip r:embed="rId4"/>
          <a:stretch>
            <a:fillRect/>
          </a:stretch>
        </p:blipFill>
        <p:spPr>
          <a:xfrm>
            <a:off x="6192000" y="1224000"/>
            <a:ext cx="5760000" cy="3785143"/>
          </a:xfrm>
          <a:prstGeom prst="rect">
            <a:avLst/>
          </a:prstGeom>
        </p:spPr>
      </p:pic>
      <p:sp>
        <p:nvSpPr>
          <p:cNvPr id="7" name="TextBox 6"/>
          <p:cNvSpPr txBox="1"/>
          <p:nvPr/>
        </p:nvSpPr>
        <p:spPr>
          <a:xfrm>
            <a:off x="540000" y="4824000"/>
            <a:ext cx="11160000" cy="1080000"/>
          </a:xfrm>
          <a:prstGeom prst="rect">
            <a:avLst/>
          </a:prstGeom>
          <a:noFill/>
        </p:spPr>
        <p:txBody>
          <a:bodyPr wrap="square">
            <a:spAutoFit/>
          </a:bodyPr>
          <a:lstStyle/>
          <a:p>
            <a:pPr>
              <a:spcAft>
                <a:spcPts val="765"/>
              </a:spcAft>
            </a:pPr>
            <a:r>
              <a:rPr sz="1700" b="0">
                <a:solidFill>
                  <a:srgbClr val="52514E"/>
                </a:solidFill>
                <a:latin typeface="Calibri"/>
              </a:rPr>
              <a:t>Männer: 51.5 % bewerben sich in A oder B (Zulassungsquote ≈ 64 %)  ·  Frauen: nur 7.2 %</a:t>
            </a:r>
          </a:p>
          <a:p>
            <a:pPr>
              <a:spcAft>
                <a:spcPts val="765"/>
              </a:spcAft>
            </a:pPr>
            <a:r>
              <a:rPr sz="1700" b="0">
                <a:solidFill>
                  <a:srgbClr val="52514E"/>
                </a:solidFill>
                <a:latin typeface="Calibri"/>
              </a:rPr>
              <a:t>Je höher der Frauenanteil, desto tiefer die Zulassungsquote des Fachbereichs (r = −0.79)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125999"/>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11160000" cy="720000"/>
          </a:xfrm>
          <a:prstGeom prst="rect">
            <a:avLst/>
          </a:prstGeom>
          <a:noFill/>
        </p:spPr>
        <p:txBody>
          <a:bodyPr wrap="square">
            <a:spAutoFit/>
          </a:bodyPr>
          <a:lstStyle/>
          <a:p>
            <a:pPr>
              <a:spcAft>
                <a:spcPts val="1350"/>
              </a:spcAft>
            </a:pPr>
            <a:r>
              <a:rPr sz="3000" b="1">
                <a:solidFill>
                  <a:srgbClr val="1F3A5F"/>
                </a:solidFill>
                <a:latin typeface="Calibri"/>
              </a:rPr>
              <a:t>(c) Die Erklärung: totale Wahrscheinlichkeit</a:t>
            </a:r>
          </a:p>
        </p:txBody>
      </p:sp>
      <p:sp>
        <p:nvSpPr>
          <p:cNvPr id="4" name="TextBox 3"/>
          <p:cNvSpPr txBox="1"/>
          <p:nvPr/>
        </p:nvSpPr>
        <p:spPr>
          <a:xfrm>
            <a:off x="9360000" y="6372000"/>
            <a:ext cx="2520000" cy="360000"/>
          </a:xfrm>
          <a:prstGeom prst="rect">
            <a:avLst/>
          </a:prstGeom>
          <a:noFill/>
        </p:spPr>
        <p:txBody>
          <a:bodyPr wrap="square">
            <a:spAutoFit/>
          </a:bodyPr>
          <a:lstStyle/>
          <a:p>
            <a:pPr>
              <a:spcAft>
                <a:spcPts val="495"/>
              </a:spcAft>
            </a:pPr>
            <a:r>
              <a:rPr sz="1100" b="0">
                <a:solidFill>
                  <a:srgbClr val="52514E"/>
                </a:solidFill>
                <a:latin typeface="Calibri"/>
              </a:rPr>
              <a:t>Sprecher/in 3</a:t>
            </a:r>
          </a:p>
        </p:txBody>
      </p:sp>
      <p:pic>
        <p:nvPicPr>
          <p:cNvPr id="5" name="Picture 4" descr="abb5_standardisiert.png"/>
          <p:cNvPicPr>
            <a:picLocks noChangeAspect="1"/>
          </p:cNvPicPr>
          <p:nvPr/>
        </p:nvPicPr>
        <p:blipFill>
          <a:blip r:embed="rId3"/>
          <a:stretch>
            <a:fillRect/>
          </a:stretch>
        </p:blipFill>
        <p:spPr>
          <a:xfrm>
            <a:off x="540000" y="1296000"/>
            <a:ext cx="6900000" cy="4140000"/>
          </a:xfrm>
          <a:prstGeom prst="rect">
            <a:avLst/>
          </a:prstGeom>
        </p:spPr>
      </p:pic>
      <p:sp>
        <p:nvSpPr>
          <p:cNvPr id="6" name="TextBox 5"/>
          <p:cNvSpPr txBox="1"/>
          <p:nvPr/>
        </p:nvSpPr>
        <p:spPr>
          <a:xfrm>
            <a:off x="7668000" y="1440000"/>
            <a:ext cx="4248000" cy="4320000"/>
          </a:xfrm>
          <a:prstGeom prst="rect">
            <a:avLst/>
          </a:prstGeom>
          <a:noFill/>
        </p:spPr>
        <p:txBody>
          <a:bodyPr wrap="square">
            <a:spAutoFit/>
          </a:bodyPr>
          <a:lstStyle/>
          <a:p>
            <a:pPr>
              <a:spcAft>
                <a:spcPts val="765"/>
              </a:spcAft>
            </a:pPr>
            <a:r>
              <a:rPr sz="1700" b="1">
                <a:solidFill>
                  <a:srgbClr val="52514E"/>
                </a:solidFill>
                <a:latin typeface="Calibri"/>
              </a:rPr>
              <a:t>P(Z | G) = Σ P(Fᵢ | G) · P(Z | Fᵢ, G)</a:t>
            </a:r>
          </a:p>
          <a:p>
            <a:pPr>
              <a:spcAft>
                <a:spcPts val="765"/>
              </a:spcAft>
            </a:pPr>
            <a:r>
              <a:rPr sz="1700" b="0">
                <a:solidFill>
                  <a:srgbClr val="52514E"/>
                </a:solidFill>
                <a:latin typeface="Calibri"/>
              </a:rPr>
              <a:t>Gesamtquote = gewichteter Mittelwert der Fachbereichsquoten</a:t>
            </a:r>
          </a:p>
          <a:p>
            <a:pPr>
              <a:spcAft>
                <a:spcPts val="765"/>
              </a:spcAft>
            </a:pPr>
            <a:r>
              <a:rPr sz="1700" b="0">
                <a:solidFill>
                  <a:srgbClr val="52514E"/>
                </a:solidFill>
                <a:latin typeface="Calibri"/>
              </a:rPr>
              <a:t>Gleiche Gewichte für beide Geschlechter:</a:t>
            </a:r>
          </a:p>
          <a:p>
            <a:pPr>
              <a:spcAft>
                <a:spcPts val="765"/>
              </a:spcAft>
            </a:pPr>
            <a:r>
              <a:rPr sz="1700" b="1">
                <a:solidFill>
                  <a:srgbClr val="52514E"/>
                </a:solidFill>
                <a:latin typeface="Calibri"/>
              </a:rPr>
              <a:t>Frauen 43.0 % · Männer 38.7 %</a:t>
            </a:r>
          </a:p>
          <a:p>
            <a:pPr>
              <a:spcAft>
                <a:spcPts val="765"/>
              </a:spcAft>
            </a:pPr>
            <a:r>
              <a:rPr sz="1700" b="0">
                <a:solidFill>
                  <a:srgbClr val="52514E"/>
                </a:solidFill>
                <a:latin typeface="Calibri"/>
              </a:rPr>
              <a:t>gesamtquote(quote_g[g], gewichte_alle)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125999"/>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11160000" cy="720000"/>
          </a:xfrm>
          <a:prstGeom prst="rect">
            <a:avLst/>
          </a:prstGeom>
          <a:noFill/>
        </p:spPr>
        <p:txBody>
          <a:bodyPr wrap="square">
            <a:spAutoFit/>
          </a:bodyPr>
          <a:lstStyle/>
          <a:p>
            <a:pPr>
              <a:spcAft>
                <a:spcPts val="1350"/>
              </a:spcAft>
            </a:pPr>
            <a:r>
              <a:rPr sz="3000" b="1">
                <a:solidFill>
                  <a:srgbClr val="1F3A5F"/>
                </a:solidFill>
                <a:latin typeface="Calibri"/>
              </a:rPr>
              <a:t>(c) Stochastische Unabhängigkeit</a:t>
            </a:r>
          </a:p>
        </p:txBody>
      </p:sp>
      <p:sp>
        <p:nvSpPr>
          <p:cNvPr id="4" name="TextBox 3"/>
          <p:cNvSpPr txBox="1"/>
          <p:nvPr/>
        </p:nvSpPr>
        <p:spPr>
          <a:xfrm>
            <a:off x="9360000" y="6372000"/>
            <a:ext cx="2520000" cy="360000"/>
          </a:xfrm>
          <a:prstGeom prst="rect">
            <a:avLst/>
          </a:prstGeom>
          <a:noFill/>
        </p:spPr>
        <p:txBody>
          <a:bodyPr wrap="square">
            <a:spAutoFit/>
          </a:bodyPr>
          <a:lstStyle/>
          <a:p>
            <a:pPr>
              <a:spcAft>
                <a:spcPts val="495"/>
              </a:spcAft>
            </a:pPr>
            <a:r>
              <a:rPr sz="1100" b="0">
                <a:solidFill>
                  <a:srgbClr val="52514E"/>
                </a:solidFill>
                <a:latin typeface="Calibri"/>
              </a:rPr>
              <a:t>Sprecher/in 3</a:t>
            </a:r>
          </a:p>
        </p:txBody>
      </p:sp>
      <p:sp>
        <p:nvSpPr>
          <p:cNvPr id="5" name="TextBox 4"/>
          <p:cNvSpPr txBox="1"/>
          <p:nvPr/>
        </p:nvSpPr>
        <p:spPr>
          <a:xfrm>
            <a:off x="540000" y="1188000"/>
            <a:ext cx="11160000" cy="720000"/>
          </a:xfrm>
          <a:prstGeom prst="rect">
            <a:avLst/>
          </a:prstGeom>
          <a:noFill/>
        </p:spPr>
        <p:txBody>
          <a:bodyPr wrap="square">
            <a:spAutoFit/>
          </a:bodyPr>
          <a:lstStyle/>
          <a:p>
            <a:pPr>
              <a:spcAft>
                <a:spcPts val="900"/>
              </a:spcAft>
            </a:pPr>
            <a:r>
              <a:rPr sz="2000" b="1">
                <a:solidFill>
                  <a:srgbClr val="1F3A5F"/>
                </a:solidFill>
                <a:latin typeface="Calibri"/>
              </a:rPr>
              <a:t>Z, W unabhängig  ⇔  P(Z ∩ W) = P(Z) · P(W)  ⇔  P(Z | W) = P(Z)</a:t>
            </a:r>
          </a:p>
        </p:txBody>
      </p:sp>
      <p:graphicFrame>
        <p:nvGraphicFramePr>
          <p:cNvPr id="6" name="Table 5"/>
          <p:cNvGraphicFramePr>
            <a:graphicFrameLocks noGrp="1"/>
          </p:cNvGraphicFramePr>
          <p:nvPr/>
        </p:nvGraphicFramePr>
        <p:xfrm>
          <a:off x="540000" y="1908000"/>
          <a:ext cx="11160000" cy="3600000"/>
        </p:xfrm>
        <a:graphic>
          <a:graphicData uri="http://schemas.openxmlformats.org/drawingml/2006/table">
            <a:tbl>
              <a:tblPr firstRow="1" bandRow="1">
                <a:tableStyleId>{5C22544A-7EE6-4342-B048-85BDC9FD1C3A}</a:tableStyleId>
              </a:tblPr>
              <a:tblGrid>
                <a:gridCol w="1080000"/>
                <a:gridCol w="1422000"/>
                <a:gridCol w="1422000"/>
                <a:gridCol w="1422000"/>
                <a:gridCol w="1422000"/>
                <a:gridCol w="4392000"/>
              </a:tblGrid>
              <a:tr h="450000">
                <a:tc>
                  <a:txBody>
                    <a:bodyPr/>
                    <a:lstStyle/>
                    <a:p/>
                  </a:txBody>
                  <a:tcPr/>
                </a:tc>
                <a:tc>
                  <a:txBody>
                    <a:bodyPr/>
                    <a:lstStyle/>
                    <a:p>
                      <a:r>
                        <a:rPr sz="1500" b="1"/>
                        <a:t>P(Z|W)</a:t>
                      </a:r>
                    </a:p>
                  </a:txBody>
                  <a:tcPr/>
                </a:tc>
                <a:tc>
                  <a:txBody>
                    <a:bodyPr/>
                    <a:lstStyle/>
                    <a:p>
                      <a:r>
                        <a:rPr sz="1500" b="1"/>
                        <a:t>P(Z|M)</a:t>
                      </a:r>
                    </a:p>
                  </a:txBody>
                  <a:tcPr/>
                </a:tc>
                <a:tc>
                  <a:txBody>
                    <a:bodyPr/>
                    <a:lstStyle/>
                    <a:p>
                      <a:r>
                        <a:rPr sz="1500" b="1"/>
                        <a:t>P(Z∩W)</a:t>
                      </a:r>
                    </a:p>
                  </a:txBody>
                  <a:tcPr/>
                </a:tc>
                <a:tc>
                  <a:txBody>
                    <a:bodyPr/>
                    <a:lstStyle/>
                    <a:p>
                      <a:r>
                        <a:rPr sz="1500" b="1"/>
                        <a:t>P(Z)·P(W)</a:t>
                      </a:r>
                    </a:p>
                  </a:txBody>
                  <a:tcPr/>
                </a:tc>
                <a:tc>
                  <a:txBody>
                    <a:bodyPr/>
                    <a:lstStyle/>
                    <a:p>
                      <a:r>
                        <a:rPr sz="1500" b="1"/>
                        <a:t>Chi-Quadrat-Test (α = 5 %)</a:t>
                      </a:r>
                    </a:p>
                  </a:txBody>
                  <a:tcPr/>
                </a:tc>
              </a:tr>
              <a:tr h="450000">
                <a:tc>
                  <a:txBody>
                    <a:bodyPr/>
                    <a:lstStyle/>
                    <a:p>
                      <a:r>
                        <a:rPr sz="1500" b="1"/>
                        <a:t>Gesamt</a:t>
                      </a:r>
                    </a:p>
                  </a:txBody>
                  <a:tcPr/>
                </a:tc>
                <a:tc>
                  <a:txBody>
                    <a:bodyPr/>
                    <a:lstStyle/>
                    <a:p>
                      <a:r>
                        <a:rPr sz="1500" b="1"/>
                        <a:t>30.4 %</a:t>
                      </a:r>
                    </a:p>
                  </a:txBody>
                  <a:tcPr/>
                </a:tc>
                <a:tc>
                  <a:txBody>
                    <a:bodyPr/>
                    <a:lstStyle/>
                    <a:p>
                      <a:r>
                        <a:rPr sz="1500" b="1"/>
                        <a:t>44.5 %</a:t>
                      </a:r>
                    </a:p>
                  </a:txBody>
                  <a:tcPr/>
                </a:tc>
                <a:tc>
                  <a:txBody>
                    <a:bodyPr/>
                    <a:lstStyle/>
                    <a:p>
                      <a:r>
                        <a:rPr sz="1500" b="1"/>
                        <a:t>0.1231</a:t>
                      </a:r>
                    </a:p>
                  </a:txBody>
                  <a:tcPr/>
                </a:tc>
                <a:tc>
                  <a:txBody>
                    <a:bodyPr/>
                    <a:lstStyle/>
                    <a:p>
                      <a:r>
                        <a:rPr sz="1500" b="1"/>
                        <a:t>0.1572</a:t>
                      </a:r>
                    </a:p>
                  </a:txBody>
                  <a:tcPr/>
                </a:tc>
                <a:tc>
                  <a:txBody>
                    <a:bodyPr/>
                    <a:lstStyle/>
                    <a:p>
                      <a:r>
                        <a:rPr sz="1500" b="1"/>
                        <a:t>χ² = 92.2, p &lt; 0.001: abhängig</a:t>
                      </a:r>
                    </a:p>
                  </a:txBody>
                  <a:tcPr/>
                </a:tc>
              </a:tr>
              <a:tr h="450000">
                <a:tc>
                  <a:txBody>
                    <a:bodyPr/>
                    <a:lstStyle/>
                    <a:p>
                      <a:r>
                        <a:rPr sz="1500" b="0"/>
                        <a:t>FB A</a:t>
                      </a:r>
                    </a:p>
                  </a:txBody>
                  <a:tcPr/>
                </a:tc>
                <a:tc>
                  <a:txBody>
                    <a:bodyPr/>
                    <a:lstStyle/>
                    <a:p>
                      <a:r>
                        <a:rPr sz="1500" b="0"/>
                        <a:t>82.4 %</a:t>
                      </a:r>
                    </a:p>
                  </a:txBody>
                  <a:tcPr/>
                </a:tc>
                <a:tc>
                  <a:txBody>
                    <a:bodyPr/>
                    <a:lstStyle/>
                    <a:p>
                      <a:r>
                        <a:rPr sz="1500" b="0"/>
                        <a:t>62.1 %</a:t>
                      </a:r>
                    </a:p>
                  </a:txBody>
                  <a:tcPr/>
                </a:tc>
                <a:tc>
                  <a:txBody>
                    <a:bodyPr/>
                    <a:lstStyle/>
                    <a:p>
                      <a:r>
                        <a:rPr sz="1500" b="0"/>
                        <a:t>0.0954</a:t>
                      </a:r>
                    </a:p>
                  </a:txBody>
                  <a:tcPr/>
                </a:tc>
                <a:tc>
                  <a:txBody>
                    <a:bodyPr/>
                    <a:lstStyle/>
                    <a:p>
                      <a:r>
                        <a:rPr sz="1500" b="0"/>
                        <a:t>0.0746</a:t>
                      </a:r>
                    </a:p>
                  </a:txBody>
                  <a:tcPr/>
                </a:tc>
                <a:tc>
                  <a:txBody>
                    <a:bodyPr/>
                    <a:lstStyle/>
                    <a:p>
                      <a:r>
                        <a:rPr sz="1500" b="0"/>
                        <a:t>χ² = 17.3, p &lt; 0.001: abhängig (pro Frauen)</a:t>
                      </a:r>
                    </a:p>
                  </a:txBody>
                  <a:tcPr/>
                </a:tc>
              </a:tr>
              <a:tr h="450000">
                <a:tc>
                  <a:txBody>
                    <a:bodyPr/>
                    <a:lstStyle/>
                    <a:p>
                      <a:r>
                        <a:rPr sz="1500" b="0"/>
                        <a:t>FB B</a:t>
                      </a:r>
                    </a:p>
                  </a:txBody>
                  <a:tcPr/>
                </a:tc>
                <a:tc>
                  <a:txBody>
                    <a:bodyPr/>
                    <a:lstStyle/>
                    <a:p>
                      <a:r>
                        <a:rPr sz="1500" b="0"/>
                        <a:t>68.0 %</a:t>
                      </a:r>
                    </a:p>
                  </a:txBody>
                  <a:tcPr/>
                </a:tc>
                <a:tc>
                  <a:txBody>
                    <a:bodyPr/>
                    <a:lstStyle/>
                    <a:p>
                      <a:r>
                        <a:rPr sz="1500" b="0"/>
                        <a:t>63.0 %</a:t>
                      </a:r>
                    </a:p>
                  </a:txBody>
                  <a:tcPr/>
                </a:tc>
                <a:tc>
                  <a:txBody>
                    <a:bodyPr/>
                    <a:lstStyle/>
                    <a:p>
                      <a:r>
                        <a:rPr sz="1500" b="0"/>
                        <a:t>0.0291</a:t>
                      </a:r>
                    </a:p>
                  </a:txBody>
                  <a:tcPr/>
                </a:tc>
                <a:tc>
                  <a:txBody>
                    <a:bodyPr/>
                    <a:lstStyle/>
                    <a:p>
                      <a:r>
                        <a:rPr sz="1500" b="0"/>
                        <a:t>0.0270</a:t>
                      </a:r>
                    </a:p>
                  </a:txBody>
                  <a:tcPr/>
                </a:tc>
                <a:tc>
                  <a:txBody>
                    <a:bodyPr/>
                    <a:lstStyle/>
                    <a:p>
                      <a:r>
                        <a:rPr sz="1500" b="0"/>
                        <a:t>p = 0.61: unabhängig</a:t>
                      </a:r>
                    </a:p>
                  </a:txBody>
                  <a:tcPr/>
                </a:tc>
              </a:tr>
              <a:tr h="450000">
                <a:tc>
                  <a:txBody>
                    <a:bodyPr/>
                    <a:lstStyle/>
                    <a:p>
                      <a:r>
                        <a:rPr sz="1500" b="0"/>
                        <a:t>FB C</a:t>
                      </a:r>
                    </a:p>
                  </a:txBody>
                  <a:tcPr/>
                </a:tc>
                <a:tc>
                  <a:txBody>
                    <a:bodyPr/>
                    <a:lstStyle/>
                    <a:p>
                      <a:r>
                        <a:rPr sz="1500" b="0"/>
                        <a:t>34.1 %</a:t>
                      </a:r>
                    </a:p>
                  </a:txBody>
                  <a:tcPr/>
                </a:tc>
                <a:tc>
                  <a:txBody>
                    <a:bodyPr/>
                    <a:lstStyle/>
                    <a:p>
                      <a:r>
                        <a:rPr sz="1500" b="0"/>
                        <a:t>36.9 %</a:t>
                      </a:r>
                    </a:p>
                  </a:txBody>
                  <a:tcPr/>
                </a:tc>
                <a:tc>
                  <a:txBody>
                    <a:bodyPr/>
                    <a:lstStyle/>
                    <a:p>
                      <a:r>
                        <a:rPr sz="1500" b="0"/>
                        <a:t>0.2200</a:t>
                      </a:r>
                    </a:p>
                  </a:txBody>
                  <a:tcPr/>
                </a:tc>
                <a:tc>
                  <a:txBody>
                    <a:bodyPr/>
                    <a:lstStyle/>
                    <a:p>
                      <a:r>
                        <a:rPr sz="1500" b="0"/>
                        <a:t>0.2266</a:t>
                      </a:r>
                    </a:p>
                  </a:txBody>
                  <a:tcPr/>
                </a:tc>
                <a:tc>
                  <a:txBody>
                    <a:bodyPr/>
                    <a:lstStyle/>
                    <a:p>
                      <a:r>
                        <a:rPr sz="1500" b="0"/>
                        <a:t>p = 0.39: unabhängig</a:t>
                      </a:r>
                    </a:p>
                  </a:txBody>
                  <a:tcPr/>
                </a:tc>
              </a:tr>
              <a:tr h="450000">
                <a:tc>
                  <a:txBody>
                    <a:bodyPr/>
                    <a:lstStyle/>
                    <a:p>
                      <a:r>
                        <a:rPr sz="1500" b="0"/>
                        <a:t>FB D</a:t>
                      </a:r>
                    </a:p>
                  </a:txBody>
                  <a:tcPr/>
                </a:tc>
                <a:tc>
                  <a:txBody>
                    <a:bodyPr/>
                    <a:lstStyle/>
                    <a:p>
                      <a:r>
                        <a:rPr sz="1500" b="0"/>
                        <a:t>34.9 %</a:t>
                      </a:r>
                    </a:p>
                  </a:txBody>
                  <a:tcPr/>
                </a:tc>
                <a:tc>
                  <a:txBody>
                    <a:bodyPr/>
                    <a:lstStyle/>
                    <a:p>
                      <a:r>
                        <a:rPr sz="1500" b="0"/>
                        <a:t>33.1 %</a:t>
                      </a:r>
                    </a:p>
                  </a:txBody>
                  <a:tcPr/>
                </a:tc>
                <a:tc>
                  <a:txBody>
                    <a:bodyPr/>
                    <a:lstStyle/>
                    <a:p>
                      <a:r>
                        <a:rPr sz="1500" b="0"/>
                        <a:t>0.1654</a:t>
                      </a:r>
                    </a:p>
                  </a:txBody>
                  <a:tcPr/>
                </a:tc>
                <a:tc>
                  <a:txBody>
                    <a:bodyPr/>
                    <a:lstStyle/>
                    <a:p>
                      <a:r>
                        <a:rPr sz="1500" b="0"/>
                        <a:t>0.1608</a:t>
                      </a:r>
                    </a:p>
                  </a:txBody>
                  <a:tcPr/>
                </a:tc>
                <a:tc>
                  <a:txBody>
                    <a:bodyPr/>
                    <a:lstStyle/>
                    <a:p>
                      <a:r>
                        <a:rPr sz="1500" b="0"/>
                        <a:t>p = 0.59: unabhängig</a:t>
                      </a:r>
                    </a:p>
                  </a:txBody>
                  <a:tcPr/>
                </a:tc>
              </a:tr>
              <a:tr h="450000">
                <a:tc>
                  <a:txBody>
                    <a:bodyPr/>
                    <a:lstStyle/>
                    <a:p>
                      <a:r>
                        <a:rPr sz="1500" b="0"/>
                        <a:t>FB E</a:t>
                      </a:r>
                    </a:p>
                  </a:txBody>
                  <a:tcPr/>
                </a:tc>
                <a:tc>
                  <a:txBody>
                    <a:bodyPr/>
                    <a:lstStyle/>
                    <a:p>
                      <a:r>
                        <a:rPr sz="1500" b="0"/>
                        <a:t>23.9 %</a:t>
                      </a:r>
                    </a:p>
                  </a:txBody>
                  <a:tcPr/>
                </a:tc>
                <a:tc>
                  <a:txBody>
                    <a:bodyPr/>
                    <a:lstStyle/>
                    <a:p>
                      <a:r>
                        <a:rPr sz="1500" b="0"/>
                        <a:t>27.7 %</a:t>
                      </a:r>
                    </a:p>
                  </a:txBody>
                  <a:tcPr/>
                </a:tc>
                <a:tc>
                  <a:txBody>
                    <a:bodyPr/>
                    <a:lstStyle/>
                    <a:p>
                      <a:r>
                        <a:rPr sz="1500" b="0"/>
                        <a:t>0.1610</a:t>
                      </a:r>
                    </a:p>
                  </a:txBody>
                  <a:tcPr/>
                </a:tc>
                <a:tc>
                  <a:txBody>
                    <a:bodyPr/>
                    <a:lstStyle/>
                    <a:p>
                      <a:r>
                        <a:rPr sz="1500" b="0"/>
                        <a:t>0.1694</a:t>
                      </a:r>
                    </a:p>
                  </a:txBody>
                  <a:tcPr/>
                </a:tc>
                <a:tc>
                  <a:txBody>
                    <a:bodyPr/>
                    <a:lstStyle/>
                    <a:p>
                      <a:r>
                        <a:rPr sz="1500" b="0"/>
                        <a:t>p = 0.32: unabhängig</a:t>
                      </a:r>
                    </a:p>
                  </a:txBody>
                  <a:tcPr/>
                </a:tc>
              </a:tr>
              <a:tr h="450000">
                <a:tc>
                  <a:txBody>
                    <a:bodyPr/>
                    <a:lstStyle/>
                    <a:p>
                      <a:r>
                        <a:rPr sz="1500" b="0"/>
                        <a:t>FB F</a:t>
                      </a:r>
                    </a:p>
                  </a:txBody>
                  <a:tcPr/>
                </a:tc>
                <a:tc>
                  <a:txBody>
                    <a:bodyPr/>
                    <a:lstStyle/>
                    <a:p>
                      <a:r>
                        <a:rPr sz="1500" b="0"/>
                        <a:t>7.0 %</a:t>
                      </a:r>
                    </a:p>
                  </a:txBody>
                  <a:tcPr/>
                </a:tc>
                <a:tc>
                  <a:txBody>
                    <a:bodyPr/>
                    <a:lstStyle/>
                    <a:p>
                      <a:r>
                        <a:rPr sz="1500" b="0"/>
                        <a:t>5.9 %</a:t>
                      </a:r>
                    </a:p>
                  </a:txBody>
                  <a:tcPr/>
                </a:tc>
                <a:tc>
                  <a:txBody>
                    <a:bodyPr/>
                    <a:lstStyle/>
                    <a:p>
                      <a:r>
                        <a:rPr sz="1500" b="0"/>
                        <a:t>0.0336</a:t>
                      </a:r>
                    </a:p>
                  </a:txBody>
                  <a:tcPr/>
                </a:tc>
                <a:tc>
                  <a:txBody>
                    <a:bodyPr/>
                    <a:lstStyle/>
                    <a:p>
                      <a:r>
                        <a:rPr sz="1500" b="0"/>
                        <a:t>0.0308</a:t>
                      </a:r>
                    </a:p>
                  </a:txBody>
                  <a:tcPr/>
                </a:tc>
                <a:tc>
                  <a:txBody>
                    <a:bodyPr/>
                    <a:lstStyle/>
                    <a:p>
                      <a:r>
                        <a:rPr sz="1500" b="0"/>
                        <a:t>p = 0.54: unabhängig</a:t>
                      </a:r>
                    </a:p>
                  </a:txBody>
                  <a:tcPr/>
                </a:tc>
              </a:tr>
            </a:tbl>
          </a:graphicData>
        </a:graphic>
      </p:graphicFrame>
      <p:sp>
        <p:nvSpPr>
          <p:cNvPr id="7" name="TextBox 6"/>
          <p:cNvSpPr txBox="1"/>
          <p:nvPr/>
        </p:nvSpPr>
        <p:spPr>
          <a:xfrm>
            <a:off x="540000" y="5760000"/>
            <a:ext cx="11160000" cy="540000"/>
          </a:xfrm>
          <a:prstGeom prst="rect">
            <a:avLst/>
          </a:prstGeom>
          <a:noFill/>
        </p:spPr>
        <p:txBody>
          <a:bodyPr wrap="square">
            <a:spAutoFit/>
          </a:bodyPr>
          <a:lstStyle/>
          <a:p>
            <a:pPr>
              <a:spcAft>
                <a:spcPts val="720"/>
              </a:spcAft>
            </a:pPr>
            <a:r>
              <a:rPr sz="1600" b="0">
                <a:solidFill>
                  <a:srgbClr val="1F3A5F"/>
                </a:solidFill>
                <a:latin typeface="Calibri"/>
              </a:rPr>
              <a:t>Insgesamt abhängig, innerhalb der Fachbereiche (bis auf A) unabhängig: bedingte Unabhängigkeit gegeben Fachbereich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125999"/>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11160000" cy="720000"/>
          </a:xfrm>
          <a:prstGeom prst="rect">
            <a:avLst/>
          </a:prstGeom>
          <a:noFill/>
        </p:spPr>
        <p:txBody>
          <a:bodyPr wrap="square">
            <a:spAutoFit/>
          </a:bodyPr>
          <a:lstStyle/>
          <a:p>
            <a:pPr>
              <a:spcAft>
                <a:spcPts val="1350"/>
              </a:spcAft>
            </a:pPr>
            <a:r>
              <a:rPr sz="3000" b="1">
                <a:solidFill>
                  <a:srgbClr val="1F3A5F"/>
                </a:solidFill>
                <a:latin typeface="Calibri"/>
              </a:rPr>
              <a:t>Fazit</a:t>
            </a:r>
          </a:p>
        </p:txBody>
      </p:sp>
      <p:sp>
        <p:nvSpPr>
          <p:cNvPr id="4" name="TextBox 3"/>
          <p:cNvSpPr txBox="1"/>
          <p:nvPr/>
        </p:nvSpPr>
        <p:spPr>
          <a:xfrm>
            <a:off x="9360000" y="6372000"/>
            <a:ext cx="2520000" cy="360000"/>
          </a:xfrm>
          <a:prstGeom prst="rect">
            <a:avLst/>
          </a:prstGeom>
          <a:noFill/>
        </p:spPr>
        <p:txBody>
          <a:bodyPr wrap="square">
            <a:spAutoFit/>
          </a:bodyPr>
          <a:lstStyle/>
          <a:p>
            <a:pPr>
              <a:spcAft>
                <a:spcPts val="495"/>
              </a:spcAft>
            </a:pPr>
            <a:r>
              <a:rPr sz="1100" b="0">
                <a:solidFill>
                  <a:srgbClr val="52514E"/>
                </a:solidFill>
                <a:latin typeface="Calibri"/>
              </a:rPr>
              <a:t>Sprecher/in 3</a:t>
            </a:r>
          </a:p>
        </p:txBody>
      </p:sp>
      <p:sp>
        <p:nvSpPr>
          <p:cNvPr id="5" name="TextBox 4"/>
          <p:cNvSpPr txBox="1"/>
          <p:nvPr/>
        </p:nvSpPr>
        <p:spPr>
          <a:xfrm>
            <a:off x="540000" y="1224000"/>
            <a:ext cx="10980000" cy="4680000"/>
          </a:xfrm>
          <a:prstGeom prst="rect">
            <a:avLst/>
          </a:prstGeom>
          <a:noFill/>
        </p:spPr>
        <p:txBody>
          <a:bodyPr wrap="square">
            <a:spAutoFit/>
          </a:bodyPr>
          <a:lstStyle/>
          <a:p>
            <a:pPr>
              <a:spcAft>
                <a:spcPts val="855"/>
              </a:spcAft>
            </a:pPr>
            <a:r>
              <a:rPr sz="1900" b="0">
                <a:solidFill>
                  <a:srgbClr val="52514E"/>
                </a:solidFill>
                <a:latin typeface="Calibri"/>
              </a:rPr>
              <a:t>•  Aggregiert: Zulassung und Geschlecht sind stochastisch abhängig (30.4 % vs. 44.5 %)</a:t>
            </a:r>
          </a:p>
          <a:p>
            <a:pPr>
              <a:spcAft>
                <a:spcPts val="855"/>
              </a:spcAft>
            </a:pPr>
            <a:r>
              <a:rPr sz="1900" b="0">
                <a:solidFill>
                  <a:srgbClr val="52514E"/>
                </a:solidFill>
                <a:latin typeface="Calibri"/>
              </a:rPr>
              <a:t>•  Je Fachbereich: kein Nachteil für Frauen; bedingt auf den Fachbereich meist unabhängig</a:t>
            </a:r>
          </a:p>
          <a:p>
            <a:pPr>
              <a:spcAft>
                <a:spcPts val="855"/>
              </a:spcAft>
            </a:pPr>
            <a:r>
              <a:rPr sz="1900" b="0">
                <a:solidFill>
                  <a:srgbClr val="52514E"/>
                </a:solidFill>
                <a:latin typeface="Calibri"/>
              </a:rPr>
              <a:t>•  Ursache: Frauen bewarben sich häufiger in stark umkämpften Fachbereichen</a:t>
            </a:r>
          </a:p>
          <a:p>
            <a:pPr>
              <a:spcAft>
                <a:spcPts val="855"/>
              </a:spcAft>
            </a:pPr>
            <a:r>
              <a:rPr sz="1900" b="1">
                <a:solidFill>
                  <a:srgbClr val="52514E"/>
                </a:solidFill>
                <a:latin typeface="Calibri"/>
              </a:rPr>
              <a:t>•  Simpson-Paradoxon: Die Drittvariable Fachbereich kehrt den Zusammenhang um</a:t>
            </a:r>
          </a:p>
          <a:p>
            <a:pPr>
              <a:spcAft>
                <a:spcPts val="855"/>
              </a:spcAft>
            </a:pPr>
            <a:r>
              <a:rPr sz="1900" b="0">
                <a:solidFill>
                  <a:srgbClr val="52514E"/>
                </a:solidFill>
                <a:latin typeface="Calibri"/>
              </a:rPr>
              <a:t>•  Grenzen: Beobachtungsdaten eines Jahres; Gründe für die Fachbereichswahl bleiben offen</a:t>
            </a:r>
          </a:p>
          <a:p>
            <a:pPr>
              <a:spcAft>
                <a:spcPts val="855"/>
              </a:spcAft>
            </a:pPr>
            <a:r>
              <a:rPr sz="1900" b="0">
                <a:solidFill>
                  <a:srgbClr val="52514E"/>
                </a:solidFill>
                <a:latin typeface="Calibri"/>
              </a:rPr>
              <a:t>•  Python: Dieselben Funktionen für Gesamtanalyse, 6 Fachbereiche und Standardisierung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125999"/>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11160000" cy="720000"/>
          </a:xfrm>
          <a:prstGeom prst="rect">
            <a:avLst/>
          </a:prstGeom>
          <a:noFill/>
        </p:spPr>
        <p:txBody>
          <a:bodyPr wrap="square">
            <a:spAutoFit/>
          </a:bodyPr>
          <a:lstStyle/>
          <a:p>
            <a:pPr>
              <a:spcAft>
                <a:spcPts val="1350"/>
              </a:spcAft>
            </a:pPr>
            <a:r>
              <a:rPr sz="3000" b="1">
                <a:solidFill>
                  <a:srgbClr val="1F3A5F"/>
                </a:solidFill>
                <a:latin typeface="Calibri"/>
              </a:rPr>
              <a:t>Quellen · Fragen?</a:t>
            </a:r>
          </a:p>
        </p:txBody>
      </p:sp>
      <p:sp>
        <p:nvSpPr>
          <p:cNvPr id="4" name="TextBox 3"/>
          <p:cNvSpPr txBox="1"/>
          <p:nvPr/>
        </p:nvSpPr>
        <p:spPr>
          <a:xfrm>
            <a:off x="9360000" y="6372000"/>
            <a:ext cx="2520000" cy="360000"/>
          </a:xfrm>
          <a:prstGeom prst="rect">
            <a:avLst/>
          </a:prstGeom>
          <a:noFill/>
        </p:spPr>
        <p:txBody>
          <a:bodyPr wrap="square">
            <a:spAutoFit/>
          </a:bodyPr>
          <a:lstStyle/>
          <a:p>
            <a:pPr>
              <a:spcAft>
                <a:spcPts val="495"/>
              </a:spcAft>
            </a:pPr>
            <a:r>
              <a:rPr sz="1100" b="0">
                <a:solidFill>
                  <a:srgbClr val="52514E"/>
                </a:solidFill>
                <a:latin typeface="Calibri"/>
              </a:rPr>
              <a:t/>
            </a:r>
          </a:p>
        </p:txBody>
      </p:sp>
      <p:sp>
        <p:nvSpPr>
          <p:cNvPr id="5" name="TextBox 4"/>
          <p:cNvSpPr txBox="1"/>
          <p:nvPr/>
        </p:nvSpPr>
        <p:spPr>
          <a:xfrm>
            <a:off x="540000" y="1224000"/>
            <a:ext cx="10980000" cy="4680000"/>
          </a:xfrm>
          <a:prstGeom prst="rect">
            <a:avLst/>
          </a:prstGeom>
          <a:noFill/>
        </p:spPr>
        <p:txBody>
          <a:bodyPr wrap="square">
            <a:spAutoFit/>
          </a:bodyPr>
          <a:lstStyle/>
          <a:p>
            <a:pPr>
              <a:spcAft>
                <a:spcPts val="675"/>
              </a:spcAft>
            </a:pPr>
            <a:r>
              <a:rPr sz="1500" b="0">
                <a:solidFill>
                  <a:srgbClr val="52514E"/>
                </a:solidFill>
                <a:latin typeface="Calibri"/>
              </a:rPr>
              <a:t>•  Bickel, P. J., Hammel, E. A. &amp; O'Connell, J. W. (1975). Sex Bias in Graduate Admissions: Data from Berkeley. Science, 187(4175), 398–404.</a:t>
            </a:r>
          </a:p>
          <a:p>
            <a:pPr>
              <a:spcAft>
                <a:spcPts val="675"/>
              </a:spcAft>
            </a:pPr>
            <a:r>
              <a:rPr sz="1500" b="0">
                <a:solidFill>
                  <a:srgbClr val="52514E"/>
                </a:solidFill>
                <a:latin typeface="Calibri"/>
              </a:rPr>
              <a:t>•  McKinney, W. (2018). Datenanalyse mit Python (2. Aufl.). O'Reilly. Abschnitt 3.2 Funktionen.</a:t>
            </a:r>
          </a:p>
          <a:p>
            <a:pPr>
              <a:spcAft>
                <a:spcPts val="675"/>
              </a:spcAft>
            </a:pPr>
            <a:r>
              <a:rPr sz="1500" b="0">
                <a:solidFill>
                  <a:srgbClr val="52514E"/>
                </a:solidFill>
                <a:latin typeface="Calibri"/>
              </a:rPr>
              <a:t>•  Newbold, P., Carlson, W. &amp; Thorne, B. (2013). Statistics for Business and Economics (8th ed.). Pearson.</a:t>
            </a:r>
          </a:p>
          <a:p>
            <a:pPr>
              <a:spcAft>
                <a:spcPts val="675"/>
              </a:spcAft>
            </a:pPr>
            <a:r>
              <a:rPr sz="1500" b="0">
                <a:solidFill>
                  <a:srgbClr val="52514E"/>
                </a:solidFill>
                <a:latin typeface="Calibri"/>
              </a:rPr>
              <a:t>•  ZHAW SML (HS 2026). Folienskript Statistik, Teil 3; Aufgabe 4, Tabelle 4: UCB Admissions.</a:t>
            </a:r>
          </a:p>
          <a:p>
            <a:pPr>
              <a:spcAft>
                <a:spcPts val="675"/>
              </a:spcAft>
            </a:pPr>
            <a:r>
              <a:rPr sz="1500" b="0">
                <a:solidFill>
                  <a:srgbClr val="52514E"/>
                </a:solidFill>
                <a:latin typeface="Calibri"/>
              </a:rPr>
              <a:t>•  Code: Vortrag4_Berkeley_Analyse.ipynb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125999"/>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11160000" cy="720000"/>
          </a:xfrm>
          <a:prstGeom prst="rect">
            <a:avLst/>
          </a:prstGeom>
          <a:noFill/>
        </p:spPr>
        <p:txBody>
          <a:bodyPr wrap="square">
            <a:spAutoFit/>
          </a:bodyPr>
          <a:lstStyle/>
          <a:p>
            <a:pPr>
              <a:spcAft>
                <a:spcPts val="855"/>
              </a:spcAft>
            </a:pPr>
            <a:r>
              <a:rPr sz="3000" b="1">
                <a:solidFill>
                  <a:srgbClr val="1F3A5F"/>
                </a:solidFill>
                <a:latin typeface="Calibri"/>
              </a:rPr>
              <a:t>Reserve: Gesamtquote als gewichteter Mittelwert</a:t>
            </a:r>
          </a:p>
        </p:txBody>
      </p:sp>
      <p:sp>
        <p:nvSpPr>
          <p:cNvPr id="4" name="TextBox 3"/>
          <p:cNvSpPr txBox="1"/>
          <p:nvPr/>
        </p:nvSpPr>
        <p:spPr>
          <a:xfrm>
            <a:off x="9360000" y="6372000"/>
            <a:ext cx="2520000" cy="360000"/>
          </a:xfrm>
          <a:prstGeom prst="rect">
            <a:avLst/>
          </a:prstGeom>
          <a:noFill/>
        </p:spPr>
        <p:txBody>
          <a:bodyPr wrap="square">
            <a:spAutoFit/>
          </a:bodyPr>
          <a:lstStyle/>
          <a:p>
            <a:pPr>
              <a:spcAft>
                <a:spcPts val="855"/>
              </a:spcAft>
            </a:pPr>
            <a:r>
              <a:rPr sz="1100" b="0">
                <a:solidFill>
                  <a:srgbClr val="52514E"/>
                </a:solidFill>
                <a:latin typeface="Calibri"/>
              </a:rPr>
              <a:t>Reserve (Sprecher/in 3)</a:t>
            </a:r>
          </a:p>
        </p:txBody>
      </p:sp>
      <p:sp>
        <p:nvSpPr>
          <p:cNvPr id="5" name="TextBox 4"/>
          <p:cNvSpPr txBox="1"/>
          <p:nvPr/>
        </p:nvSpPr>
        <p:spPr>
          <a:xfrm>
            <a:off x="540000" y="1150000"/>
            <a:ext cx="11160000" cy="500000"/>
          </a:xfrm>
          <a:prstGeom prst="rect">
            <a:avLst/>
          </a:prstGeom>
          <a:noFill/>
        </p:spPr>
        <p:txBody>
          <a:bodyPr wrap="square">
            <a:spAutoFit/>
          </a:bodyPr>
          <a:lstStyle/>
          <a:p>
            <a:pPr>
              <a:spcAft>
                <a:spcPts val="855"/>
              </a:spcAft>
            </a:pPr>
            <a:r>
              <a:rPr sz="1800" b="1">
                <a:solidFill>
                  <a:srgbClr val="1F3A5F"/>
                </a:solidFill>
                <a:latin typeface="Calibri"/>
              </a:rPr>
              <a:t>P(Z | G) = Σᵢ P(Fᵢ | G) · P(Z | Fᵢ, G)   –   Beitrag je Fachbereich = Anteil × Quote</a:t>
            </a:r>
          </a:p>
        </p:txBody>
      </p:sp>
      <p:graphicFrame>
        <p:nvGraphicFramePr>
          <p:cNvPr id="6" name="Table 5"/>
          <p:cNvGraphicFramePr>
            <a:graphicFrameLocks noGrp="1"/>
          </p:cNvGraphicFramePr>
          <p:nvPr/>
        </p:nvGraphicFramePr>
        <p:xfrm>
          <a:off x="540000" y="1750000"/>
          <a:ext cx="11100000" cy="3360000"/>
        </p:xfrm>
        <a:graphic>
          <a:graphicData uri="http://schemas.openxmlformats.org/drawingml/2006/table">
            <a:tbl>
              <a:tblPr firstRow="1" bandRow="1">
                <a:tableStyleId>{5C22544A-7EE6-4342-B048-85BDC9FD1C3A}</a:tableStyleId>
              </a:tblPr>
              <a:tblGrid>
                <a:gridCol w="900000"/>
                <a:gridCol w="1700000"/>
                <a:gridCol w="1700000"/>
                <a:gridCol w="1700000"/>
                <a:gridCol w="1700000"/>
                <a:gridCol w="1700000"/>
                <a:gridCol w="1700000"/>
              </a:tblGrid>
              <a:tr h="420000">
                <a:tc>
                  <a:txBody>
                    <a:bodyPr/>
                    <a:lstStyle/>
                    <a:p>
                      <a:r>
                        <a:rPr sz="1400" b="1"/>
                        <a:t>FB</a:t>
                      </a:r>
                    </a:p>
                  </a:txBody>
                  <a:tcPr/>
                </a:tc>
                <a:tc>
                  <a:txBody>
                    <a:bodyPr/>
                    <a:lstStyle/>
                    <a:p>
                      <a:r>
                        <a:rPr sz="1400" b="1"/>
                        <a:t>Anteil F</a:t>
                      </a:r>
                    </a:p>
                  </a:txBody>
                  <a:tcPr/>
                </a:tc>
                <a:tc>
                  <a:txBody>
                    <a:bodyPr/>
                    <a:lstStyle/>
                    <a:p>
                      <a:r>
                        <a:rPr sz="1400" b="1"/>
                        <a:t>Quote F</a:t>
                      </a:r>
                    </a:p>
                  </a:txBody>
                  <a:tcPr/>
                </a:tc>
                <a:tc>
                  <a:txBody>
                    <a:bodyPr/>
                    <a:lstStyle/>
                    <a:p>
                      <a:r>
                        <a:rPr sz="1400" b="1"/>
                        <a:t>Beitrag F</a:t>
                      </a:r>
                    </a:p>
                  </a:txBody>
                  <a:tcPr/>
                </a:tc>
                <a:tc>
                  <a:txBody>
                    <a:bodyPr/>
                    <a:lstStyle/>
                    <a:p>
                      <a:r>
                        <a:rPr sz="1400" b="1"/>
                        <a:t>Anteil M</a:t>
                      </a:r>
                    </a:p>
                  </a:txBody>
                  <a:tcPr/>
                </a:tc>
                <a:tc>
                  <a:txBody>
                    <a:bodyPr/>
                    <a:lstStyle/>
                    <a:p>
                      <a:r>
                        <a:rPr sz="1400" b="1"/>
                        <a:t>Quote M</a:t>
                      </a:r>
                    </a:p>
                  </a:txBody>
                  <a:tcPr/>
                </a:tc>
                <a:tc>
                  <a:txBody>
                    <a:bodyPr/>
                    <a:lstStyle/>
                    <a:p>
                      <a:r>
                        <a:rPr sz="1400" b="1"/>
                        <a:t>Beitrag M</a:t>
                      </a:r>
                    </a:p>
                  </a:txBody>
                  <a:tcPr/>
                </a:tc>
              </a:tr>
              <a:tr h="420000">
                <a:tc>
                  <a:txBody>
                    <a:bodyPr/>
                    <a:lstStyle/>
                    <a:p>
                      <a:r>
                        <a:rPr sz="1400" b="0"/>
                        <a:t>A</a:t>
                      </a:r>
                    </a:p>
                  </a:txBody>
                  <a:tcPr/>
                </a:tc>
                <a:tc>
                  <a:txBody>
                    <a:bodyPr/>
                    <a:lstStyle/>
                    <a:p>
                      <a:r>
                        <a:rPr sz="1400" b="0"/>
                        <a:t>5.9 %</a:t>
                      </a:r>
                    </a:p>
                  </a:txBody>
                  <a:tcPr/>
                </a:tc>
                <a:tc>
                  <a:txBody>
                    <a:bodyPr/>
                    <a:lstStyle/>
                    <a:p>
                      <a:r>
                        <a:rPr sz="1400" b="0"/>
                        <a:t>82.4 %</a:t>
                      </a:r>
                    </a:p>
                  </a:txBody>
                  <a:tcPr/>
                </a:tc>
                <a:tc>
                  <a:txBody>
                    <a:bodyPr/>
                    <a:lstStyle/>
                    <a:p>
                      <a:r>
                        <a:rPr sz="1400" b="0"/>
                        <a:t>4.9 %</a:t>
                      </a:r>
                    </a:p>
                  </a:txBody>
                  <a:tcPr/>
                </a:tc>
                <a:tc>
                  <a:txBody>
                    <a:bodyPr/>
                    <a:lstStyle/>
                    <a:p>
                      <a:r>
                        <a:rPr sz="1400" b="0"/>
                        <a:t>30.7 %</a:t>
                      </a:r>
                    </a:p>
                  </a:txBody>
                  <a:tcPr/>
                </a:tc>
                <a:tc>
                  <a:txBody>
                    <a:bodyPr/>
                    <a:lstStyle/>
                    <a:p>
                      <a:r>
                        <a:rPr sz="1400" b="0"/>
                        <a:t>62.1 %</a:t>
                      </a:r>
                    </a:p>
                  </a:txBody>
                  <a:tcPr/>
                </a:tc>
                <a:tc>
                  <a:txBody>
                    <a:bodyPr/>
                    <a:lstStyle/>
                    <a:p>
                      <a:r>
                        <a:rPr sz="1400" b="0"/>
                        <a:t>19.1 %</a:t>
                      </a:r>
                    </a:p>
                  </a:txBody>
                  <a:tcPr/>
                </a:tc>
              </a:tr>
              <a:tr h="420000">
                <a:tc>
                  <a:txBody>
                    <a:bodyPr/>
                    <a:lstStyle/>
                    <a:p>
                      <a:r>
                        <a:rPr sz="1400" b="0"/>
                        <a:t>B</a:t>
                      </a:r>
                    </a:p>
                  </a:txBody>
                  <a:tcPr/>
                </a:tc>
                <a:tc>
                  <a:txBody>
                    <a:bodyPr/>
                    <a:lstStyle/>
                    <a:p>
                      <a:r>
                        <a:rPr sz="1400" b="0"/>
                        <a:t>1.4 %</a:t>
                      </a:r>
                    </a:p>
                  </a:txBody>
                  <a:tcPr/>
                </a:tc>
                <a:tc>
                  <a:txBody>
                    <a:bodyPr/>
                    <a:lstStyle/>
                    <a:p>
                      <a:r>
                        <a:rPr sz="1400" b="0"/>
                        <a:t>68.0 %</a:t>
                      </a:r>
                    </a:p>
                  </a:txBody>
                  <a:tcPr/>
                </a:tc>
                <a:tc>
                  <a:txBody>
                    <a:bodyPr/>
                    <a:lstStyle/>
                    <a:p>
                      <a:r>
                        <a:rPr sz="1400" b="0"/>
                        <a:t>1.0 %</a:t>
                      </a:r>
                    </a:p>
                  </a:txBody>
                  <a:tcPr/>
                </a:tc>
                <a:tc>
                  <a:txBody>
                    <a:bodyPr/>
                    <a:lstStyle/>
                    <a:p>
                      <a:r>
                        <a:rPr sz="1400" b="0"/>
                        <a:t>20.8 %</a:t>
                      </a:r>
                    </a:p>
                  </a:txBody>
                  <a:tcPr/>
                </a:tc>
                <a:tc>
                  <a:txBody>
                    <a:bodyPr/>
                    <a:lstStyle/>
                    <a:p>
                      <a:r>
                        <a:rPr sz="1400" b="0"/>
                        <a:t>63.0 %</a:t>
                      </a:r>
                    </a:p>
                  </a:txBody>
                  <a:tcPr/>
                </a:tc>
                <a:tc>
                  <a:txBody>
                    <a:bodyPr/>
                    <a:lstStyle/>
                    <a:p>
                      <a:r>
                        <a:rPr sz="1400" b="0"/>
                        <a:t>13.1 %</a:t>
                      </a:r>
                    </a:p>
                  </a:txBody>
                  <a:tcPr/>
                </a:tc>
              </a:tr>
              <a:tr h="420000">
                <a:tc>
                  <a:txBody>
                    <a:bodyPr/>
                    <a:lstStyle/>
                    <a:p>
                      <a:r>
                        <a:rPr sz="1400" b="0"/>
                        <a:t>C</a:t>
                      </a:r>
                    </a:p>
                  </a:txBody>
                  <a:tcPr/>
                </a:tc>
                <a:tc>
                  <a:txBody>
                    <a:bodyPr/>
                    <a:lstStyle/>
                    <a:p>
                      <a:r>
                        <a:rPr sz="1400" b="0"/>
                        <a:t>32.3 %</a:t>
                      </a:r>
                    </a:p>
                  </a:txBody>
                  <a:tcPr/>
                </a:tc>
                <a:tc>
                  <a:txBody>
                    <a:bodyPr/>
                    <a:lstStyle/>
                    <a:p>
                      <a:r>
                        <a:rPr sz="1400" b="0"/>
                        <a:t>34.1 %</a:t>
                      </a:r>
                    </a:p>
                  </a:txBody>
                  <a:tcPr/>
                </a:tc>
                <a:tc>
                  <a:txBody>
                    <a:bodyPr/>
                    <a:lstStyle/>
                    <a:p>
                      <a:r>
                        <a:rPr sz="1400" b="0"/>
                        <a:t>11.0 %</a:t>
                      </a:r>
                    </a:p>
                  </a:txBody>
                  <a:tcPr/>
                </a:tc>
                <a:tc>
                  <a:txBody>
                    <a:bodyPr/>
                    <a:lstStyle/>
                    <a:p>
                      <a:r>
                        <a:rPr sz="1400" b="0"/>
                        <a:t>12.1 %</a:t>
                      </a:r>
                    </a:p>
                  </a:txBody>
                  <a:tcPr/>
                </a:tc>
                <a:tc>
                  <a:txBody>
                    <a:bodyPr/>
                    <a:lstStyle/>
                    <a:p>
                      <a:r>
                        <a:rPr sz="1400" b="0"/>
                        <a:t>36.9 %</a:t>
                      </a:r>
                    </a:p>
                  </a:txBody>
                  <a:tcPr/>
                </a:tc>
                <a:tc>
                  <a:txBody>
                    <a:bodyPr/>
                    <a:lstStyle/>
                    <a:p>
                      <a:r>
                        <a:rPr sz="1400" b="0"/>
                        <a:t>4.5 %</a:t>
                      </a:r>
                    </a:p>
                  </a:txBody>
                  <a:tcPr/>
                </a:tc>
              </a:tr>
              <a:tr h="420000">
                <a:tc>
                  <a:txBody>
                    <a:bodyPr/>
                    <a:lstStyle/>
                    <a:p>
                      <a:r>
                        <a:rPr sz="1400" b="0"/>
                        <a:t>D</a:t>
                      </a:r>
                    </a:p>
                  </a:txBody>
                  <a:tcPr/>
                </a:tc>
                <a:tc>
                  <a:txBody>
                    <a:bodyPr/>
                    <a:lstStyle/>
                    <a:p>
                      <a:r>
                        <a:rPr sz="1400" b="0"/>
                        <a:t>20.4 %</a:t>
                      </a:r>
                    </a:p>
                  </a:txBody>
                  <a:tcPr/>
                </a:tc>
                <a:tc>
                  <a:txBody>
                    <a:bodyPr/>
                    <a:lstStyle/>
                    <a:p>
                      <a:r>
                        <a:rPr sz="1400" b="0"/>
                        <a:t>34.9 %</a:t>
                      </a:r>
                    </a:p>
                  </a:txBody>
                  <a:tcPr/>
                </a:tc>
                <a:tc>
                  <a:txBody>
                    <a:bodyPr/>
                    <a:lstStyle/>
                    <a:p>
                      <a:r>
                        <a:rPr sz="1400" b="0"/>
                        <a:t>7.1 %</a:t>
                      </a:r>
                    </a:p>
                  </a:txBody>
                  <a:tcPr/>
                </a:tc>
                <a:tc>
                  <a:txBody>
                    <a:bodyPr/>
                    <a:lstStyle/>
                    <a:p>
                      <a:r>
                        <a:rPr sz="1400" b="0"/>
                        <a:t>15.5 %</a:t>
                      </a:r>
                    </a:p>
                  </a:txBody>
                  <a:tcPr/>
                </a:tc>
                <a:tc>
                  <a:txBody>
                    <a:bodyPr/>
                    <a:lstStyle/>
                    <a:p>
                      <a:r>
                        <a:rPr sz="1400" b="0"/>
                        <a:t>33.1 %</a:t>
                      </a:r>
                    </a:p>
                  </a:txBody>
                  <a:tcPr/>
                </a:tc>
                <a:tc>
                  <a:txBody>
                    <a:bodyPr/>
                    <a:lstStyle/>
                    <a:p>
                      <a:r>
                        <a:rPr sz="1400" b="0"/>
                        <a:t>5.1 %</a:t>
                      </a:r>
                    </a:p>
                  </a:txBody>
                  <a:tcPr/>
                </a:tc>
              </a:tr>
              <a:tr h="420000">
                <a:tc>
                  <a:txBody>
                    <a:bodyPr/>
                    <a:lstStyle/>
                    <a:p>
                      <a:r>
                        <a:rPr sz="1400" b="0"/>
                        <a:t>E</a:t>
                      </a:r>
                    </a:p>
                  </a:txBody>
                  <a:tcPr/>
                </a:tc>
                <a:tc>
                  <a:txBody>
                    <a:bodyPr/>
                    <a:lstStyle/>
                    <a:p>
                      <a:r>
                        <a:rPr sz="1400" b="0"/>
                        <a:t>21.4 %</a:t>
                      </a:r>
                    </a:p>
                  </a:txBody>
                  <a:tcPr/>
                </a:tc>
                <a:tc>
                  <a:txBody>
                    <a:bodyPr/>
                    <a:lstStyle/>
                    <a:p>
                      <a:r>
                        <a:rPr sz="1400" b="0"/>
                        <a:t>23.9 %</a:t>
                      </a:r>
                    </a:p>
                  </a:txBody>
                  <a:tcPr/>
                </a:tc>
                <a:tc>
                  <a:txBody>
                    <a:bodyPr/>
                    <a:lstStyle/>
                    <a:p>
                      <a:r>
                        <a:rPr sz="1400" b="0"/>
                        <a:t>5.1 %</a:t>
                      </a:r>
                    </a:p>
                  </a:txBody>
                  <a:tcPr/>
                </a:tc>
                <a:tc>
                  <a:txBody>
                    <a:bodyPr/>
                    <a:lstStyle/>
                    <a:p>
                      <a:r>
                        <a:rPr sz="1400" b="0"/>
                        <a:t>7.1 %</a:t>
                      </a:r>
                    </a:p>
                  </a:txBody>
                  <a:tcPr/>
                </a:tc>
                <a:tc>
                  <a:txBody>
                    <a:bodyPr/>
                    <a:lstStyle/>
                    <a:p>
                      <a:r>
                        <a:rPr sz="1400" b="0"/>
                        <a:t>27.7 %</a:t>
                      </a:r>
                    </a:p>
                  </a:txBody>
                  <a:tcPr/>
                </a:tc>
                <a:tc>
                  <a:txBody>
                    <a:bodyPr/>
                    <a:lstStyle/>
                    <a:p>
                      <a:r>
                        <a:rPr sz="1400" b="0"/>
                        <a:t>2.0 %</a:t>
                      </a:r>
                    </a:p>
                  </a:txBody>
                  <a:tcPr/>
                </a:tc>
              </a:tr>
              <a:tr h="420000">
                <a:tc>
                  <a:txBody>
                    <a:bodyPr/>
                    <a:lstStyle/>
                    <a:p>
                      <a:r>
                        <a:rPr sz="1400" b="0"/>
                        <a:t>F</a:t>
                      </a:r>
                    </a:p>
                  </a:txBody>
                  <a:tcPr/>
                </a:tc>
                <a:tc>
                  <a:txBody>
                    <a:bodyPr/>
                    <a:lstStyle/>
                    <a:p>
                      <a:r>
                        <a:rPr sz="1400" b="0"/>
                        <a:t>18.6 %</a:t>
                      </a:r>
                    </a:p>
                  </a:txBody>
                  <a:tcPr/>
                </a:tc>
                <a:tc>
                  <a:txBody>
                    <a:bodyPr/>
                    <a:lstStyle/>
                    <a:p>
                      <a:r>
                        <a:rPr sz="1400" b="0"/>
                        <a:t>7.0 %</a:t>
                      </a:r>
                    </a:p>
                  </a:txBody>
                  <a:tcPr/>
                </a:tc>
                <a:tc>
                  <a:txBody>
                    <a:bodyPr/>
                    <a:lstStyle/>
                    <a:p>
                      <a:r>
                        <a:rPr sz="1400" b="0"/>
                        <a:t>1.3 %</a:t>
                      </a:r>
                    </a:p>
                  </a:txBody>
                  <a:tcPr/>
                </a:tc>
                <a:tc>
                  <a:txBody>
                    <a:bodyPr/>
                    <a:lstStyle/>
                    <a:p>
                      <a:r>
                        <a:rPr sz="1400" b="0"/>
                        <a:t>13.9 %</a:t>
                      </a:r>
                    </a:p>
                  </a:txBody>
                  <a:tcPr/>
                </a:tc>
                <a:tc>
                  <a:txBody>
                    <a:bodyPr/>
                    <a:lstStyle/>
                    <a:p>
                      <a:r>
                        <a:rPr sz="1400" b="0"/>
                        <a:t>5.9 %</a:t>
                      </a:r>
                    </a:p>
                  </a:txBody>
                  <a:tcPr/>
                </a:tc>
                <a:tc>
                  <a:txBody>
                    <a:bodyPr/>
                    <a:lstStyle/>
                    <a:p>
                      <a:r>
                        <a:rPr sz="1400" b="0"/>
                        <a:t>0.8 %</a:t>
                      </a:r>
                    </a:p>
                  </a:txBody>
                  <a:tcPr/>
                </a:tc>
              </a:tr>
              <a:tr h="420000">
                <a:tc>
                  <a:txBody>
                    <a:bodyPr/>
                    <a:lstStyle/>
                    <a:p>
                      <a:r>
                        <a:rPr sz="1400" b="1"/>
                        <a:t>Σ</a:t>
                      </a:r>
                    </a:p>
                  </a:txBody>
                  <a:tcPr/>
                </a:tc>
                <a:tc>
                  <a:txBody>
                    <a:bodyPr/>
                    <a:lstStyle/>
                    <a:p>
                      <a:r>
                        <a:rPr sz="1400" b="1"/>
                        <a:t>100 %</a:t>
                      </a:r>
                    </a:p>
                  </a:txBody>
                  <a:tcPr/>
                </a:tc>
                <a:tc>
                  <a:txBody>
                    <a:bodyPr/>
                    <a:lstStyle/>
                    <a:p/>
                  </a:txBody>
                  <a:tcPr/>
                </a:tc>
                <a:tc>
                  <a:txBody>
                    <a:bodyPr/>
                    <a:lstStyle/>
                    <a:p>
                      <a:r>
                        <a:rPr sz="1400" b="1"/>
                        <a:t>30.4 %</a:t>
                      </a:r>
                    </a:p>
                  </a:txBody>
                  <a:tcPr/>
                </a:tc>
                <a:tc>
                  <a:txBody>
                    <a:bodyPr/>
                    <a:lstStyle/>
                    <a:p>
                      <a:r>
                        <a:rPr sz="1400" b="1"/>
                        <a:t>100 %</a:t>
                      </a:r>
                    </a:p>
                  </a:txBody>
                  <a:tcPr/>
                </a:tc>
                <a:tc>
                  <a:txBody>
                    <a:bodyPr/>
                    <a:lstStyle/>
                    <a:p/>
                  </a:txBody>
                  <a:tcPr/>
                </a:tc>
                <a:tc>
                  <a:txBody>
                    <a:bodyPr/>
                    <a:lstStyle/>
                    <a:p>
                      <a:r>
                        <a:rPr sz="1400" b="1"/>
                        <a:t>44.6 %</a:t>
                      </a:r>
                    </a:p>
                  </a:txBody>
                  <a:tcPr/>
                </a:tc>
              </a:tr>
            </a:tbl>
          </a:graphicData>
        </a:graphic>
      </p:graphicFrame>
      <p:sp>
        <p:nvSpPr>
          <p:cNvPr id="7" name="TextBox 6"/>
          <p:cNvSpPr txBox="1"/>
          <p:nvPr/>
        </p:nvSpPr>
        <p:spPr>
          <a:xfrm>
            <a:off x="540000" y="5250000"/>
            <a:ext cx="11160000" cy="700000"/>
          </a:xfrm>
          <a:prstGeom prst="rect">
            <a:avLst/>
          </a:prstGeom>
          <a:noFill/>
        </p:spPr>
        <p:txBody>
          <a:bodyPr wrap="square">
            <a:spAutoFit/>
          </a:bodyPr>
          <a:lstStyle/>
          <a:p>
            <a:pPr>
              <a:spcAft>
                <a:spcPts val="855"/>
              </a:spcAft>
            </a:pPr>
            <a:r>
              <a:rPr sz="1600" b="0">
                <a:solidFill>
                  <a:srgbClr val="1F3A5F"/>
                </a:solidFill>
                <a:latin typeface="Calibri"/>
              </a:rPr>
              <a:t>Frauen haben ihre grossen Gewichte bei den tiefen Quoten (C–F), Männer bei den hohen (A, B). Deshalb ist die Summe der Frauen klein, obwohl ihre Quoten je Fachbereich meist höher sind.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125999"/>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11160000" cy="720000"/>
          </a:xfrm>
          <a:prstGeom prst="rect">
            <a:avLst/>
          </a:prstGeom>
          <a:noFill/>
        </p:spPr>
        <p:txBody>
          <a:bodyPr wrap="square">
            <a:spAutoFit/>
          </a:bodyPr>
          <a:lstStyle/>
          <a:p>
            <a:pPr>
              <a:spcAft>
                <a:spcPts val="855"/>
              </a:spcAft>
            </a:pPr>
            <a:r>
              <a:rPr sz="3000" b="1">
                <a:solidFill>
                  <a:srgbClr val="1F3A5F"/>
                </a:solidFill>
                <a:latin typeface="Calibri"/>
              </a:rPr>
              <a:t>Reserve: So funktioniert der Chi-Quadrat-Test</a:t>
            </a:r>
          </a:p>
        </p:txBody>
      </p:sp>
      <p:sp>
        <p:nvSpPr>
          <p:cNvPr id="4" name="TextBox 3"/>
          <p:cNvSpPr txBox="1"/>
          <p:nvPr/>
        </p:nvSpPr>
        <p:spPr>
          <a:xfrm>
            <a:off x="9360000" y="6372000"/>
            <a:ext cx="2520000" cy="360000"/>
          </a:xfrm>
          <a:prstGeom prst="rect">
            <a:avLst/>
          </a:prstGeom>
          <a:noFill/>
        </p:spPr>
        <p:txBody>
          <a:bodyPr wrap="square">
            <a:spAutoFit/>
          </a:bodyPr>
          <a:lstStyle/>
          <a:p>
            <a:pPr>
              <a:spcAft>
                <a:spcPts val="855"/>
              </a:spcAft>
            </a:pPr>
            <a:r>
              <a:rPr sz="1100" b="0">
                <a:solidFill>
                  <a:srgbClr val="52514E"/>
                </a:solidFill>
                <a:latin typeface="Calibri"/>
              </a:rPr>
              <a:t>Reserve (Sprecher/in 3)</a:t>
            </a:r>
          </a:p>
        </p:txBody>
      </p:sp>
      <p:sp>
        <p:nvSpPr>
          <p:cNvPr id="5" name="TextBox 4"/>
          <p:cNvSpPr txBox="1"/>
          <p:nvPr/>
        </p:nvSpPr>
        <p:spPr>
          <a:xfrm>
            <a:off x="540000" y="1150000"/>
            <a:ext cx="5300000" cy="4800000"/>
          </a:xfrm>
          <a:prstGeom prst="rect">
            <a:avLst/>
          </a:prstGeom>
          <a:noFill/>
        </p:spPr>
        <p:txBody>
          <a:bodyPr wrap="square">
            <a:spAutoFit/>
          </a:bodyPr>
          <a:lstStyle/>
          <a:p>
            <a:pPr>
              <a:spcAft>
                <a:spcPts val="855"/>
              </a:spcAft>
            </a:pPr>
            <a:r>
              <a:rPr sz="1700" b="1">
                <a:solidFill>
                  <a:srgbClr val="52514E"/>
                </a:solidFill>
                <a:latin typeface="Calibri"/>
              </a:rPr>
              <a:t>H₀: Z und W sind unabhängig</a:t>
            </a:r>
          </a:p>
          <a:p>
            <a:pPr>
              <a:spcAft>
                <a:spcPts val="855"/>
              </a:spcAft>
            </a:pPr>
            <a:r>
              <a:rPr sz="1700" b="0">
                <a:solidFill>
                  <a:srgbClr val="52514E"/>
                </a:solidFill>
                <a:latin typeface="Calibri"/>
              </a:rPr>
              <a:t>•  Erwartete Häufigkeit je Zelle bei Unabhängigkeit: E = n · P(Z) · P(W)</a:t>
            </a:r>
          </a:p>
          <a:p>
            <a:pPr>
              <a:spcAft>
                <a:spcPts val="855"/>
              </a:spcAft>
            </a:pPr>
            <a:r>
              <a:rPr sz="1700" b="0">
                <a:solidFill>
                  <a:srgbClr val="52514E"/>
                </a:solidFill>
                <a:latin typeface="Calibri"/>
              </a:rPr>
              <a:t>•  Teststatistik: χ² = Σ (B − E)² / E</a:t>
            </a:r>
          </a:p>
          <a:p>
            <a:pPr>
              <a:spcAft>
                <a:spcPts val="855"/>
              </a:spcAft>
            </a:pPr>
            <a:r>
              <a:rPr sz="1700" b="0">
                <a:solidFill>
                  <a:srgbClr val="52514E"/>
                </a:solidFill>
                <a:latin typeface="Calibri"/>
              </a:rPr>
              <a:t>•  Freiheitsgrade: (2 − 1) · (2 − 1) = 1</a:t>
            </a:r>
          </a:p>
          <a:p>
            <a:pPr>
              <a:spcAft>
                <a:spcPts val="855"/>
              </a:spcAft>
            </a:pPr>
            <a:r>
              <a:rPr sz="1700" b="0">
                <a:solidFill>
                  <a:srgbClr val="52514E"/>
                </a:solidFill>
                <a:latin typeface="Calibri"/>
              </a:rPr>
              <a:t>•  Kritischer Wert (α = 5 %): 3.84</a:t>
            </a:r>
          </a:p>
          <a:p>
            <a:pPr>
              <a:spcAft>
                <a:spcPts val="855"/>
              </a:spcAft>
            </a:pPr>
            <a:r>
              <a:rPr sz="1700" b="1">
                <a:solidFill>
                  <a:srgbClr val="52514E"/>
                </a:solidFill>
                <a:latin typeface="Calibri"/>
              </a:rPr>
              <a:t>•  Ergebnis: χ² = 92.2, p &lt; 0.001  →  H₀ verwerfen</a:t>
            </a:r>
          </a:p>
          <a:p>
            <a:pPr>
              <a:spcAft>
                <a:spcPts val="855"/>
              </a:spcAft>
            </a:pPr>
            <a:r>
              <a:rPr sz="1700" b="0">
                <a:solidFill>
                  <a:srgbClr val="52514E"/>
                </a:solidFill>
                <a:latin typeface="Calibri"/>
              </a:rPr>
              <a:t>•  Python: chi2_contingency(tafel, correction=False)</a:t>
            </a:r>
          </a:p>
        </p:txBody>
      </p:sp>
      <p:graphicFrame>
        <p:nvGraphicFramePr>
          <p:cNvPr id="6" name="Table 5"/>
          <p:cNvGraphicFramePr>
            <a:graphicFrameLocks noGrp="1"/>
          </p:cNvGraphicFramePr>
          <p:nvPr/>
        </p:nvGraphicFramePr>
        <p:xfrm>
          <a:off x="6100000" y="1750000"/>
          <a:ext cx="5650000" cy="2080000"/>
        </p:xfrm>
        <a:graphic>
          <a:graphicData uri="http://schemas.openxmlformats.org/drawingml/2006/table">
            <a:tbl>
              <a:tblPr firstRow="1" bandRow="1">
                <a:tableStyleId>{5C22544A-7EE6-4342-B048-85BDC9FD1C3A}</a:tableStyleId>
              </a:tblPr>
              <a:tblGrid>
                <a:gridCol w="1900000"/>
                <a:gridCol w="1450000"/>
                <a:gridCol w="1450000"/>
                <a:gridCol w="850000"/>
              </a:tblGrid>
              <a:tr h="520000">
                <a:tc>
                  <a:txBody>
                    <a:bodyPr/>
                    <a:lstStyle/>
                    <a:p>
                      <a:r>
                        <a:rPr sz="1300" b="1"/>
                        <a:t>beobachtet (erwartet)</a:t>
                      </a:r>
                    </a:p>
                  </a:txBody>
                  <a:tcPr/>
                </a:tc>
                <a:tc>
                  <a:txBody>
                    <a:bodyPr/>
                    <a:lstStyle/>
                    <a:p>
                      <a:r>
                        <a:rPr sz="1300" b="1"/>
                        <a:t>zugelassen</a:t>
                      </a:r>
                    </a:p>
                  </a:txBody>
                  <a:tcPr/>
                </a:tc>
                <a:tc>
                  <a:txBody>
                    <a:bodyPr/>
                    <a:lstStyle/>
                    <a:p>
                      <a:r>
                        <a:rPr sz="1300" b="1"/>
                        <a:t>abgelehnt</a:t>
                      </a:r>
                    </a:p>
                  </a:txBody>
                  <a:tcPr/>
                </a:tc>
                <a:tc>
                  <a:txBody>
                    <a:bodyPr/>
                    <a:lstStyle/>
                    <a:p>
                      <a:r>
                        <a:rPr sz="1300" b="1"/>
                        <a:t>Total</a:t>
                      </a:r>
                    </a:p>
                  </a:txBody>
                  <a:tcPr/>
                </a:tc>
              </a:tr>
              <a:tr h="520000">
                <a:tc>
                  <a:txBody>
                    <a:bodyPr/>
                    <a:lstStyle/>
                    <a:p>
                      <a:r>
                        <a:rPr sz="1300" b="0"/>
                        <a:t>Frauen</a:t>
                      </a:r>
                    </a:p>
                  </a:txBody>
                  <a:tcPr/>
                </a:tc>
                <a:tc>
                  <a:txBody>
                    <a:bodyPr/>
                    <a:lstStyle/>
                    <a:p>
                      <a:r>
                        <a:rPr sz="1300" b="0"/>
                        <a:t>557 (711.5)</a:t>
                      </a:r>
                    </a:p>
                  </a:txBody>
                  <a:tcPr/>
                </a:tc>
                <a:tc>
                  <a:txBody>
                    <a:bodyPr/>
                    <a:lstStyle/>
                    <a:p>
                      <a:r>
                        <a:rPr sz="1300" b="0"/>
                        <a:t>1 278 (1 123.5)</a:t>
                      </a:r>
                    </a:p>
                  </a:txBody>
                  <a:tcPr/>
                </a:tc>
                <a:tc>
                  <a:txBody>
                    <a:bodyPr/>
                    <a:lstStyle/>
                    <a:p>
                      <a:r>
                        <a:rPr sz="1300" b="0"/>
                        <a:t>1 835</a:t>
                      </a:r>
                    </a:p>
                  </a:txBody>
                  <a:tcPr/>
                </a:tc>
              </a:tr>
              <a:tr h="520000">
                <a:tc>
                  <a:txBody>
                    <a:bodyPr/>
                    <a:lstStyle/>
                    <a:p>
                      <a:r>
                        <a:rPr sz="1300" b="0"/>
                        <a:t>Männer</a:t>
                      </a:r>
                    </a:p>
                  </a:txBody>
                  <a:tcPr/>
                </a:tc>
                <a:tc>
                  <a:txBody>
                    <a:bodyPr/>
                    <a:lstStyle/>
                    <a:p>
                      <a:r>
                        <a:rPr sz="1300" b="0"/>
                        <a:t>1 198 (1 043.5)</a:t>
                      </a:r>
                    </a:p>
                  </a:txBody>
                  <a:tcPr/>
                </a:tc>
                <a:tc>
                  <a:txBody>
                    <a:bodyPr/>
                    <a:lstStyle/>
                    <a:p>
                      <a:r>
                        <a:rPr sz="1300" b="0"/>
                        <a:t>1 493 (1 647.5)</a:t>
                      </a:r>
                    </a:p>
                  </a:txBody>
                  <a:tcPr/>
                </a:tc>
                <a:tc>
                  <a:txBody>
                    <a:bodyPr/>
                    <a:lstStyle/>
                    <a:p>
                      <a:r>
                        <a:rPr sz="1300" b="0"/>
                        <a:t>2 691</a:t>
                      </a:r>
                    </a:p>
                  </a:txBody>
                  <a:tcPr/>
                </a:tc>
              </a:tr>
              <a:tr h="520000">
                <a:tc>
                  <a:txBody>
                    <a:bodyPr/>
                    <a:lstStyle/>
                    <a:p>
                      <a:r>
                        <a:rPr sz="1300" b="1"/>
                        <a:t>Total</a:t>
                      </a:r>
                    </a:p>
                  </a:txBody>
                  <a:tcPr/>
                </a:tc>
                <a:tc>
                  <a:txBody>
                    <a:bodyPr/>
                    <a:lstStyle/>
                    <a:p>
                      <a:r>
                        <a:rPr sz="1300" b="1"/>
                        <a:t>1 755</a:t>
                      </a:r>
                    </a:p>
                  </a:txBody>
                  <a:tcPr/>
                </a:tc>
                <a:tc>
                  <a:txBody>
                    <a:bodyPr/>
                    <a:lstStyle/>
                    <a:p>
                      <a:r>
                        <a:rPr sz="1300" b="1"/>
                        <a:t>2 771</a:t>
                      </a:r>
                    </a:p>
                  </a:txBody>
                  <a:tcPr/>
                </a:tc>
                <a:tc>
                  <a:txBody>
                    <a:bodyPr/>
                    <a:lstStyle/>
                    <a:p>
                      <a:r>
                        <a:rPr sz="1300" b="1"/>
                        <a:t>4 526</a:t>
                      </a:r>
                    </a:p>
                  </a:txBody>
                  <a:tcPr/>
                </a:tc>
              </a:tr>
            </a:tbl>
          </a:graphicData>
        </a:graphic>
      </p:graphicFrame>
      <p:sp>
        <p:nvSpPr>
          <p:cNvPr id="7" name="TextBox 6"/>
          <p:cNvSpPr txBox="1"/>
          <p:nvPr/>
        </p:nvSpPr>
        <p:spPr>
          <a:xfrm>
            <a:off x="6100000" y="4100000"/>
            <a:ext cx="5650000" cy="1400000"/>
          </a:xfrm>
          <a:prstGeom prst="rect">
            <a:avLst/>
          </a:prstGeom>
          <a:noFill/>
        </p:spPr>
        <p:txBody>
          <a:bodyPr wrap="square">
            <a:spAutoFit/>
          </a:bodyPr>
          <a:lstStyle/>
          <a:p>
            <a:pPr>
              <a:spcAft>
                <a:spcPts val="855"/>
              </a:spcAft>
            </a:pPr>
            <a:r>
              <a:rPr sz="1500" b="0">
                <a:solidFill>
                  <a:srgbClr val="1F3A5F"/>
                </a:solidFill>
                <a:latin typeface="Calibri"/>
              </a:rPr>
              <a:t>Bei Unabhängigkeit wären rund 712 Frauen zugelassen worden, tatsächlich waren es 557. Die Abweichung ist viel zu gross für Zufall.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125999"/>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11160000" cy="720000"/>
          </a:xfrm>
          <a:prstGeom prst="rect">
            <a:avLst/>
          </a:prstGeom>
          <a:noFill/>
        </p:spPr>
        <p:txBody>
          <a:bodyPr wrap="square">
            <a:spAutoFit/>
          </a:bodyPr>
          <a:lstStyle/>
          <a:p>
            <a:pPr>
              <a:spcAft>
                <a:spcPts val="855"/>
              </a:spcAft>
            </a:pPr>
            <a:r>
              <a:rPr sz="3000" b="1">
                <a:solidFill>
                  <a:srgbClr val="1F3A5F"/>
                </a:solidFill>
                <a:latin typeface="Calibri"/>
              </a:rPr>
              <a:t>Reserve: Der Fachbereich als Drittvariable</a:t>
            </a:r>
          </a:p>
        </p:txBody>
      </p:sp>
      <p:sp>
        <p:nvSpPr>
          <p:cNvPr id="4" name="TextBox 3"/>
          <p:cNvSpPr txBox="1"/>
          <p:nvPr/>
        </p:nvSpPr>
        <p:spPr>
          <a:xfrm>
            <a:off x="9360000" y="6372000"/>
            <a:ext cx="2520000" cy="360000"/>
          </a:xfrm>
          <a:prstGeom prst="rect">
            <a:avLst/>
          </a:prstGeom>
          <a:noFill/>
        </p:spPr>
        <p:txBody>
          <a:bodyPr wrap="square">
            <a:spAutoFit/>
          </a:bodyPr>
          <a:lstStyle/>
          <a:p>
            <a:pPr>
              <a:spcAft>
                <a:spcPts val="855"/>
              </a:spcAft>
            </a:pPr>
            <a:r>
              <a:rPr sz="1100" b="0">
                <a:solidFill>
                  <a:srgbClr val="52514E"/>
                </a:solidFill>
                <a:latin typeface="Calibri"/>
              </a:rPr>
              <a:t>Reserve (Sprecher/in 3)</a:t>
            </a:r>
          </a:p>
        </p:txBody>
      </p:sp>
      <p:sp>
        <p:nvSpPr>
          <p:cNvPr id="5" name="Rounded Rectangle 4"/>
          <p:cNvSpPr/>
          <p:nvPr/>
        </p:nvSpPr>
        <p:spPr>
          <a:xfrm>
            <a:off x="4646000" y="1350000"/>
            <a:ext cx="2900000" cy="9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Fachbereich</a:t>
            </a:r>
          </a:p>
        </p:txBody>
      </p:sp>
      <p:sp>
        <p:nvSpPr>
          <p:cNvPr id="6" name="Rounded Rectangle 5"/>
          <p:cNvSpPr/>
          <p:nvPr/>
        </p:nvSpPr>
        <p:spPr>
          <a:xfrm>
            <a:off x="900000" y="3950000"/>
            <a:ext cx="2900000" cy="900000"/>
          </a:xfrm>
          <a:prstGeom prst="roundRect">
            <a:avLst/>
          </a:prstGeom>
          <a:solidFill>
            <a:srgbClr val="525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Geschlecht</a:t>
            </a:r>
          </a:p>
        </p:txBody>
      </p:sp>
      <p:sp>
        <p:nvSpPr>
          <p:cNvPr id="7" name="Rounded Rectangle 6"/>
          <p:cNvSpPr/>
          <p:nvPr/>
        </p:nvSpPr>
        <p:spPr>
          <a:xfrm>
            <a:off x="8400000" y="3950000"/>
            <a:ext cx="2900000" cy="900000"/>
          </a:xfrm>
          <a:prstGeom prst="roundRect">
            <a:avLst/>
          </a:prstGeom>
          <a:solidFill>
            <a:srgbClr val="525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Zulassung</a:t>
            </a:r>
          </a:p>
        </p:txBody>
      </p:sp>
      <p:cxnSp>
        <p:nvCxnSpPr>
          <p:cNvPr id="8" name="Connector 7"/>
          <p:cNvCxnSpPr/>
          <p:nvPr/>
        </p:nvCxnSpPr>
        <p:spPr>
          <a:xfrm flipV="1">
            <a:off x="2350000" y="2250000"/>
            <a:ext cx="2550000" cy="1700000"/>
          </a:xfrm>
          <a:prstGeom prst="line">
            <a:avLst/>
          </a:prstGeom>
          <a:ln w="381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00000" y="2250000"/>
            <a:ext cx="2550000" cy="1700000"/>
          </a:xfrm>
          <a:prstGeom prst="line">
            <a:avLst/>
          </a:prstGeom>
          <a:ln w="381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00000" y="4400000"/>
            <a:ext cx="4600000" cy="0"/>
          </a:xfrm>
          <a:prstGeom prst="line">
            <a:avLst/>
          </a:prstGeom>
          <a:ln w="38100">
            <a:solidFill>
              <a:srgbClr val="52514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0000" y="2650000"/>
            <a:ext cx="3500000" cy="800000"/>
          </a:xfrm>
          <a:prstGeom prst="rect">
            <a:avLst/>
          </a:prstGeom>
          <a:noFill/>
        </p:spPr>
        <p:txBody>
          <a:bodyPr wrap="square">
            <a:spAutoFit/>
          </a:bodyPr>
          <a:lstStyle/>
          <a:p>
            <a:pPr>
              <a:spcAft>
                <a:spcPts val="200"/>
              </a:spcAft>
            </a:pPr>
            <a:r>
              <a:rPr sz="1500" b="1">
                <a:solidFill>
                  <a:srgbClr val="1F3A5F"/>
                </a:solidFill>
                <a:latin typeface="Calibri"/>
              </a:rPr>
              <a:t>Frauen wählen häufiger C–F</a:t>
            </a:r>
          </a:p>
          <a:p>
            <a:pPr>
              <a:spcAft>
                <a:spcPts val="200"/>
              </a:spcAft>
            </a:pPr>
            <a:r>
              <a:rPr sz="1500" b="0">
                <a:solidFill>
                  <a:srgbClr val="1F3A5F"/>
                </a:solidFill>
                <a:latin typeface="Calibri"/>
              </a:rPr>
              <a:t>χ² = 1 068.4, df = 5, p &lt; 0.001</a:t>
            </a:r>
          </a:p>
        </p:txBody>
      </p:sp>
      <p:sp>
        <p:nvSpPr>
          <p:cNvPr id="12" name="TextBox 11"/>
          <p:cNvSpPr txBox="1"/>
          <p:nvPr/>
        </p:nvSpPr>
        <p:spPr>
          <a:xfrm>
            <a:off x="9300000" y="2450000"/>
            <a:ext cx="2800000" cy="800000"/>
          </a:xfrm>
          <a:prstGeom prst="rect">
            <a:avLst/>
          </a:prstGeom>
          <a:noFill/>
        </p:spPr>
        <p:txBody>
          <a:bodyPr wrap="square">
            <a:spAutoFit/>
          </a:bodyPr>
          <a:lstStyle/>
          <a:p>
            <a:pPr>
              <a:spcAft>
                <a:spcPts val="200"/>
              </a:spcAft>
            </a:pPr>
            <a:r>
              <a:rPr sz="1500" b="1">
                <a:solidFill>
                  <a:srgbClr val="1F3A5F"/>
                </a:solidFill>
                <a:latin typeface="Calibri"/>
              </a:rPr>
              <a:t>C–F lassen wenige zu</a:t>
            </a:r>
          </a:p>
          <a:p>
            <a:pPr>
              <a:spcAft>
                <a:spcPts val="200"/>
              </a:spcAft>
            </a:pPr>
            <a:r>
              <a:rPr sz="1500" b="0">
                <a:solidFill>
                  <a:srgbClr val="1F3A5F"/>
                </a:solidFill>
                <a:latin typeface="Calibri"/>
              </a:rPr>
              <a:t>χ² = 778.9, df = 5, p &lt; 0.001</a:t>
            </a:r>
          </a:p>
        </p:txBody>
      </p:sp>
      <p:sp>
        <p:nvSpPr>
          <p:cNvPr id="13" name="TextBox 12"/>
          <p:cNvSpPr txBox="1"/>
          <p:nvPr/>
        </p:nvSpPr>
        <p:spPr>
          <a:xfrm>
            <a:off x="3900000" y="4500000"/>
            <a:ext cx="4400000" cy="700000"/>
          </a:xfrm>
          <a:prstGeom prst="rect">
            <a:avLst/>
          </a:prstGeom>
          <a:noFill/>
        </p:spPr>
        <p:txBody>
          <a:bodyPr wrap="square">
            <a:spAutoFit/>
          </a:bodyPr>
          <a:lstStyle/>
          <a:p>
            <a:pPr>
              <a:spcAft>
                <a:spcPts val="855"/>
              </a:spcAft>
            </a:pPr>
            <a:r>
              <a:rPr sz="1500" b="0">
                <a:solidFill>
                  <a:srgbClr val="52514E"/>
                </a:solidFill>
                <a:latin typeface="Calibri"/>
              </a:rPr>
              <a:t>direkter Effekt: je Fachbereich kaum vorhanden</a:t>
            </a:r>
          </a:p>
        </p:txBody>
      </p:sp>
      <p:sp>
        <p:nvSpPr>
          <p:cNvPr id="14" name="TextBox 13"/>
          <p:cNvSpPr txBox="1"/>
          <p:nvPr/>
        </p:nvSpPr>
        <p:spPr>
          <a:xfrm>
            <a:off x="540000" y="5450000"/>
            <a:ext cx="11160000" cy="700000"/>
          </a:xfrm>
          <a:prstGeom prst="rect">
            <a:avLst/>
          </a:prstGeom>
          <a:noFill/>
        </p:spPr>
        <p:txBody>
          <a:bodyPr wrap="square">
            <a:spAutoFit/>
          </a:bodyPr>
          <a:lstStyle/>
          <a:p>
            <a:pPr>
              <a:spcAft>
                <a:spcPts val="855"/>
              </a:spcAft>
            </a:pPr>
            <a:r>
              <a:rPr sz="1700" b="1">
                <a:solidFill>
                  <a:srgbClr val="1F3A5F"/>
                </a:solidFill>
                <a:latin typeface="Calibri"/>
              </a:rPr>
              <a:t>Simpson-Paradoxon: Der Confounder «Fachbereich» erzeugt den aggregierten Zusammenhang. Korrelation ≠ Kausalität.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125999"/>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11160000" cy="720000"/>
          </a:xfrm>
          <a:prstGeom prst="rect">
            <a:avLst/>
          </a:prstGeom>
          <a:noFill/>
        </p:spPr>
        <p:txBody>
          <a:bodyPr wrap="square">
            <a:spAutoFit/>
          </a:bodyPr>
          <a:lstStyle/>
          <a:p>
            <a:pPr>
              <a:spcAft>
                <a:spcPts val="855"/>
              </a:spcAft>
            </a:pPr>
            <a:r>
              <a:rPr sz="3000" b="1">
                <a:solidFill>
                  <a:srgbClr val="1F3A5F"/>
                </a:solidFill>
                <a:latin typeface="Calibri"/>
              </a:rPr>
              <a:t>Reserve: Ablauf des Programms</a:t>
            </a:r>
          </a:p>
        </p:txBody>
      </p:sp>
      <p:sp>
        <p:nvSpPr>
          <p:cNvPr id="4" name="TextBox 3"/>
          <p:cNvSpPr txBox="1"/>
          <p:nvPr/>
        </p:nvSpPr>
        <p:spPr>
          <a:xfrm>
            <a:off x="9360000" y="6372000"/>
            <a:ext cx="2520000" cy="360000"/>
          </a:xfrm>
          <a:prstGeom prst="rect">
            <a:avLst/>
          </a:prstGeom>
          <a:noFill/>
        </p:spPr>
        <p:txBody>
          <a:bodyPr wrap="square">
            <a:spAutoFit/>
          </a:bodyPr>
          <a:lstStyle/>
          <a:p>
            <a:pPr>
              <a:spcAft>
                <a:spcPts val="855"/>
              </a:spcAft>
            </a:pPr>
            <a:r>
              <a:rPr sz="1100" b="0">
                <a:solidFill>
                  <a:srgbClr val="52514E"/>
                </a:solidFill>
                <a:latin typeface="Calibri"/>
              </a:rPr>
              <a:t>Reserve (Sprecher/in 2)</a:t>
            </a:r>
          </a:p>
        </p:txBody>
      </p:sp>
      <p:sp>
        <p:nvSpPr>
          <p:cNvPr id="5" name="Rectangle 4"/>
          <p:cNvSpPr/>
          <p:nvPr/>
        </p:nvSpPr>
        <p:spPr>
          <a:xfrm>
            <a:off x="540000" y="1500000"/>
            <a:ext cx="2000000" cy="56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Calibri"/>
              </a:rPr>
              <a:t>1  Erfassen</a:t>
            </a:r>
          </a:p>
        </p:txBody>
      </p:sp>
      <p:sp>
        <p:nvSpPr>
          <p:cNvPr id="6" name="Rectangle 5"/>
          <p:cNvSpPr/>
          <p:nvPr/>
        </p:nvSpPr>
        <p:spPr>
          <a:xfrm>
            <a:off x="540000" y="2060000"/>
            <a:ext cx="2000000" cy="100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a:solidFill>
                  <a:srgbClr val="202020"/>
                </a:solidFill>
                <a:latin typeface="Calibri"/>
              </a:rPr>
              <a:t>Tabelle 4 als Strings,</a:t>
            </a:r>
          </a:p>
          <a:p>
            <a:pPr algn="ctr"/>
            <a:r>
              <a:rPr sz="1300">
                <a:solidFill>
                  <a:srgbClr val="202020"/>
                </a:solidFill>
                <a:latin typeface="Calibri"/>
              </a:rPr>
              <a:t>bereinige() mit Liste</a:t>
            </a:r>
          </a:p>
          <a:p>
            <a:pPr algn="ctr"/>
            <a:r>
              <a:rPr sz="1300">
                <a:solidFill>
                  <a:srgbClr val="202020"/>
                </a:solidFill>
                <a:latin typeface="Calibri"/>
              </a:rPr>
              <a:t>von Funktionen</a:t>
            </a:r>
          </a:p>
        </p:txBody>
      </p:sp>
      <p:cxnSp>
        <p:nvCxnSpPr>
          <p:cNvPr id="7" name="Connector 6"/>
          <p:cNvCxnSpPr/>
          <p:nvPr/>
        </p:nvCxnSpPr>
        <p:spPr>
          <a:xfrm>
            <a:off x="2560000" y="1780000"/>
            <a:ext cx="200000" cy="0"/>
          </a:xfrm>
          <a:prstGeom prst="line">
            <a:avLst/>
          </a:prstGeom>
          <a:ln w="3810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780000" y="1500000"/>
            <a:ext cx="2000000" cy="56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Calibri"/>
              </a:rPr>
              <a:t>2  Prüfen</a:t>
            </a:r>
          </a:p>
        </p:txBody>
      </p:sp>
      <p:sp>
        <p:nvSpPr>
          <p:cNvPr id="9" name="Rectangle 8"/>
          <p:cNvSpPr/>
          <p:nvPr/>
        </p:nvSpPr>
        <p:spPr>
          <a:xfrm>
            <a:off x="2780000" y="2060000"/>
            <a:ext cx="2000000" cy="100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a:solidFill>
                  <a:srgbClr val="202020"/>
                </a:solidFill>
                <a:latin typeface="Calibri"/>
              </a:rPr>
              <a:t>gesamtquote():</a:t>
            </a:r>
          </a:p>
          <a:p>
            <a:pPr algn="ctr"/>
            <a:r>
              <a:rPr sz="1300">
                <a:solidFill>
                  <a:srgbClr val="202020"/>
                </a:solidFill>
                <a:latin typeface="Calibri"/>
              </a:rPr>
              <a:t>Satz der totalen</a:t>
            </a:r>
          </a:p>
          <a:p>
            <a:pPr algn="ctr"/>
            <a:r>
              <a:rPr sz="1300">
                <a:solidFill>
                  <a:srgbClr val="202020"/>
                </a:solidFill>
                <a:latin typeface="Calibri"/>
              </a:rPr>
              <a:t>Wahrscheinlichkeit</a:t>
            </a:r>
          </a:p>
        </p:txBody>
      </p:sp>
      <p:cxnSp>
        <p:nvCxnSpPr>
          <p:cNvPr id="10" name="Connector 9"/>
          <p:cNvCxnSpPr/>
          <p:nvPr/>
        </p:nvCxnSpPr>
        <p:spPr>
          <a:xfrm>
            <a:off x="4800000" y="1780000"/>
            <a:ext cx="200000" cy="0"/>
          </a:xfrm>
          <a:prstGeom prst="line">
            <a:avLst/>
          </a:prstGeom>
          <a:ln w="3810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020000" y="1500000"/>
            <a:ext cx="2000000" cy="56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Calibri"/>
              </a:rPr>
              <a:t>3  Anzahlen</a:t>
            </a:r>
          </a:p>
        </p:txBody>
      </p:sp>
      <p:sp>
        <p:nvSpPr>
          <p:cNvPr id="12" name="Rectangle 11"/>
          <p:cNvSpPr/>
          <p:nvPr/>
        </p:nvSpPr>
        <p:spPr>
          <a:xfrm>
            <a:off x="5020000" y="2060000"/>
            <a:ext cx="2000000" cy="100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a:solidFill>
                  <a:srgbClr val="202020"/>
                </a:solidFill>
                <a:latin typeface="Calibri"/>
              </a:rPr>
              <a:t>Originaldaten als</a:t>
            </a:r>
          </a:p>
          <a:p>
            <a:pPr algn="ctr"/>
            <a:r>
              <a:rPr sz="1300">
                <a:solidFill>
                  <a:srgbClr val="202020"/>
                </a:solidFill>
                <a:latin typeface="Calibri"/>
              </a:rPr>
              <a:t>langes DataFrame,</a:t>
            </a:r>
          </a:p>
          <a:p>
            <a:pPr algn="ctr"/>
            <a:r>
              <a:rPr sz="1300">
                <a:solidFill>
                  <a:srgbClr val="202020"/>
                </a:solidFill>
                <a:latin typeface="Calibri"/>
              </a:rPr>
              <a:t>0 Abweichungen</a:t>
            </a:r>
          </a:p>
        </p:txBody>
      </p:sp>
      <p:cxnSp>
        <p:nvCxnSpPr>
          <p:cNvPr id="13" name="Connector 12"/>
          <p:cNvCxnSpPr/>
          <p:nvPr/>
        </p:nvCxnSpPr>
        <p:spPr>
          <a:xfrm>
            <a:off x="7040000" y="1780000"/>
            <a:ext cx="200000" cy="0"/>
          </a:xfrm>
          <a:prstGeom prst="line">
            <a:avLst/>
          </a:prstGeom>
          <a:ln w="3810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260000" y="1500000"/>
            <a:ext cx="2000000" cy="56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Calibri"/>
              </a:rPr>
              <a:t>4  Analysieren</a:t>
            </a:r>
          </a:p>
        </p:txBody>
      </p:sp>
      <p:sp>
        <p:nvSpPr>
          <p:cNvPr id="15" name="Rectangle 14"/>
          <p:cNvSpPr/>
          <p:nvPr/>
        </p:nvSpPr>
        <p:spPr>
          <a:xfrm>
            <a:off x="7260000" y="2060000"/>
            <a:ext cx="2000000" cy="100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a:solidFill>
                  <a:srgbClr val="202020"/>
                </a:solidFill>
                <a:latin typeface="Calibri"/>
              </a:rPr>
              <a:t>vierfeldertafel(),</a:t>
            </a:r>
          </a:p>
          <a:p>
            <a:pPr algn="ctr"/>
            <a:r>
              <a:rPr sz="1300">
                <a:solidFill>
                  <a:srgbClr val="202020"/>
                </a:solidFill>
                <a:latin typeface="Calibri"/>
              </a:rPr>
              <a:t>pruefe_unabhaengigkeit()</a:t>
            </a:r>
          </a:p>
          <a:p>
            <a:pPr algn="ctr"/>
            <a:r>
              <a:rPr sz="1300">
                <a:solidFill>
                  <a:srgbClr val="202020"/>
                </a:solidFill>
                <a:latin typeface="Calibri"/>
              </a:rPr>
              <a:t>gesamt + je FB</a:t>
            </a:r>
          </a:p>
        </p:txBody>
      </p:sp>
      <p:cxnSp>
        <p:nvCxnSpPr>
          <p:cNvPr id="16" name="Connector 15"/>
          <p:cNvCxnSpPr/>
          <p:nvPr/>
        </p:nvCxnSpPr>
        <p:spPr>
          <a:xfrm>
            <a:off x="9280000" y="1780000"/>
            <a:ext cx="200000" cy="0"/>
          </a:xfrm>
          <a:prstGeom prst="line">
            <a:avLst/>
          </a:prstGeom>
          <a:ln w="3810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9500000" y="1500000"/>
            <a:ext cx="2000000" cy="56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Calibri"/>
              </a:rPr>
              <a:t>5  Darstellen</a:t>
            </a:r>
          </a:p>
        </p:txBody>
      </p:sp>
      <p:sp>
        <p:nvSpPr>
          <p:cNvPr id="18" name="Rectangle 17"/>
          <p:cNvSpPr/>
          <p:nvPr/>
        </p:nvSpPr>
        <p:spPr>
          <a:xfrm>
            <a:off x="9500000" y="2060000"/>
            <a:ext cx="2000000" cy="100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a:solidFill>
                  <a:srgbClr val="202020"/>
                </a:solidFill>
                <a:latin typeface="Calibri"/>
              </a:rPr>
              <a:t>matplotlib, Farbe je</a:t>
            </a:r>
          </a:p>
          <a:p>
            <a:pPr algn="ctr"/>
            <a:r>
              <a:rPr sz="1300">
                <a:solidFill>
                  <a:srgbClr val="202020"/>
                </a:solidFill>
                <a:latin typeface="Calibri"/>
              </a:rPr>
              <a:t>Geschlecht, PNG für</a:t>
            </a:r>
          </a:p>
          <a:p>
            <a:pPr algn="ctr"/>
            <a:r>
              <a:rPr sz="1300">
                <a:solidFill>
                  <a:srgbClr val="202020"/>
                </a:solidFill>
                <a:latin typeface="Calibri"/>
              </a:rPr>
              <a:t>Text und Folien</a:t>
            </a:r>
          </a:p>
        </p:txBody>
      </p:sp>
      <p:sp>
        <p:nvSpPr>
          <p:cNvPr id="19" name="TextBox 18"/>
          <p:cNvSpPr txBox="1"/>
          <p:nvPr/>
        </p:nvSpPr>
        <p:spPr>
          <a:xfrm>
            <a:off x="540000" y="3500000"/>
            <a:ext cx="11160000" cy="1800000"/>
          </a:xfrm>
          <a:prstGeom prst="rect">
            <a:avLst/>
          </a:prstGeom>
          <a:noFill/>
        </p:spPr>
        <p:txBody>
          <a:bodyPr wrap="square">
            <a:spAutoFit/>
          </a:bodyPr>
          <a:lstStyle/>
          <a:p>
            <a:pPr>
              <a:spcAft>
                <a:spcPts val="855"/>
              </a:spcAft>
            </a:pPr>
            <a:r>
              <a:rPr sz="1700" b="0">
                <a:solidFill>
                  <a:srgbClr val="52514E"/>
                </a:solidFill>
                <a:latin typeface="Calibri"/>
              </a:rPr>
              <a:t>•  Prinzip: Jeder wiederholte Schritt ist eine Funktion, gleiche Funktion für gesamt und je Fachbereich</a:t>
            </a:r>
          </a:p>
          <a:p>
            <a:pPr>
              <a:spcAft>
                <a:spcPts val="855"/>
              </a:spcAft>
            </a:pPr>
            <a:r>
              <a:rPr sz="1700" b="0">
                <a:solidFill>
                  <a:srgbClr val="52514E"/>
                </a:solidFill>
                <a:latin typeface="Calibri"/>
              </a:rPr>
              <a:t>•  Daten werden nur als Argumente übergeben (kein global), Ergebnisse mit return zurückgegeben</a:t>
            </a:r>
          </a:p>
          <a:p>
            <a:pPr>
              <a:spcAft>
                <a:spcPts val="855"/>
              </a:spcAft>
            </a:pPr>
            <a:r>
              <a:rPr sz="1700" b="0">
                <a:solidFill>
                  <a:srgbClr val="52514E"/>
                </a:solidFill>
                <a:latin typeface="Calibri"/>
              </a:rPr>
              <a:t>•  Fehler in der Datenerfassung werden durch try/except und zwei Gegenproben sofort sichtbar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