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a4c5c600-68f8-209a-9107-3699cd544712}">
          <p14:sldIdLst>
            <p14:sldId id="256"/>
            <p14:sldId id="257"/>
          </p14:sldIdLst>
        </p14:section>
        <p14:section name="(a) Funktionen" id="{41b5e312-54f2-6033-b612-b43e3d25bd54}">
          <p14:sldIdLst>
            <p14:sldId id="258"/>
            <p14:sldId id="259"/>
            <p14:sldId id="260"/>
          </p14:sldIdLst>
        </p14:section>
        <p14:section name="(b) Darstellung" id="{497b770b-23fd-0791-08dc-a3a9d02f68a1}">
          <p14:sldIdLst>
            <p14:sldId id="261"/>
            <p14:sldId id="262"/>
            <p14:sldId id="263"/>
          </p14:sldIdLst>
        </p14:section>
        <p14:section name="(c) Vergleich" id="{5f6f7a29-4fbf-c082-a303-80e24ae033cb}">
          <p14:sldIdLst>
            <p14:sldId id="264"/>
            <p14:sldId id="265"/>
            <p14:sldId id="266"/>
            <p14:sldId id="267"/>
            <p14:sldId id="268"/>
            <p14:sldId id="269"/>
          </p14:sldIdLst>
        </p14:section>
        <p14:section name="Schluss" id="{e5fd0cee-5ef6-123d-ac34-615ab80037bb}">
          <p14:sldIdLst>
            <p14:sldId id="270"/>
            <p14:sldId id="271"/>
          </p14:sldIdLst>
        </p14:section>
        <p14:section name="Reserve" id="{690e0c1a-296d-0985-0ce2-213825560dc7}">
          <p14:sldIdLst>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Gesamtquote</c:v>
                </c:pt>
              </c:strCache>
            </c:strRef>
          </c:tx>
          <c:spPr>
            <a:solidFill>
              <a:srgbClr val="D9541E"/>
            </a:solidFill>
            <a:effectLst/>
          </c:spPr>
          <c:invertIfNegative val="0"/>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D9541E"/>
              </a:solidFill>
              <a:effectLst/>
            </c:spPr>
          </c:dPt>
          <c:dPt>
            <c:idx val="1"/>
            <c:invertIfNegative val="0"/>
            <c:bubble3D val="0"/>
            <c:spPr>
              <a:solidFill>
                <a:srgbClr val="4A90C2"/>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600" u="none">
                  <a:solidFill>
                    <a:srgbClr val="1A1A1A"/>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6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Sheet1!$B$2:$B$7</c:f>
              <c:numCache>
                <c:formatCode>General</c:formatCode>
                <c:ptCount val="6"/>
                <c:pt idx="0">
                  <c:v>5.9</c:v>
                </c:pt>
                <c:pt idx="1">
                  <c:v>1.4</c:v>
                </c:pt>
                <c:pt idx="2">
                  <c:v>32.3</c:v>
                </c:pt>
                <c:pt idx="3">
                  <c:v>20.4</c:v>
                </c:pt>
                <c:pt idx="4">
                  <c:v>21.4</c:v>
                </c:pt>
                <c:pt idx="5">
                  <c:v>18.6</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c:v>
                  </c:pt>
                  <c:pt idx="1">
                    <c:v>FB B</c:v>
                  </c:pt>
                  <c:pt idx="2">
                    <c:v>FB C</c:v>
                  </c:pt>
                  <c:pt idx="3">
                    <c:v>FB D</c:v>
                  </c:pt>
                  <c:pt idx="4">
                    <c:v>FB E</c:v>
                  </c:pt>
                  <c:pt idx="5">
                    <c:v>FB F</c:v>
                  </c:pt>
                </c:lvl>
              </c:multiLvlStrCache>
            </c:multiLvlStrRef>
          </c:cat>
          <c:val>
            <c:numRef>
              <c:f>Sheet1!$C$2:$C$7</c:f>
              <c:numCache>
                <c:formatCode>General</c:formatCode>
                <c:ptCount val="6"/>
                <c:pt idx="0">
                  <c:v>30.7</c:v>
                </c:pt>
                <c:pt idx="1">
                  <c:v>20.8</c:v>
                </c:pt>
                <c:pt idx="2">
                  <c:v>12.1</c:v>
                </c:pt>
                <c:pt idx="3">
                  <c:v>15.5</c:v>
                </c:pt>
                <c:pt idx="4">
                  <c:v>7.1</c:v>
                </c:pt>
                <c:pt idx="5">
                  <c:v>13.9</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3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D9541E"/>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Sheet1!$B$2:$B$3</c:f>
              <c:numCache>
                <c:formatCode>General</c:formatCode>
                <c:ptCount val="2"/>
                <c:pt idx="0">
                  <c:v>30.4</c:v>
                </c:pt>
                <c:pt idx="1">
                  <c:v>43</c:v>
                </c:pt>
              </c:numCache>
            </c:numRef>
          </c:val>
        </c:ser>
        <c:ser>
          <c:idx val="1"/>
          <c:order val="1"/>
          <c:tx>
            <c:strRef>
              <c:f>Sheet1!$C$1</c:f>
              <c:strCache>
                <c:ptCount val="1"/>
                <c:pt idx="0">
                  <c:v>Männer</c:v>
                </c:pt>
              </c:strCache>
            </c:strRef>
          </c:tx>
          <c:spPr>
            <a:solidFill>
              <a:srgbClr val="4A90C2"/>
            </a:solidFill>
            <a:effectLst/>
          </c:spPr>
          <c:invertIfNegative val="0"/>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Sheet1!$A$2:$A$3</c:f>
              <c:multiLvlStrCache>
                <c:ptCount val="2"/>
                <c:lvl>
                  <c:pt idx="0">
                    <c:v>tatsächlich</c:v>
                  </c:pt>
                  <c:pt idx="1">
                    <c:v>bei gleicher Fachbereichswahl</c:v>
                  </c:pt>
                </c:lvl>
              </c:multiLvlStrCache>
            </c:multiLvlStrRef>
          </c:cat>
          <c:val>
            <c:numRef>
              <c:f>Sheet1!$C$2:$C$3</c:f>
              <c:numCache>
                <c:formatCode>General</c:formatCode>
                <c:ptCount val="2"/>
                <c:pt idx="0">
                  <c:v>44.5</c:v>
                </c:pt>
                <c:pt idx="1">
                  <c:v>38.7</c:v>
                </c:pt>
              </c:numCache>
            </c:numRef>
          </c:val>
        </c:ser>
        <c:dLbls>
          <c:numFmt formatCode="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300" b="0" i="0" u="none" strike="noStrike">
                <a:solidFill>
                  <a:srgbClr val="5F6672"/>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1] Begrüssung, Vorstellung der Gruppe. Ablauf: 1) Funktionen in Python, 2) die Daten und eine scheinbare Ungerechtigkeit, 3) der genaue Vergleich und stochastische Unabhängigkeit. Dauer ca. 15 Minuten (3 × 5 Min.: Sprecher/in 1 Folien 1–5, Sprecher/in 2 Folien 6–10, Sprecher/in 3 Folien 11–15). Falls 20 Minuten verlangt sind: Reservefolien 18–21 an den dort notierten Stellen einschieben. Rechts schon der Teaser: Männer 44.5 %, Frauen 30.4 %.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1] 1973 befürchtete die UC Berkeley eine Klage: aggregiert wurden deutlich weniger Frauen zugelassen. Grundlage sind 4 526 Bewerbungen in sechs Fachbereichen (Tabelle 4). Unsere drei Aufgaben: (a) Funktionen in Python, (b) Darstellung der scheinbaren Ungerechtigkeit, (c) Vergleich der Verteilungen und stochastische Unabhängigkeit.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1] Überleitung: Bevor wir die Daten analysieren, zeigen wir das Werkzeug, mit dem wir den Code organisieren: Funktionen.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1] Faustregel McKinney: Code, den man mehr als einmal braucht, gehört in eine Funktion. def/return, Positions- vs. Keyword-Argumente (Keyword nach Position, Reihenfolge egal). Lokaler Namensraum wird beim Aufruf erzeugt und danach zerstört; global möglichst vermeiden. Mehrere Rückgabewerte sind eigentlich ein Tupel; Alternative Dictionary. Rechts: unsere Anwendung.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1] Funktionen lassen sich in Listen speichern und als Argument übergeben (Muster clean_strings aus McKinney). Lambda: anonyme Einzeiler, ideal als Argument. partial: Currying. yield: Generator mit Lazy Evaluation. try/except: nur erwartete Fehler (ValueError) abfangen. Danach Übergabe an Sprecher/in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Übernahme. Zuerst: Wie haben wir die Umsetzung geplant? Danach: Wie sieht die Ungerechtigkeit auf einen Blick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Tabelle 4 hat nur Prozente. Für P(W) und Chi-Quadrat brauchen wir Anzahlen: aus Originaldatensatz, Code prüft Übereinstimmung mit Tabelle 4 (0 Abweichungen). Plausibilisierung: Satz der totalen Wahrscheinlichkeit reproduziert die Totalzeile. Langes DataFrame, wiederholte Schritte als Funktionen. Libraries: pandas, numpy, matplotlib, scipy; alle in Anaconda.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Ein einziger Vergleich genügt: Gesamtquote. Balken mit Nullachse, Werte direkt beschriftet. Männer 44.5 %, Frauen 30.4 %: 14.2 Prozentpunkte Differenz. Bei der Quote der Männer wären 817 statt 557 Frauen zugelassen worden. Also Diskriminierung? Das klären wir in Teil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Überleitung zu Teil (c): Jetzt schauen wir genauer hin, Fachbereich für Fachbereich.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Wendepunkt: In 4 von 6 Fachbereichen haben Frauen die höhere Quote, in A sogar +20.3 Prozentpunkte. Nur in C und E leicht tiefer (−2.8, −3.8). Danach Übergabe an Sprecher/in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51.5 % der Männer bewarben sich in A oder B (Quote ca. 64 %), aber nur 7.2 % der Frauen. 92.8 % der Frauen bewarben sich in C bis F mit Quoten von 6 bis 35 %. Das Diagramm zeigt die Anteile je Fachbereich.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Pro Fachbereich: Frauenanteil unter den Bewerbungen gegen die Zulassungsquote. Je höher der Frauenanteil, desto tiefer die Zulassungsquote des Fachbereichs: Korrelation r = −0.79. Die Punktfläche entspricht der Anzahl Bewerbungen.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Gesamtquote = gewichteter Mittelwert. Frauen haben hohe Gewichte bei tiefen Quoten. Gleiche Gewichte für beide (Verteilung aller Bewerbungen): Frauen 43.0 %, Männer 38.7 %. Der Unterschied kehrt sich um. Technisch: dieselbe Funktion gesamtquote, nur andere Gewichte.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Definition aus Teil 3: P(A|B) = P(A) bzw. P(A∩B) = P(A)P(B). Gesamt: 0.1231 statt 0.1572, also abhängig, Chi2 = 92.2, p &lt; 0.001. Je Fachbereich: B bis F unabhängig (p &gt; 0.3), nur A abhängig, aber zugunsten der Frauen. Bedingte Unabhängigkeit gegeben Fachbereich; der Fachbereich ist der Confounder.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Die Zusammenfassung verbirgt die Drittvariable Fachbereich: Simpson-Paradoxon. Aggregiert abhängig, je Fachbereich kein Nachteil für Frauen. Ursache: Frauen bewarben sich häufiger in umkämpften Fachbereichen. Grenzen: Beobachtungsdaten eines Jahres, offene Frage, warum Frauen sich in selektivere Fachbereiche bewarben. Programmtechnisch: Funktionen machen die Analyse wiederverwendbar.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Dank, Fragen aus dem Publikum entgegennehmen. Für Rückfragen stehen die Reservefolien 18–21 bereit.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Trennfolie für die Reservefolien. Bei 20 Minuten: Folie 21 nach Folie 7, Folie 18 nach Folie 13, Folien 19 und 20 nach Folie 14 einschieben.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Einsatz nach Folie 13. Jede Zeile: Anteil der Bewerbungen mal Quote ergibt den Beitrag des Fachbereichs zur Gesamtquote. Frauen: Die grossen Gewichte (C, D, E, F zusammen 92.8 %) liegen bei tiefen Quoten, darum ist die Summe klein. Männer: 51.5 % der Gewichte bei A und B mit hohen Quoten. Summe Männer 44.6 % statt 44.5 % ist nur ein Rundungseffekt von Tabelle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Einsatz nach Folie 14. Nullhypothese: Zulassung und Geschlecht sind unabhängig. Dann erwarten wir in jeder Zelle n · P(Z) · P(W), z. B. für zugelassene Frauen 4 526 · 0.388 · 0.405 = 711.5. Beobachtet sind aber nur 557. Chi-Quadrat summiert die quadrierten, standardisierten Abweichungen über alle vier Zellen: 92.2. Bei 1 Freiheitsgrad liegt der kritische Wert für alpha = 5 % bei 3.84, also wird H0 klar verworfen (p &lt; 0.001). Im Code: scipy.stats.chi2_contingency(tafel, correction=False).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3] Einsatz nach Folie 14 oder bei der Frage nach Kausalität. Der Fachbereich hängt mit beiden Variablen stark zusammen: Geschlecht und Fachbereichswahl (Chi2 = 1068, df = 5) und Fachbereich und Zulassung (Chi2 = 779, df = 5). Der direkte Pfeil Geschlecht -&gt; Zulassung ist innerhalb der Fachbereiche kaum vorhanden (nur A, zugunsten der Frauen). Das ist die Struktur eines Confounders und die Ursache des Simpson-Paradoxons. Korrelation ist nicht Kausalität.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[Sprecher/in 2] Einsatz nach Folie 7, falls nach dem Aufbau des Codes gefragt wird. Der Code läuft in fünf Schritten: Tabelle 4 als Text erfassen und mit einer Liste von Funktionen bereinigen; mit dem Satz der totalen Wahrscheinlichkeit plausibilisieren; Originalanzahlen in ein langes DataFrame laden und gegen Tabelle 4 prüfen; mit denselben Funktionen gesamt und je Fachbereich analysieren; Diagramme mit einheitlichen Farben als PNG speichern. Jeder Schritt ist eine eigene Notebook-Zelle.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HA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777240"/>
          </a:xfrm>
          <a:prstGeom prst="rect">
            <a:avLst/>
          </a:prstGeom>
          <a:noFill/>
          <a:ln/>
        </p:spPr>
        <p:txBody>
          <a:bodyPr wrap="square" rtlCol="0"/>
          <a:lstStyle>
            <a:lvl1pPr algn="l" indent="0" marL="0">
              <a:buNone/>
              <a:defRPr lang="en-US" sz="3200" b="1" dirty="0">
                <a:solidFill>
                  <a:srgbClr val="1A1A1A"/>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REI">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5F6672"/>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UNKEL">
    <p:bg>
      <p:bgPr>
        <a:solidFill>
          <a:srgbClr val="00326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786384"/>
            <a:ext cx="10820095" cy="1554480"/>
          </a:xfrm>
          <a:prstGeom prst="rect">
            <a:avLst/>
          </a:prstGeom>
          <a:noFill/>
          <a:ln/>
        </p:spPr>
        <p:txBody>
          <a:bodyPr wrap="square" rtlCol="0"/>
          <a:lstStyle>
            <a:lvl1pPr algn="l" indent="0" marL="0">
              <a:buNone/>
              <a:defRPr lang="en-US" sz="3200" b="1" dirty="0">
                <a:solidFill>
                  <a:srgbClr val="FFFFFF"/>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3" name="Text 0"/>
          <p:cNvSpPr/>
          <p:nvPr/>
        </p:nvSpPr>
        <p:spPr>
          <a:xfrm>
            <a:off x="685800" y="6382512"/>
            <a:ext cx="5486400" cy="256032"/>
          </a:xfrm>
          <a:prstGeom prst="rect">
            <a:avLst/>
          </a:prstGeom>
          <a:noFill/>
          <a:ln/>
        </p:spPr>
        <p:txBody>
          <a:bodyPr wrap="square" lIns="0" tIns="0" rIns="0" bIns="0" rtlCol="0" anchor="ctr"/>
          <a:lstStyle/>
          <a:p>
            <a:pPr indent="0" marL="0">
              <a:buNone/>
            </a:pPr>
            <a:r>
              <a:rPr lang="en-US" sz="1000" dirty="0">
                <a:solidFill>
                  <a:srgbClr val="C9D6E3"/>
                </a:solidFill>
                <a:latin typeface="Arial" pitchFamily="34" charset="0"/>
                <a:ea typeface="Arial" pitchFamily="34" charset="-122"/>
                <a:cs typeface="Arial" pitchFamily="34" charset="-120"/>
              </a:rPr>
              <a:t>Das Berkeley-Paradoxon  ·  UC Berkeley 1973</a:t>
            </a:r>
            <a:endParaRPr lang="en-US" sz="10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PITEL">
    <p:bg>
      <p:bgPr>
        <a:solidFill>
          <a:srgbClr val="00326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EL">
    <p:bg>
      <p:bgPr>
        <a:solidFill>
          <a:srgbClr val="00326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858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VORTRAG 4  ·  STATISTIK  ·  WIRTSCHAFTSINFORMATIK  ·  KLEINKLASSE HS 2026</a:t>
            </a:r>
            <a:endParaRPr lang="en-US" sz="1200" dirty="0"/>
          </a:p>
        </p:txBody>
      </p:sp>
      <p:sp>
        <p:nvSpPr>
          <p:cNvPr id="3" name="Text 1"/>
          <p:cNvSpPr txBox="1"/>
          <p:nvPr/>
        </p:nvSpPr>
        <p:spPr>
          <a:xfrm>
            <a:off x="685800" y="1600200"/>
            <a:ext cx="7132320" cy="2286000"/>
          </a:xfrm>
          <a:prstGeom prst="rect">
            <a:avLst/>
          </a:prstGeom>
          <a:noFill/>
          <a:ln/>
        </p:spPr>
        <p:txBody>
          <a:bodyPr wrap="square" lIns="0" tIns="0" rIns="0" bIns="0" rtlCol="0" anchor="t"/>
          <a:lstStyle/>
          <a:p>
            <a:pPr indent="0" marL="0">
              <a:lnSpc>
                <a:spcPct val="92000"/>
              </a:lnSpc>
              <a:buNone/>
            </a:pPr>
            <a:r>
              <a:rPr lang="en-US" sz="6400" b="1" dirty="0">
                <a:solidFill>
                  <a:srgbClr val="FFFFFF"/>
                </a:solidFill>
                <a:latin typeface="Arial" pitchFamily="34" charset="0"/>
                <a:ea typeface="Arial" pitchFamily="34" charset="-122"/>
                <a:cs typeface="Arial" pitchFamily="34" charset="-120"/>
              </a:rPr>
              <a:t>Das Berkeley-</a:t>
            </a:r>
            <a:endParaRPr lang="en-US" sz="6400" dirty="0"/>
          </a:p>
          <a:p>
            <a:pPr indent="0" marL="0">
              <a:lnSpc>
                <a:spcPct val="92000"/>
              </a:lnSpc>
              <a:buNone/>
            </a:pPr>
            <a:r>
              <a:rPr lang="en-US" sz="6400" b="1" dirty="0">
                <a:solidFill>
                  <a:srgbClr val="FFFFFF"/>
                </a:solidFill>
                <a:latin typeface="Arial" pitchFamily="34" charset="0"/>
                <a:ea typeface="Arial" pitchFamily="34" charset="-122"/>
                <a:cs typeface="Arial" pitchFamily="34" charset="-120"/>
              </a:rPr>
              <a:t>Paradoxon</a:t>
            </a:r>
            <a:endParaRPr lang="en-US" sz="6400" dirty="0"/>
          </a:p>
        </p:txBody>
      </p:sp>
      <p:sp>
        <p:nvSpPr>
          <p:cNvPr id="4" name="Text 2"/>
          <p:cNvSpPr txBox="1"/>
          <p:nvPr/>
        </p:nvSpPr>
        <p:spPr>
          <a:xfrm>
            <a:off x="685800" y="3977640"/>
            <a:ext cx="6583680" cy="914400"/>
          </a:xfrm>
          <a:prstGeom prst="rect">
            <a:avLst/>
          </a:prstGeom>
          <a:noFill/>
          <a:ln/>
        </p:spPr>
        <p:txBody>
          <a:bodyPr wrap="square" lIns="0" tIns="0" rIns="0" bIns="0" rtlCol="0" anchor="t"/>
          <a:lstStyle/>
          <a:p>
            <a:pPr indent="0" marL="0">
              <a:lnSpc>
                <a:spcPct val="110000"/>
              </a:lnSpc>
              <a:buNone/>
            </a:pPr>
            <a:r>
              <a:rPr lang="en-US" sz="1900" dirty="0">
                <a:solidFill>
                  <a:srgbClr val="C9D6E3"/>
                </a:solidFill>
                <a:latin typeface="Arial" pitchFamily="34" charset="0"/>
                <a:ea typeface="Arial" pitchFamily="34" charset="-122"/>
                <a:cs typeface="Arial" pitchFamily="34" charset="-120"/>
              </a:rPr>
              <a:t>Zulassungen an der UC Berkeley 1973: Funktionen in Python, Visualisierung und stochastische Unabhängigkeit</a:t>
            </a:r>
            <a:endParaRPr lang="en-US" sz="1900" dirty="0"/>
          </a:p>
        </p:txBody>
      </p:sp>
      <p:sp>
        <p:nvSpPr>
          <p:cNvPr id="5" name="Text 3"/>
          <p:cNvSpPr txBox="1"/>
          <p:nvPr/>
        </p:nvSpPr>
        <p:spPr>
          <a:xfrm>
            <a:off x="685800" y="5897880"/>
            <a:ext cx="7315200" cy="32004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6" name="Shape 4"/>
          <p:cNvSpPr/>
          <p:nvPr/>
        </p:nvSpPr>
        <p:spPr>
          <a:xfrm>
            <a:off x="8732520" y="2942005"/>
            <a:ext cx="960120" cy="2498675"/>
          </a:xfrm>
          <a:prstGeom prst="rect">
            <a:avLst/>
          </a:prstGeom>
          <a:solidFill>
            <a:srgbClr val="D9541E"/>
          </a:solidFill>
          <a:ln/>
        </p:spPr>
      </p:sp>
      <p:sp>
        <p:nvSpPr>
          <p:cNvPr id="7" name="Text 5"/>
          <p:cNvSpPr txBox="1"/>
          <p:nvPr/>
        </p:nvSpPr>
        <p:spPr>
          <a:xfrm>
            <a:off x="8549640" y="2484805"/>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30.4 %</a:t>
            </a:r>
            <a:endParaRPr lang="en-US" sz="2000" dirty="0"/>
          </a:p>
        </p:txBody>
      </p:sp>
      <p:sp>
        <p:nvSpPr>
          <p:cNvPr id="8" name="Text 6"/>
          <p:cNvSpPr txBox="1"/>
          <p:nvPr/>
        </p:nvSpPr>
        <p:spPr>
          <a:xfrm>
            <a:off x="85496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Frauen</a:t>
            </a:r>
            <a:endParaRPr lang="en-US" sz="1300" dirty="0"/>
          </a:p>
        </p:txBody>
      </p:sp>
      <p:sp>
        <p:nvSpPr>
          <p:cNvPr id="9" name="Shape 7"/>
          <p:cNvSpPr/>
          <p:nvPr/>
        </p:nvSpPr>
        <p:spPr>
          <a:xfrm>
            <a:off x="10104120" y="1783080"/>
            <a:ext cx="960120" cy="3657600"/>
          </a:xfrm>
          <a:prstGeom prst="rect">
            <a:avLst/>
          </a:prstGeom>
          <a:solidFill>
            <a:srgbClr val="4A90C2"/>
          </a:solidFill>
          <a:ln/>
        </p:spPr>
      </p:sp>
      <p:sp>
        <p:nvSpPr>
          <p:cNvPr id="10" name="Text 8"/>
          <p:cNvSpPr txBox="1"/>
          <p:nvPr/>
        </p:nvSpPr>
        <p:spPr>
          <a:xfrm>
            <a:off x="9921240" y="1325880"/>
            <a:ext cx="132588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44.5 %</a:t>
            </a:r>
            <a:endParaRPr lang="en-US" sz="2000" dirty="0"/>
          </a:p>
        </p:txBody>
      </p:sp>
      <p:sp>
        <p:nvSpPr>
          <p:cNvPr id="11" name="Text 9"/>
          <p:cNvSpPr txBox="1"/>
          <p:nvPr/>
        </p:nvSpPr>
        <p:spPr>
          <a:xfrm>
            <a:off x="9921240" y="5550408"/>
            <a:ext cx="1325880" cy="274320"/>
          </a:xfrm>
          <a:prstGeom prst="rect">
            <a:avLst/>
          </a:prstGeom>
          <a:noFill/>
          <a:ln/>
        </p:spPr>
        <p:txBody>
          <a:bodyPr wrap="square" lIns="0" tIns="0" rIns="0" bIns="0" rtlCol="0" anchor="t"/>
          <a:lstStyle/>
          <a:p>
            <a:pPr algn="ctr" indent="0" marL="0">
              <a:buNone/>
            </a:pPr>
            <a:r>
              <a:rPr lang="en-US" sz="1300" dirty="0">
                <a:solidFill>
                  <a:srgbClr val="C9D6E3"/>
                </a:solidFill>
                <a:latin typeface="Arial" pitchFamily="34" charset="0"/>
                <a:ea typeface="Arial" pitchFamily="34" charset="-122"/>
                <a:cs typeface="Arial" pitchFamily="34" charset="-120"/>
              </a:rPr>
              <a:t>Männer</a:t>
            </a:r>
            <a:endParaRPr lang="en-US" sz="1300" dirty="0"/>
          </a:p>
        </p:txBody>
      </p:sp>
      <p:sp>
        <p:nvSpPr>
          <p:cNvPr id="12" name="Text 10"/>
          <p:cNvSpPr txBox="1"/>
          <p:nvPr/>
        </p:nvSpPr>
        <p:spPr>
          <a:xfrm>
            <a:off x="8549640" y="5943600"/>
            <a:ext cx="2971800" cy="274320"/>
          </a:xfrm>
          <a:prstGeom prst="rect">
            <a:avLst/>
          </a:prstGeom>
          <a:noFill/>
          <a:ln/>
        </p:spPr>
        <p:txBody>
          <a:bodyPr wrap="square" lIns="0" tIns="0" rIns="0" bIns="0" rtlCol="0" anchor="t"/>
          <a:lstStyle/>
          <a:p>
            <a:pPr algn="r" indent="0" marL="0">
              <a:buNone/>
            </a:pPr>
            <a:r>
              <a:rPr lang="en-US" sz="1100" dirty="0">
                <a:solidFill>
                  <a:srgbClr val="C9D6E3"/>
                </a:solidFill>
                <a:latin typeface="Arial" pitchFamily="34" charset="0"/>
                <a:ea typeface="Arial" pitchFamily="34" charset="-122"/>
                <a:cs typeface="Arial" pitchFamily="34" charset="-120"/>
              </a:rPr>
              <a:t>Zulassungsquote, alle Fachbereiche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AUSGANGSLAGE</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Diskriminierung in Berkeley?</a:t>
            </a:r>
            <a:endParaRPr lang="en-US" sz="3200" dirty="0"/>
          </a:p>
        </p:txBody>
      </p:sp>
      <p:sp>
        <p:nvSpPr>
          <p:cNvPr id="4" name="Text 2"/>
          <p:cNvSpPr txBox="1"/>
          <p:nvPr/>
        </p:nvSpPr>
        <p:spPr>
          <a:xfrm>
            <a:off x="685800" y="1874520"/>
            <a:ext cx="4754880" cy="1234440"/>
          </a:xfrm>
          <a:prstGeom prst="rect">
            <a:avLst/>
          </a:prstGeom>
          <a:noFill/>
          <a:ln/>
        </p:spPr>
        <p:txBody>
          <a:bodyPr wrap="square" lIns="0" tIns="0" rIns="0" bIns="0" rtlCol="0" anchor="t"/>
          <a:lstStyle/>
          <a:p>
            <a:pPr indent="0" marL="0">
              <a:buNone/>
            </a:pPr>
            <a:r>
              <a:rPr lang="en-US" sz="9600" b="1" dirty="0">
                <a:solidFill>
                  <a:srgbClr val="003262"/>
                </a:solidFill>
                <a:latin typeface="Arial" pitchFamily="34" charset="0"/>
                <a:ea typeface="Arial" pitchFamily="34" charset="-122"/>
                <a:cs typeface="Arial" pitchFamily="34" charset="-120"/>
              </a:rPr>
              <a:t>4 526</a:t>
            </a:r>
            <a:endParaRPr lang="en-US" sz="9600" dirty="0"/>
          </a:p>
        </p:txBody>
      </p:sp>
      <p:sp>
        <p:nvSpPr>
          <p:cNvPr id="5" name="Text 3"/>
          <p:cNvSpPr txBox="1"/>
          <p:nvPr/>
        </p:nvSpPr>
        <p:spPr>
          <a:xfrm>
            <a:off x="685800" y="3337560"/>
            <a:ext cx="4480560" cy="731520"/>
          </a:xfrm>
          <a:prstGeom prst="rect">
            <a:avLst/>
          </a:prstGeom>
          <a:noFill/>
          <a:ln/>
        </p:spPr>
        <p:txBody>
          <a:bodyPr wrap="square" lIns="0" tIns="0" rIns="0" bIns="0" rtlCol="0" anchor="t"/>
          <a:lstStyle/>
          <a:p>
            <a:pPr indent="0" marL="0">
              <a:buNone/>
            </a:pPr>
            <a:r>
              <a:rPr lang="en-US" sz="1900" dirty="0">
                <a:solidFill>
                  <a:srgbClr val="1A1A1A"/>
                </a:solidFill>
                <a:latin typeface="Arial" pitchFamily="34" charset="0"/>
                <a:ea typeface="Arial" pitchFamily="34" charset="-122"/>
                <a:cs typeface="Arial" pitchFamily="34" charset="-120"/>
              </a:rPr>
              <a:t>Bewerbungen für ein Graduate-Studium in 6 Fachbereichen (A bis F)</a:t>
            </a:r>
            <a:endParaRPr lang="en-US" sz="1900" dirty="0"/>
          </a:p>
        </p:txBody>
      </p:sp>
      <p:sp>
        <p:nvSpPr>
          <p:cNvPr id="6" name="Text 4"/>
          <p:cNvSpPr txBox="1"/>
          <p:nvPr/>
        </p:nvSpPr>
        <p:spPr>
          <a:xfrm>
            <a:off x="685800" y="4297680"/>
            <a:ext cx="4206240" cy="7315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Zulassungsquote je Fachbereich und Geschlecht sowie Verteilung der Bewerbungen</a:t>
            </a:r>
            <a:endParaRPr lang="en-US" sz="1400" dirty="0"/>
          </a:p>
        </p:txBody>
      </p:sp>
      <p:sp>
        <p:nvSpPr>
          <p:cNvPr id="7" name="Shape 5"/>
          <p:cNvSpPr/>
          <p:nvPr/>
        </p:nvSpPr>
        <p:spPr>
          <a:xfrm>
            <a:off x="6035040" y="1828800"/>
            <a:ext cx="5470855" cy="0"/>
          </a:xfrm>
          <a:prstGeom prst="line">
            <a:avLst/>
          </a:prstGeom>
          <a:noFill/>
          <a:ln w="9525">
            <a:solidFill>
              <a:srgbClr val="C9CED6"/>
            </a:solidFill>
            <a:prstDash val="solid"/>
          </a:ln>
        </p:spPr>
      </p:sp>
      <p:sp>
        <p:nvSpPr>
          <p:cNvPr id="8" name="Text 6"/>
          <p:cNvSpPr txBox="1"/>
          <p:nvPr/>
        </p:nvSpPr>
        <p:spPr>
          <a:xfrm>
            <a:off x="6035040" y="20574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(a)</a:t>
            </a:r>
            <a:endParaRPr lang="en-US" sz="2600" dirty="0"/>
          </a:p>
        </p:txBody>
      </p:sp>
      <p:sp>
        <p:nvSpPr>
          <p:cNvPr id="9" name="Text 7"/>
          <p:cNvSpPr txBox="1"/>
          <p:nvPr/>
        </p:nvSpPr>
        <p:spPr>
          <a:xfrm>
            <a:off x="6949440" y="20848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Funktionen in Python</a:t>
            </a:r>
            <a:endParaRPr lang="en-US" sz="2000" dirty="0"/>
          </a:p>
        </p:txBody>
      </p:sp>
      <p:sp>
        <p:nvSpPr>
          <p:cNvPr id="10" name="Text 8"/>
          <p:cNvSpPr txBox="1"/>
          <p:nvPr/>
        </p:nvSpPr>
        <p:spPr>
          <a:xfrm>
            <a:off x="6949440" y="24871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McKinney 2018, Abschnitt 3.2</a:t>
            </a:r>
            <a:endParaRPr lang="en-US" sz="1500" dirty="0"/>
          </a:p>
        </p:txBody>
      </p:sp>
      <p:sp>
        <p:nvSpPr>
          <p:cNvPr id="11" name="Shape 9"/>
          <p:cNvSpPr/>
          <p:nvPr/>
        </p:nvSpPr>
        <p:spPr>
          <a:xfrm>
            <a:off x="6035040" y="3200400"/>
            <a:ext cx="5470855" cy="0"/>
          </a:xfrm>
          <a:prstGeom prst="line">
            <a:avLst/>
          </a:prstGeom>
          <a:noFill/>
          <a:ln w="9525">
            <a:solidFill>
              <a:srgbClr val="C9CED6"/>
            </a:solidFill>
            <a:prstDash val="solid"/>
          </a:ln>
        </p:spPr>
      </p:sp>
      <p:sp>
        <p:nvSpPr>
          <p:cNvPr id="12" name="Text 10"/>
          <p:cNvSpPr txBox="1"/>
          <p:nvPr/>
        </p:nvSpPr>
        <p:spPr>
          <a:xfrm>
            <a:off x="6035040" y="34290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(b)</a:t>
            </a:r>
            <a:endParaRPr lang="en-US" sz="2600" dirty="0"/>
          </a:p>
        </p:txBody>
      </p:sp>
      <p:sp>
        <p:nvSpPr>
          <p:cNvPr id="13" name="Text 11"/>
          <p:cNvSpPr txBox="1"/>
          <p:nvPr/>
        </p:nvSpPr>
        <p:spPr>
          <a:xfrm>
            <a:off x="6949440" y="3456432"/>
            <a:ext cx="4553712" cy="658368"/>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Die Ungerechtigkeit auf einen Blick darstellen</a:t>
            </a:r>
            <a:endParaRPr lang="en-US" sz="2000" dirty="0"/>
          </a:p>
        </p:txBody>
      </p:sp>
      <p:sp>
        <p:nvSpPr>
          <p:cNvPr id="14" name="Text 12"/>
          <p:cNvSpPr txBox="1"/>
          <p:nvPr/>
        </p:nvSpPr>
        <p:spPr>
          <a:xfrm>
            <a:off x="6949440" y="4187952"/>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Umsetzung in Python</a:t>
            </a:r>
            <a:endParaRPr lang="en-US" sz="1500" dirty="0"/>
          </a:p>
        </p:txBody>
      </p:sp>
      <p:sp>
        <p:nvSpPr>
          <p:cNvPr id="15" name="Shape 13"/>
          <p:cNvSpPr/>
          <p:nvPr/>
        </p:nvSpPr>
        <p:spPr>
          <a:xfrm>
            <a:off x="6035040" y="4572000"/>
            <a:ext cx="5470855" cy="0"/>
          </a:xfrm>
          <a:prstGeom prst="line">
            <a:avLst/>
          </a:prstGeom>
          <a:noFill/>
          <a:ln w="9525">
            <a:solidFill>
              <a:srgbClr val="C9CED6"/>
            </a:solidFill>
            <a:prstDash val="solid"/>
          </a:ln>
        </p:spPr>
      </p:sp>
      <p:sp>
        <p:nvSpPr>
          <p:cNvPr id="16" name="Text 14"/>
          <p:cNvSpPr txBox="1"/>
          <p:nvPr/>
        </p:nvSpPr>
        <p:spPr>
          <a:xfrm>
            <a:off x="6035040" y="4800600"/>
            <a:ext cx="822960" cy="457200"/>
          </a:xfrm>
          <a:prstGeom prst="rect">
            <a:avLst/>
          </a:prstGeom>
          <a:noFill/>
          <a:ln/>
        </p:spPr>
        <p:txBody>
          <a:bodyPr wrap="square" lIns="0" tIns="0" rIns="0" bIns="0" rtlCol="0" anchor="t"/>
          <a:lstStyle/>
          <a:p>
            <a:pPr indent="0" marL="0">
              <a:buNone/>
            </a:pPr>
            <a:r>
              <a:rPr lang="en-US" sz="2600" b="1" dirty="0">
                <a:solidFill>
                  <a:srgbClr val="003262"/>
                </a:solidFill>
                <a:latin typeface="Arial" pitchFamily="34" charset="0"/>
                <a:ea typeface="Arial" pitchFamily="34" charset="-122"/>
                <a:cs typeface="Arial" pitchFamily="34" charset="-120"/>
              </a:rPr>
              <a:t>(c)</a:t>
            </a:r>
            <a:endParaRPr lang="en-US" sz="2600" dirty="0"/>
          </a:p>
        </p:txBody>
      </p:sp>
      <p:sp>
        <p:nvSpPr>
          <p:cNvPr id="17" name="Text 15"/>
          <p:cNvSpPr txBox="1"/>
          <p:nvPr/>
        </p:nvSpPr>
        <p:spPr>
          <a:xfrm>
            <a:off x="6949440" y="4828032"/>
            <a:ext cx="4553712" cy="329184"/>
          </a:xfrm>
          <a:prstGeom prst="rect">
            <a:avLst/>
          </a:prstGeom>
          <a:noFill/>
          <a:ln/>
        </p:spPr>
        <p:txBody>
          <a:bodyPr wrap="square" lIns="0" tIns="0" rIns="0" bIns="0" rtlCol="0" anchor="t"/>
          <a:lstStyle/>
          <a:p>
            <a:pPr indent="0" marL="0">
              <a:buNone/>
            </a:pPr>
            <a:r>
              <a:rPr lang="en-US" sz="2000" b="1" dirty="0">
                <a:solidFill>
                  <a:srgbClr val="1A1A1A"/>
                </a:solidFill>
                <a:latin typeface="Arial" pitchFamily="34" charset="0"/>
                <a:ea typeface="Arial" pitchFamily="34" charset="-122"/>
                <a:cs typeface="Arial" pitchFamily="34" charset="-120"/>
              </a:rPr>
              <a:t>Verteilungen vergleichen</a:t>
            </a:r>
            <a:endParaRPr lang="en-US" sz="2000" dirty="0"/>
          </a:p>
        </p:txBody>
      </p:sp>
      <p:sp>
        <p:nvSpPr>
          <p:cNvPr id="18" name="Text 16"/>
          <p:cNvSpPr txBox="1"/>
          <p:nvPr/>
        </p:nvSpPr>
        <p:spPr>
          <a:xfrm>
            <a:off x="6949440" y="5230368"/>
            <a:ext cx="4553712" cy="3200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Stochastische Unabhängigkeit prüfen</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1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(a)</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Funktionen in Python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Grundlagen nach McKinney (2018), Abschnitt 3.2 – angewendet auf die Berkeley-Daten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989320" y="1783080"/>
            <a:ext cx="6202375" cy="4343400"/>
          </a:xfrm>
          <a:prstGeom prst="rect">
            <a:avLst/>
          </a:prstGeom>
          <a:solidFill>
            <a:srgbClr val="0E1E33"/>
          </a:solidFill>
          <a:ln/>
        </p:spPr>
      </p:sp>
      <p:sp>
        <p:nvSpPr>
          <p:cNvPr id="3" name="Text 1"/>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4"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Grundlagen</a:t>
            </a:r>
            <a:endParaRPr lang="en-US" sz="3200" dirty="0"/>
          </a:p>
        </p:txBody>
      </p:sp>
      <p:sp>
        <p:nvSpPr>
          <p:cNvPr id="5" name="Text 3"/>
          <p:cNvSpPr txBox="1"/>
          <p:nvPr/>
        </p:nvSpPr>
        <p:spPr>
          <a:xfrm>
            <a:off x="685800" y="1856232"/>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01</a:t>
            </a:r>
            <a:endParaRPr lang="en-US" sz="1500" dirty="0"/>
          </a:p>
        </p:txBody>
      </p:sp>
      <p:sp>
        <p:nvSpPr>
          <p:cNvPr id="6" name="Text 4"/>
          <p:cNvSpPr txBox="1"/>
          <p:nvPr/>
        </p:nvSpPr>
        <p:spPr>
          <a:xfrm>
            <a:off x="1325880" y="1828800"/>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def und return</a:t>
            </a:r>
            <a:endParaRPr lang="en-US" sz="1900" dirty="0"/>
          </a:p>
        </p:txBody>
      </p:sp>
      <p:sp>
        <p:nvSpPr>
          <p:cNvPr id="7" name="Text 5"/>
          <p:cNvSpPr txBox="1"/>
          <p:nvPr/>
        </p:nvSpPr>
        <p:spPr>
          <a:xfrm>
            <a:off x="1325880" y="2212848"/>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def deklariert, return gibt zurück (ohne return: None)</a:t>
            </a:r>
            <a:endParaRPr lang="en-US" sz="1500" dirty="0"/>
          </a:p>
        </p:txBody>
      </p:sp>
      <p:sp>
        <p:nvSpPr>
          <p:cNvPr id="8" name="Text 6"/>
          <p:cNvSpPr txBox="1"/>
          <p:nvPr/>
        </p:nvSpPr>
        <p:spPr>
          <a:xfrm>
            <a:off x="685800" y="2935224"/>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02</a:t>
            </a:r>
            <a:endParaRPr lang="en-US" sz="1500" dirty="0"/>
          </a:p>
        </p:txBody>
      </p:sp>
      <p:sp>
        <p:nvSpPr>
          <p:cNvPr id="9" name="Text 7"/>
          <p:cNvSpPr txBox="1"/>
          <p:nvPr/>
        </p:nvSpPr>
        <p:spPr>
          <a:xfrm>
            <a:off x="1325880" y="2907792"/>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Argumente</a:t>
            </a:r>
            <a:endParaRPr lang="en-US" sz="1900" dirty="0"/>
          </a:p>
        </p:txBody>
      </p:sp>
      <p:sp>
        <p:nvSpPr>
          <p:cNvPr id="10" name="Text 8"/>
          <p:cNvSpPr txBox="1"/>
          <p:nvPr/>
        </p:nvSpPr>
        <p:spPr>
          <a:xfrm>
            <a:off x="1325880" y="3291840"/>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Positions- und Keyword-Argumente mit Standardwert</a:t>
            </a:r>
            <a:endParaRPr lang="en-US" sz="1500" dirty="0"/>
          </a:p>
        </p:txBody>
      </p:sp>
      <p:sp>
        <p:nvSpPr>
          <p:cNvPr id="11" name="Text 9"/>
          <p:cNvSpPr txBox="1"/>
          <p:nvPr/>
        </p:nvSpPr>
        <p:spPr>
          <a:xfrm>
            <a:off x="685800" y="4014216"/>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03</a:t>
            </a:r>
            <a:endParaRPr lang="en-US" sz="1500" dirty="0"/>
          </a:p>
        </p:txBody>
      </p:sp>
      <p:sp>
        <p:nvSpPr>
          <p:cNvPr id="12" name="Text 10"/>
          <p:cNvSpPr txBox="1"/>
          <p:nvPr/>
        </p:nvSpPr>
        <p:spPr>
          <a:xfrm>
            <a:off x="1325880" y="3986784"/>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Namensraum</a:t>
            </a:r>
            <a:endParaRPr lang="en-US" sz="1900" dirty="0"/>
          </a:p>
        </p:txBody>
      </p:sp>
      <p:sp>
        <p:nvSpPr>
          <p:cNvPr id="13" name="Text 11"/>
          <p:cNvSpPr txBox="1"/>
          <p:nvPr/>
        </p:nvSpPr>
        <p:spPr>
          <a:xfrm>
            <a:off x="1325880" y="4370832"/>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Lokaler Namensraum; global vermeiden</a:t>
            </a:r>
            <a:endParaRPr lang="en-US" sz="1500" dirty="0"/>
          </a:p>
        </p:txBody>
      </p:sp>
      <p:sp>
        <p:nvSpPr>
          <p:cNvPr id="14" name="Text 12"/>
          <p:cNvSpPr txBox="1"/>
          <p:nvPr/>
        </p:nvSpPr>
        <p:spPr>
          <a:xfrm>
            <a:off x="685800" y="5093208"/>
            <a:ext cx="548640" cy="3200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04</a:t>
            </a:r>
            <a:endParaRPr lang="en-US" sz="1500" dirty="0"/>
          </a:p>
        </p:txBody>
      </p:sp>
      <p:sp>
        <p:nvSpPr>
          <p:cNvPr id="15" name="Text 13"/>
          <p:cNvSpPr txBox="1"/>
          <p:nvPr/>
        </p:nvSpPr>
        <p:spPr>
          <a:xfrm>
            <a:off x="1325880" y="5065776"/>
            <a:ext cx="4297680"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Rückgabewerte</a:t>
            </a:r>
            <a:endParaRPr lang="en-US" sz="1900" dirty="0"/>
          </a:p>
        </p:txBody>
      </p:sp>
      <p:sp>
        <p:nvSpPr>
          <p:cNvPr id="16" name="Text 14"/>
          <p:cNvSpPr txBox="1"/>
          <p:nvPr/>
        </p:nvSpPr>
        <p:spPr>
          <a:xfrm>
            <a:off x="1325880" y="5449824"/>
            <a:ext cx="429768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Mehrere Rückgabewerte = ein Tupel, alternativ Dictionary</a:t>
            </a:r>
            <a:endParaRPr lang="en-US" sz="1500" dirty="0"/>
          </a:p>
        </p:txBody>
      </p:sp>
      <p:sp>
        <p:nvSpPr>
          <p:cNvPr id="17" name="Text 15"/>
          <p:cNvSpPr txBox="1"/>
          <p:nvPr/>
        </p:nvSpPr>
        <p:spPr>
          <a:xfrm>
            <a:off x="6355080" y="2057400"/>
            <a:ext cx="4572000" cy="274320"/>
          </a:xfrm>
          <a:prstGeom prst="rect">
            <a:avLst/>
          </a:prstGeom>
          <a:noFill/>
          <a:ln/>
        </p:spPr>
        <p:txBody>
          <a:bodyPr wrap="square" lIns="0" tIns="0" rIns="0" bIns="0" rtlCol="0" anchor="t"/>
          <a:lstStyle/>
          <a:p>
            <a:pPr indent="0" marL="0">
              <a:buNone/>
            </a:pPr>
            <a:r>
              <a:rPr lang="en-US" sz="1100" b="1" spc="200" kern="0" dirty="0">
                <a:solidFill>
                  <a:srgbClr val="FDB515"/>
                </a:solidFill>
                <a:latin typeface="Arial" pitchFamily="34" charset="0"/>
                <a:ea typeface="Arial" pitchFamily="34" charset="-122"/>
                <a:cs typeface="Arial" pitchFamily="34" charset="-120"/>
              </a:rPr>
              <a:t>UNSERE ANWENDUNG</a:t>
            </a:r>
            <a:endParaRPr lang="en-US" sz="1100" dirty="0"/>
          </a:p>
        </p:txBody>
      </p:sp>
      <p:sp>
        <p:nvSpPr>
          <p:cNvPr id="18" name="Text 16"/>
          <p:cNvSpPr txBox="1"/>
          <p:nvPr/>
        </p:nvSpPr>
        <p:spPr>
          <a:xfrm>
            <a:off x="6355080" y="2468880"/>
            <a:ext cx="5440680" cy="3474720"/>
          </a:xfrm>
          <a:prstGeom prst="rect">
            <a:avLst/>
          </a:prstGeom>
          <a:noFill/>
          <a:ln/>
        </p:spPr>
        <p:txBody>
          <a:bodyPr wrap="square" lIns="0" tIns="0" rIns="0" bIns="0" rtlCol="0" anchor="t"/>
          <a:lstStyle/>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vierfeldertafel(daten, fachbereich=None):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if fachbereich is not None: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 = daten[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daten["Fachbereich"] == fachbereich]</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daten.pivot_table(</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index="Geschlecht", columns="Entscheid",</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values="Anzahl", aggfunc="sum")</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def kennzahlen(zugelassen, abgelehnt,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zugelassen + abgelehnt</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return (zugelassen / bewerbungen,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bewerbungen / total)</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 </a:t>
            </a:r>
            <a:endParaRPr lang="en-US" sz="1300" dirty="0"/>
          </a:p>
          <a:p>
            <a:pPr indent="0" marL="0">
              <a:lnSpc>
                <a:spcPct val="105000"/>
              </a:lnSpc>
              <a:buNone/>
            </a:pPr>
            <a:r>
              <a:rPr lang="en-US" sz="1300" dirty="0">
                <a:solidFill>
                  <a:srgbClr val="FDB515"/>
                </a:solidFill>
                <a:latin typeface="Courier New" pitchFamily="34" charset="0"/>
                <a:ea typeface="Courier New" pitchFamily="34" charset="-122"/>
                <a:cs typeface="Courier New" pitchFamily="34" charset="-120"/>
              </a:rPr>
              <a:t># Tupel entpacken</a:t>
            </a:r>
            <a:endParaRPr lang="en-US" sz="1300" dirty="0"/>
          </a:p>
          <a:p>
            <a:pPr indent="0" marL="0">
              <a:lnSpc>
                <a:spcPct val="105000"/>
              </a:lnSpc>
              <a:buNone/>
            </a:pPr>
            <a:r>
              <a:rPr lang="en-US" sz="1300" dirty="0">
                <a:solidFill>
                  <a:srgbClr val="E6EDF5"/>
                </a:solidFill>
                <a:latin typeface="Courier New" pitchFamily="34" charset="0"/>
                <a:ea typeface="Courier New" pitchFamily="34" charset="-122"/>
                <a:cs typeface="Courier New" pitchFamily="34" charset="-120"/>
              </a:rPr>
              <a:t>quote, anteil = kennzahlen(89, 19, 1835)</a:t>
            </a:r>
            <a:endParaRPr lang="en-US" sz="13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(A) FUNKTIONEN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Funktionen als Objekte, Lambda, yield</a:t>
            </a:r>
            <a:endParaRPr lang="en-US" sz="3200" dirty="0"/>
          </a:p>
        </p:txBody>
      </p:sp>
      <p:sp>
        <p:nvSpPr>
          <p:cNvPr id="4" name="Shape 2"/>
          <p:cNvSpPr/>
          <p:nvPr/>
        </p:nvSpPr>
        <p:spPr>
          <a:xfrm>
            <a:off x="685800" y="1783080"/>
            <a:ext cx="5272888" cy="2103120"/>
          </a:xfrm>
          <a:prstGeom prst="rect">
            <a:avLst/>
          </a:prstGeom>
          <a:solidFill>
            <a:srgbClr val="F1F3F5"/>
          </a:solidFill>
          <a:ln/>
        </p:spPr>
      </p:sp>
      <p:sp>
        <p:nvSpPr>
          <p:cNvPr id="5" name="Text 3"/>
          <p:cNvSpPr txBox="1"/>
          <p:nvPr/>
        </p:nvSpPr>
        <p:spPr>
          <a:xfrm>
            <a:off x="960120"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Funktionen sind Objekte</a:t>
            </a:r>
            <a:endParaRPr lang="en-US" sz="1800" dirty="0"/>
          </a:p>
        </p:txBody>
      </p:sp>
      <p:sp>
        <p:nvSpPr>
          <p:cNvPr id="6" name="Text 4"/>
          <p:cNvSpPr txBox="1"/>
          <p:nvPr/>
        </p:nvSpPr>
        <p:spPr>
          <a:xfrm>
            <a:off x="960120"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In Listen speichern und nacheinander anwenden</a:t>
            </a:r>
            <a:endParaRPr lang="en-US" sz="1400" dirty="0"/>
          </a:p>
        </p:txBody>
      </p:sp>
      <p:sp>
        <p:nvSpPr>
          <p:cNvPr id="7" name="Text 5"/>
          <p:cNvSpPr txBox="1"/>
          <p:nvPr/>
        </p:nvSpPr>
        <p:spPr>
          <a:xfrm>
            <a:off x="960120"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bereinigungs_schritte = [str.strip,</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entferne_prozentzeichen, in_anteil]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tab4 = bereinige(["82.4%", "68.0%", ...],</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bereinigungs_schritte)</a:t>
            </a:r>
            <a:endParaRPr lang="en-US" sz="1200" dirty="0"/>
          </a:p>
        </p:txBody>
      </p:sp>
      <p:sp>
        <p:nvSpPr>
          <p:cNvPr id="8" name="Shape 6"/>
          <p:cNvSpPr/>
          <p:nvPr/>
        </p:nvSpPr>
        <p:spPr>
          <a:xfrm>
            <a:off x="6233008" y="1783080"/>
            <a:ext cx="5272888" cy="2103120"/>
          </a:xfrm>
          <a:prstGeom prst="rect">
            <a:avLst/>
          </a:prstGeom>
          <a:solidFill>
            <a:srgbClr val="F1F3F5"/>
          </a:solidFill>
          <a:ln/>
        </p:spPr>
      </p:sp>
      <p:sp>
        <p:nvSpPr>
          <p:cNvPr id="9" name="Text 7"/>
          <p:cNvSpPr txBox="1"/>
          <p:nvPr/>
        </p:nvSpPr>
        <p:spPr>
          <a:xfrm>
            <a:off x="6507328" y="1984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Lambda und Currying</a:t>
            </a:r>
            <a:endParaRPr lang="en-US" sz="1800" dirty="0"/>
          </a:p>
        </p:txBody>
      </p:sp>
      <p:sp>
        <p:nvSpPr>
          <p:cNvPr id="10" name="Text 8"/>
          <p:cNvSpPr txBox="1"/>
          <p:nvPr/>
        </p:nvSpPr>
        <p:spPr>
          <a:xfrm>
            <a:off x="6507328" y="2313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Anonyme Einzeiler; partial legt Argumente fest</a:t>
            </a:r>
            <a:endParaRPr lang="en-US" sz="1400" dirty="0"/>
          </a:p>
        </p:txBody>
      </p:sp>
      <p:sp>
        <p:nvSpPr>
          <p:cNvPr id="11" name="Text 9"/>
          <p:cNvSpPr txBox="1"/>
          <p:nvPr/>
        </p:nvSpPr>
        <p:spPr>
          <a:xfrm>
            <a:off x="6507328" y="2624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prozent = lambda x: f"{x:.1%}"</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pruefe_streng = partial(</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pruefe_unabhaengigkeit, alpha=0.01)</a:t>
            </a:r>
            <a:endParaRPr lang="en-US" sz="1200" dirty="0"/>
          </a:p>
        </p:txBody>
      </p:sp>
      <p:sp>
        <p:nvSpPr>
          <p:cNvPr id="12" name="Shape 10"/>
          <p:cNvSpPr/>
          <p:nvPr/>
        </p:nvSpPr>
        <p:spPr>
          <a:xfrm>
            <a:off x="685800" y="4069080"/>
            <a:ext cx="5272888" cy="2103120"/>
          </a:xfrm>
          <a:prstGeom prst="rect">
            <a:avLst/>
          </a:prstGeom>
          <a:solidFill>
            <a:srgbClr val="F1F3F5"/>
          </a:solidFill>
          <a:ln/>
        </p:spPr>
      </p:sp>
      <p:sp>
        <p:nvSpPr>
          <p:cNvPr id="13" name="Text 11"/>
          <p:cNvSpPr txBox="1"/>
          <p:nvPr/>
        </p:nvSpPr>
        <p:spPr>
          <a:xfrm>
            <a:off x="960120"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Generator mit yield</a:t>
            </a:r>
            <a:endParaRPr lang="en-US" sz="1800" dirty="0"/>
          </a:p>
        </p:txBody>
      </p:sp>
      <p:sp>
        <p:nvSpPr>
          <p:cNvPr id="14" name="Text 12"/>
          <p:cNvSpPr txBox="1"/>
          <p:nvPr/>
        </p:nvSpPr>
        <p:spPr>
          <a:xfrm>
            <a:off x="960120"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Liefert Ergebnisse erst auf Anfrage</a:t>
            </a:r>
            <a:endParaRPr lang="en-US" sz="1400" dirty="0"/>
          </a:p>
        </p:txBody>
      </p:sp>
      <p:sp>
        <p:nvSpPr>
          <p:cNvPr id="15" name="Text 13"/>
          <p:cNvSpPr txBox="1"/>
          <p:nvPr/>
        </p:nvSpPr>
        <p:spPr>
          <a:xfrm>
            <a:off x="960120"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ergebnisse_je_fachbereich(daten,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for fb in fachbereiche:</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yield fb, pruefe_unabhaengigkeit(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vierfeldertafel(daten, fb))</a:t>
            </a:r>
            <a:endParaRPr lang="en-US" sz="1200" dirty="0"/>
          </a:p>
        </p:txBody>
      </p:sp>
      <p:sp>
        <p:nvSpPr>
          <p:cNvPr id="16" name="Shape 14"/>
          <p:cNvSpPr/>
          <p:nvPr/>
        </p:nvSpPr>
        <p:spPr>
          <a:xfrm>
            <a:off x="6233008" y="4069080"/>
            <a:ext cx="5272888" cy="2103120"/>
          </a:xfrm>
          <a:prstGeom prst="rect">
            <a:avLst/>
          </a:prstGeom>
          <a:solidFill>
            <a:srgbClr val="F1F3F5"/>
          </a:solidFill>
          <a:ln/>
        </p:spPr>
      </p:sp>
      <p:sp>
        <p:nvSpPr>
          <p:cNvPr id="17" name="Text 15"/>
          <p:cNvSpPr txBox="1"/>
          <p:nvPr/>
        </p:nvSpPr>
        <p:spPr>
          <a:xfrm>
            <a:off x="6507328" y="4270248"/>
            <a:ext cx="4724248" cy="3200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Ausnahmebehandlung</a:t>
            </a:r>
            <a:endParaRPr lang="en-US" sz="1800" dirty="0"/>
          </a:p>
        </p:txBody>
      </p:sp>
      <p:sp>
        <p:nvSpPr>
          <p:cNvPr id="18" name="Text 16"/>
          <p:cNvSpPr txBox="1"/>
          <p:nvPr/>
        </p:nvSpPr>
        <p:spPr>
          <a:xfrm>
            <a:off x="6507328" y="4599432"/>
            <a:ext cx="4724248"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Nur den erwarteten Fehler abfangen</a:t>
            </a:r>
            <a:endParaRPr lang="en-US" sz="1400" dirty="0"/>
          </a:p>
        </p:txBody>
      </p:sp>
      <p:sp>
        <p:nvSpPr>
          <p:cNvPr id="19" name="Text 17"/>
          <p:cNvSpPr txBox="1"/>
          <p:nvPr/>
        </p:nvSpPr>
        <p:spPr>
          <a:xfrm>
            <a:off x="6507328" y="4910328"/>
            <a:ext cx="4815688" cy="1188720"/>
          </a:xfrm>
          <a:prstGeom prst="rect">
            <a:avLst/>
          </a:prstGeom>
          <a:noFill/>
          <a:ln/>
        </p:spPr>
        <p:txBody>
          <a:bodyPr wrap="square" lIns="0" tIns="0" rIns="0" bIns="0" rtlCol="0" anchor="t"/>
          <a:lstStyle/>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def in_anteil(wert):</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try:</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return float(wert) / 100</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except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raise ValueError(</a:t>
            </a:r>
            <a:endParaRPr lang="en-US" sz="1200" dirty="0"/>
          </a:p>
          <a:p>
            <a:pPr indent="0" marL="0">
              <a:lnSpc>
                <a:spcPct val="98000"/>
              </a:lnSpc>
              <a:buNone/>
            </a:pPr>
            <a:r>
              <a:rPr lang="en-US" sz="1200" dirty="0">
                <a:solidFill>
                  <a:srgbClr val="1A1A1A"/>
                </a:solidFill>
                <a:latin typeface="Courier New" pitchFamily="34" charset="0"/>
                <a:ea typeface="Courier New" pitchFamily="34" charset="-122"/>
                <a:cs typeface="Courier New" pitchFamily="34" charset="-120"/>
              </a:rPr>
              <a:t>            f"Ungültiger Tabellenwert: {wert!r}")</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2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(b)</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Umsetzung und Darstellung</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Vorüberlegungen zur programmtechnischen Umsetzung und die scheinbare Ungerechtigkeit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PROGRAMMTECHNISCHE UMSETZUNG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Vorüberlegungen zur Umsetzung</a:t>
            </a:r>
            <a:endParaRPr lang="en-US" sz="3200" dirty="0"/>
          </a:p>
        </p:txBody>
      </p:sp>
      <p:sp>
        <p:nvSpPr>
          <p:cNvPr id="4" name="Text 2"/>
          <p:cNvSpPr txBox="1"/>
          <p:nvPr/>
        </p:nvSpPr>
        <p:spPr>
          <a:xfrm>
            <a:off x="685800"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01</a:t>
            </a:r>
            <a:endParaRPr lang="en-US" sz="4400" dirty="0"/>
          </a:p>
        </p:txBody>
      </p:sp>
      <p:sp>
        <p:nvSpPr>
          <p:cNvPr id="5" name="Text 3"/>
          <p:cNvSpPr txBox="1"/>
          <p:nvPr/>
        </p:nvSpPr>
        <p:spPr>
          <a:xfrm>
            <a:off x="685800"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Daten</a:t>
            </a:r>
            <a:endParaRPr lang="en-US" sz="1900" dirty="0"/>
          </a:p>
        </p:txBody>
      </p:sp>
      <p:sp>
        <p:nvSpPr>
          <p:cNvPr id="6" name="Text 4"/>
          <p:cNvSpPr txBox="1"/>
          <p:nvPr/>
        </p:nvSpPr>
        <p:spPr>
          <a:xfrm>
            <a:off x="685800"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Tabelle 4 enthält nur Prozente, deshalb Anzahlen aus dem Originaldatensatz (Bickel et al. 1975). Der Code prüft sie gegen Tabelle 4: </a:t>
            </a:r>
            <a:pPr indent="0" marL="0">
              <a:lnSpc>
                <a:spcPct val="105000"/>
              </a:lnSpc>
              <a:buNone/>
            </a:pPr>
            <a:r>
              <a:rPr lang="en-US" sz="1500" b="1" dirty="0">
                <a:solidFill>
                  <a:srgbClr val="003262"/>
                </a:solidFill>
                <a:latin typeface="Arial" pitchFamily="34" charset="0"/>
                <a:ea typeface="Arial" pitchFamily="34" charset="-122"/>
                <a:cs typeface="Arial" pitchFamily="34" charset="-120"/>
              </a:rPr>
              <a:t>0 Abweichungen</a:t>
            </a:r>
            <a:endParaRPr lang="en-US" sz="1500" dirty="0"/>
          </a:p>
        </p:txBody>
      </p:sp>
      <p:sp>
        <p:nvSpPr>
          <p:cNvPr id="7" name="Text 5"/>
          <p:cNvSpPr txBox="1"/>
          <p:nvPr/>
        </p:nvSpPr>
        <p:spPr>
          <a:xfrm>
            <a:off x="3470834"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02</a:t>
            </a:r>
            <a:endParaRPr lang="en-US" sz="4400" dirty="0"/>
          </a:p>
        </p:txBody>
      </p:sp>
      <p:sp>
        <p:nvSpPr>
          <p:cNvPr id="8" name="Text 6"/>
          <p:cNvSpPr txBox="1"/>
          <p:nvPr/>
        </p:nvSpPr>
        <p:spPr>
          <a:xfrm>
            <a:off x="3470834"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Kontrolle</a:t>
            </a:r>
            <a:endParaRPr lang="en-US" sz="1900" dirty="0"/>
          </a:p>
        </p:txBody>
      </p:sp>
      <p:sp>
        <p:nvSpPr>
          <p:cNvPr id="9" name="Text 7"/>
          <p:cNvSpPr txBox="1"/>
          <p:nvPr/>
        </p:nvSpPr>
        <p:spPr>
          <a:xfrm>
            <a:off x="3470834"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Plausibilitätskontrolle:</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P(Z | G) =</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Σ P(Fᵢ | G) · P(Z | Fᵢ, G)</a:t>
            </a:r>
            <a:endParaRPr lang="en-US" sz="1500" dirty="0"/>
          </a:p>
          <a:p>
            <a:pPr indent="0" marL="0">
              <a:lnSpc>
                <a:spcPct val="105000"/>
              </a:lnSpc>
              <a:buNone/>
            </a:pPr>
            <a:r>
              <a:rPr lang="en-US" sz="1500" dirty="0">
                <a:solidFill>
                  <a:srgbClr val="5F6672"/>
                </a:solidFill>
                <a:latin typeface="Arial" pitchFamily="34" charset="0"/>
                <a:ea typeface="Arial" pitchFamily="34" charset="-122"/>
                <a:cs typeface="Arial" pitchFamily="34" charset="-120"/>
              </a:rPr>
              <a:t>ergibt die Zeile «Total»</a:t>
            </a:r>
            <a:endParaRPr lang="en-US" sz="1500" dirty="0"/>
          </a:p>
        </p:txBody>
      </p:sp>
      <p:sp>
        <p:nvSpPr>
          <p:cNvPr id="10" name="Text 8"/>
          <p:cNvSpPr txBox="1"/>
          <p:nvPr/>
        </p:nvSpPr>
        <p:spPr>
          <a:xfrm>
            <a:off x="6255868"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03</a:t>
            </a:r>
            <a:endParaRPr lang="en-US" sz="4400" dirty="0"/>
          </a:p>
        </p:txBody>
      </p:sp>
      <p:sp>
        <p:nvSpPr>
          <p:cNvPr id="11" name="Text 9"/>
          <p:cNvSpPr txBox="1"/>
          <p:nvPr/>
        </p:nvSpPr>
        <p:spPr>
          <a:xfrm>
            <a:off x="6255868"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Struktur</a:t>
            </a:r>
            <a:endParaRPr lang="en-US" sz="1900" dirty="0"/>
          </a:p>
        </p:txBody>
      </p:sp>
      <p:sp>
        <p:nvSpPr>
          <p:cNvPr id="12" name="Text 10"/>
          <p:cNvSpPr txBox="1"/>
          <p:nvPr/>
        </p:nvSpPr>
        <p:spPr>
          <a:xfrm>
            <a:off x="6255868"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Langes DataFrame (Fachbereich × Geschlecht × Entscheid), daraus jede Kreuztabelle mit pivot_table</a:t>
            </a:r>
            <a:endParaRPr lang="en-US" sz="1500" dirty="0"/>
          </a:p>
        </p:txBody>
      </p:sp>
      <p:sp>
        <p:nvSpPr>
          <p:cNvPr id="13" name="Text 11"/>
          <p:cNvSpPr txBox="1"/>
          <p:nvPr/>
        </p:nvSpPr>
        <p:spPr>
          <a:xfrm>
            <a:off x="9040901" y="1783080"/>
            <a:ext cx="2464994" cy="685800"/>
          </a:xfrm>
          <a:prstGeom prst="rect">
            <a:avLst/>
          </a:prstGeom>
          <a:noFill/>
          <a:ln/>
        </p:spPr>
        <p:txBody>
          <a:bodyPr wrap="square" lIns="0" tIns="0" rIns="0" bIns="0" rtlCol="0" anchor="t"/>
          <a:lstStyle/>
          <a:p>
            <a:pPr indent="0" marL="0">
              <a:buNone/>
            </a:pPr>
            <a:r>
              <a:rPr lang="en-US" sz="4400" b="1" dirty="0">
                <a:solidFill>
                  <a:srgbClr val="003262"/>
                </a:solidFill>
                <a:latin typeface="Arial" pitchFamily="34" charset="0"/>
                <a:ea typeface="Arial" pitchFamily="34" charset="-122"/>
                <a:cs typeface="Arial" pitchFamily="34" charset="-120"/>
              </a:rPr>
              <a:t>04</a:t>
            </a:r>
            <a:endParaRPr lang="en-US" sz="4400" dirty="0"/>
          </a:p>
        </p:txBody>
      </p:sp>
      <p:sp>
        <p:nvSpPr>
          <p:cNvPr id="14" name="Text 12"/>
          <p:cNvSpPr txBox="1"/>
          <p:nvPr/>
        </p:nvSpPr>
        <p:spPr>
          <a:xfrm>
            <a:off x="9040901" y="2560320"/>
            <a:ext cx="2464994"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Funktionen</a:t>
            </a:r>
            <a:endParaRPr lang="en-US" sz="1900" dirty="0"/>
          </a:p>
        </p:txBody>
      </p:sp>
      <p:sp>
        <p:nvSpPr>
          <p:cNvPr id="15" name="Text 13"/>
          <p:cNvSpPr txBox="1"/>
          <p:nvPr/>
        </p:nvSpPr>
        <p:spPr>
          <a:xfrm>
            <a:off x="9040901" y="2971800"/>
            <a:ext cx="2464994" cy="155448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Wiederholte Schritte als Funktionen: gesamt und für jeden der 6 Fachbereiche</a:t>
            </a:r>
            <a:endParaRPr lang="en-US" sz="1500" dirty="0"/>
          </a:p>
        </p:txBody>
      </p:sp>
      <p:sp>
        <p:nvSpPr>
          <p:cNvPr id="16" name="Shape 14"/>
          <p:cNvSpPr/>
          <p:nvPr/>
        </p:nvSpPr>
        <p:spPr>
          <a:xfrm>
            <a:off x="0" y="4709160"/>
            <a:ext cx="12191695" cy="1371600"/>
          </a:xfrm>
          <a:prstGeom prst="rect">
            <a:avLst/>
          </a:prstGeom>
          <a:solidFill>
            <a:srgbClr val="F1F3F5"/>
          </a:solidFill>
          <a:ln/>
        </p:spPr>
      </p:sp>
      <p:sp>
        <p:nvSpPr>
          <p:cNvPr id="17" name="Text 15"/>
          <p:cNvSpPr txBox="1"/>
          <p:nvPr/>
        </p:nvSpPr>
        <p:spPr>
          <a:xfrm>
            <a:off x="685800" y="4873752"/>
            <a:ext cx="3657600"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LIBRARIES</a:t>
            </a:r>
            <a:endParaRPr lang="en-US" sz="1100" dirty="0"/>
          </a:p>
        </p:txBody>
      </p:sp>
      <p:sp>
        <p:nvSpPr>
          <p:cNvPr id="18" name="Text 16"/>
          <p:cNvSpPr txBox="1"/>
          <p:nvPr/>
        </p:nvSpPr>
        <p:spPr>
          <a:xfrm>
            <a:off x="685800"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pandas</a:t>
            </a:r>
            <a:endParaRPr lang="en-US" sz="2000" dirty="0"/>
          </a:p>
        </p:txBody>
      </p:sp>
      <p:sp>
        <p:nvSpPr>
          <p:cNvPr id="19" name="Text 17"/>
          <p:cNvSpPr txBox="1"/>
          <p:nvPr/>
        </p:nvSpPr>
        <p:spPr>
          <a:xfrm>
            <a:off x="685800"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Tabellen</a:t>
            </a:r>
            <a:endParaRPr lang="en-US" sz="1400" dirty="0"/>
          </a:p>
        </p:txBody>
      </p:sp>
      <p:sp>
        <p:nvSpPr>
          <p:cNvPr id="20" name="Text 18"/>
          <p:cNvSpPr txBox="1"/>
          <p:nvPr/>
        </p:nvSpPr>
        <p:spPr>
          <a:xfrm>
            <a:off x="3470834"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numpy</a:t>
            </a:r>
            <a:endParaRPr lang="en-US" sz="2000" dirty="0"/>
          </a:p>
        </p:txBody>
      </p:sp>
      <p:sp>
        <p:nvSpPr>
          <p:cNvPr id="21" name="Text 19"/>
          <p:cNvSpPr txBox="1"/>
          <p:nvPr/>
        </p:nvSpPr>
        <p:spPr>
          <a:xfrm>
            <a:off x="3470834"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Rechnen</a:t>
            </a:r>
            <a:endParaRPr lang="en-US" sz="1400" dirty="0"/>
          </a:p>
        </p:txBody>
      </p:sp>
      <p:sp>
        <p:nvSpPr>
          <p:cNvPr id="22" name="Text 20"/>
          <p:cNvSpPr txBox="1"/>
          <p:nvPr/>
        </p:nvSpPr>
        <p:spPr>
          <a:xfrm>
            <a:off x="6255868"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matplotlib</a:t>
            </a:r>
            <a:endParaRPr lang="en-US" sz="2000" dirty="0"/>
          </a:p>
        </p:txBody>
      </p:sp>
      <p:sp>
        <p:nvSpPr>
          <p:cNvPr id="23" name="Text 21"/>
          <p:cNvSpPr txBox="1"/>
          <p:nvPr/>
        </p:nvSpPr>
        <p:spPr>
          <a:xfrm>
            <a:off x="6255868"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Grafiken</a:t>
            </a:r>
            <a:endParaRPr lang="en-US" sz="1400" dirty="0"/>
          </a:p>
        </p:txBody>
      </p:sp>
      <p:sp>
        <p:nvSpPr>
          <p:cNvPr id="24" name="Text 22"/>
          <p:cNvSpPr txBox="1"/>
          <p:nvPr/>
        </p:nvSpPr>
        <p:spPr>
          <a:xfrm>
            <a:off x="9040901" y="5193792"/>
            <a:ext cx="2464994" cy="365760"/>
          </a:xfrm>
          <a:prstGeom prst="rect">
            <a:avLst/>
          </a:prstGeom>
          <a:noFill/>
          <a:ln/>
        </p:spPr>
        <p:txBody>
          <a:bodyPr wrap="square" lIns="0" tIns="0" rIns="0" bIns="0" rtlCol="0" anchor="t"/>
          <a:lstStyle/>
          <a:p>
            <a:pPr indent="0" marL="0">
              <a:buNone/>
            </a:pPr>
            <a:r>
              <a:rPr lang="en-US" sz="2000" b="1" dirty="0">
                <a:solidFill>
                  <a:srgbClr val="003262"/>
                </a:solidFill>
                <a:latin typeface="Courier New" pitchFamily="34" charset="0"/>
                <a:ea typeface="Courier New" pitchFamily="34" charset="-122"/>
                <a:cs typeface="Courier New" pitchFamily="34" charset="-120"/>
              </a:rPr>
              <a:t>scipy.stats</a:t>
            </a:r>
            <a:endParaRPr lang="en-US" sz="2000" dirty="0"/>
          </a:p>
        </p:txBody>
      </p:sp>
      <p:sp>
        <p:nvSpPr>
          <p:cNvPr id="25" name="Text 23"/>
          <p:cNvSpPr txBox="1"/>
          <p:nvPr/>
        </p:nvSpPr>
        <p:spPr>
          <a:xfrm>
            <a:off x="9040901" y="5577840"/>
            <a:ext cx="2464994" cy="27432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Chi-Quadrat-Test</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(B) DARSTELLUNG IN PYTHON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scheinbare Ungerechtigkeit</a:t>
            </a:r>
            <a:endParaRPr lang="en-US" sz="3200" dirty="0"/>
          </a:p>
        </p:txBody>
      </p:sp>
      <p:sp>
        <p:nvSpPr>
          <p:cNvPr id="4" name="Text 2"/>
          <p:cNvSpPr txBox="1"/>
          <p:nvPr/>
        </p:nvSpPr>
        <p:spPr>
          <a:xfrm>
            <a:off x="685800" y="1691640"/>
            <a:ext cx="59436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über alle sechs Fachbereiche</a:t>
            </a:r>
            <a:endParaRPr lang="en-US" sz="1300" dirty="0"/>
          </a:p>
        </p:txBody>
      </p:sp>
      <p:graphicFrame>
        <p:nvGraphicFramePr>
          <p:cNvPr id="5" name="Chart 0" descr=""/>
          <p:cNvGraphicFramePr/>
          <p:nvPr/>
        </p:nvGraphicFramePr>
        <p:xfrm>
          <a:off x="502920" y="201168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0" y="1783080"/>
            <a:ext cx="4187952" cy="114300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14.2</a:t>
            </a:r>
            <a:endParaRPr lang="en-US" sz="8800" dirty="0"/>
          </a:p>
        </p:txBody>
      </p:sp>
      <p:sp>
        <p:nvSpPr>
          <p:cNvPr id="7" name="Text 4"/>
          <p:cNvSpPr txBox="1"/>
          <p:nvPr/>
        </p:nvSpPr>
        <p:spPr>
          <a:xfrm>
            <a:off x="7315200" y="2971800"/>
            <a:ext cx="4023360" cy="365760"/>
          </a:xfrm>
          <a:prstGeom prst="rect">
            <a:avLst/>
          </a:prstGeom>
          <a:noFill/>
          <a:ln/>
        </p:spPr>
        <p:txBody>
          <a:bodyPr wrap="square" lIns="0" tIns="0" rIns="0" bIns="0" rtlCol="0" anchor="t"/>
          <a:lstStyle/>
          <a:p>
            <a:pPr indent="0" marL="0">
              <a:buNone/>
            </a:pPr>
            <a:r>
              <a:rPr lang="en-US" sz="1600" dirty="0">
                <a:solidFill>
                  <a:srgbClr val="5F6672"/>
                </a:solidFill>
                <a:latin typeface="Arial" pitchFamily="34" charset="0"/>
                <a:ea typeface="Arial" pitchFamily="34" charset="-122"/>
                <a:cs typeface="Arial" pitchFamily="34" charset="-120"/>
              </a:rPr>
              <a:t>Prozentpunkte Differenz zulasten der Frauen</a:t>
            </a:r>
            <a:endParaRPr lang="en-US" sz="1600" dirty="0"/>
          </a:p>
        </p:txBody>
      </p:sp>
      <p:sp>
        <p:nvSpPr>
          <p:cNvPr id="8" name="Text 5"/>
          <p:cNvSpPr txBox="1"/>
          <p:nvPr/>
        </p:nvSpPr>
        <p:spPr>
          <a:xfrm>
            <a:off x="7315200" y="3703320"/>
            <a:ext cx="4187952" cy="548640"/>
          </a:xfrm>
          <a:prstGeom prst="rect">
            <a:avLst/>
          </a:prstGeom>
          <a:noFill/>
          <a:ln/>
        </p:spPr>
        <p:txBody>
          <a:bodyPr wrap="square" lIns="0" tIns="0" rIns="0" bIns="0" rtlCol="0" anchor="t"/>
          <a:lstStyle/>
          <a:p>
            <a:pPr indent="0" marL="0">
              <a:buNone/>
            </a:pPr>
            <a:r>
              <a:rPr lang="en-US" sz="3400" b="1" dirty="0">
                <a:solidFill>
                  <a:srgbClr val="1A1A1A"/>
                </a:solidFill>
                <a:latin typeface="Arial" pitchFamily="34" charset="0"/>
                <a:ea typeface="Arial" pitchFamily="34" charset="-122"/>
                <a:cs typeface="Arial" pitchFamily="34" charset="-120"/>
              </a:rPr>
              <a:t>817 statt 557</a:t>
            </a:r>
            <a:endParaRPr lang="en-US" sz="3400" dirty="0"/>
          </a:p>
        </p:txBody>
      </p:sp>
      <p:sp>
        <p:nvSpPr>
          <p:cNvPr id="9" name="Text 6"/>
          <p:cNvSpPr txBox="1"/>
          <p:nvPr/>
        </p:nvSpPr>
        <p:spPr>
          <a:xfrm>
            <a:off x="7315200" y="4279392"/>
            <a:ext cx="4023360" cy="54864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Frauen wären bei der Quote der Männer zugelassen worden</a:t>
            </a:r>
            <a:endParaRPr lang="en-US" sz="1500" dirty="0"/>
          </a:p>
        </p:txBody>
      </p:sp>
      <p:sp>
        <p:nvSpPr>
          <p:cNvPr id="10" name="Text 7"/>
          <p:cNvSpPr txBox="1"/>
          <p:nvPr/>
        </p:nvSpPr>
        <p:spPr>
          <a:xfrm>
            <a:off x="7315200" y="5257800"/>
            <a:ext cx="4187952" cy="502920"/>
          </a:xfrm>
          <a:prstGeom prst="rect">
            <a:avLst/>
          </a:prstGeom>
          <a:noFill/>
          <a:ln/>
        </p:spPr>
        <p:txBody>
          <a:bodyPr wrap="square" lIns="0" tIns="0" rIns="0" bIns="0" rtlCol="0" anchor="t"/>
          <a:lstStyle/>
          <a:p>
            <a:pPr indent="0" marL="0">
              <a:buNone/>
            </a:pPr>
            <a:r>
              <a:rPr lang="en-US" sz="2800" b="1" dirty="0">
                <a:solidFill>
                  <a:srgbClr val="D9541E"/>
                </a:solidFill>
                <a:latin typeface="Arial" pitchFamily="34" charset="0"/>
                <a:ea typeface="Arial" pitchFamily="34" charset="-122"/>
                <a:cs typeface="Arial" pitchFamily="34" charset="-120"/>
              </a:rPr>
              <a:t>Also Diskriminierung?</a:t>
            </a:r>
            <a:endParaRPr lang="en-US" sz="2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TEIL 3 VON 3</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(c)</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Vergleich der Verteilungen</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Quoten je Fachbereich, Verteilung der Bewerbungen und stochastische Unabhängigkeit</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Je Fachbereich: kein Nachteil für Frauen</a:t>
            </a:r>
            <a:endParaRPr lang="en-US" sz="3200" dirty="0"/>
          </a:p>
        </p:txBody>
      </p:sp>
      <p:sp>
        <p:nvSpPr>
          <p:cNvPr id="4" name="Text 2"/>
          <p:cNvSpPr txBox="1"/>
          <p:nvPr/>
        </p:nvSpPr>
        <p:spPr>
          <a:xfrm>
            <a:off x="685800" y="1691640"/>
            <a:ext cx="713232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5" name="Chart 0" descr=""/>
          <p:cNvGraphicFramePr/>
          <p:nvPr/>
        </p:nvGraphicFramePr>
        <p:xfrm>
          <a:off x="502920" y="2011680"/>
          <a:ext cx="740664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66760" y="1783080"/>
            <a:ext cx="3136392" cy="86868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4 von 6</a:t>
            </a:r>
            <a:endParaRPr lang="en-US" sz="6000" dirty="0"/>
          </a:p>
        </p:txBody>
      </p:sp>
      <p:sp>
        <p:nvSpPr>
          <p:cNvPr id="7" name="Text 4"/>
          <p:cNvSpPr txBox="1"/>
          <p:nvPr/>
        </p:nvSpPr>
        <p:spPr>
          <a:xfrm>
            <a:off x="8366760" y="2670048"/>
            <a:ext cx="3136392" cy="5486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Fachbereichen mit höherer Quote für Frauen</a:t>
            </a:r>
            <a:endParaRPr lang="en-US" sz="1500" dirty="0"/>
          </a:p>
        </p:txBody>
      </p:sp>
      <p:sp>
        <p:nvSpPr>
          <p:cNvPr id="8" name="Text 5"/>
          <p:cNvSpPr txBox="1"/>
          <p:nvPr/>
        </p:nvSpPr>
        <p:spPr>
          <a:xfrm>
            <a:off x="8366760" y="3474720"/>
            <a:ext cx="3136392" cy="411480"/>
          </a:xfrm>
          <a:prstGeom prst="rect">
            <a:avLst/>
          </a:prstGeom>
          <a:noFill/>
          <a:ln/>
        </p:spPr>
        <p:txBody>
          <a:bodyPr wrap="square" lIns="0" tIns="0" rIns="0" bIns="0" rtlCol="0" anchor="t"/>
          <a:lstStyle/>
          <a:p>
            <a:pPr indent="0" marL="0">
              <a:buNone/>
            </a:pPr>
            <a:r>
              <a:rPr lang="en-US" sz="1000" b="1" spc="100" kern="0" dirty="0">
                <a:solidFill>
                  <a:srgbClr val="5F6672"/>
                </a:solidFill>
                <a:latin typeface="Arial" pitchFamily="34" charset="0"/>
                <a:ea typeface="Arial" pitchFamily="34" charset="-122"/>
                <a:cs typeface="Arial" pitchFamily="34" charset="-120"/>
              </a:rPr>
              <a:t>DIFFERENZ FRAUEN − MÄNNER, IN PROZENTPUNKTEN</a:t>
            </a:r>
            <a:endParaRPr lang="en-US" sz="1000" dirty="0"/>
          </a:p>
        </p:txBody>
      </p:sp>
      <p:sp>
        <p:nvSpPr>
          <p:cNvPr id="9" name="Text 6"/>
          <p:cNvSpPr txBox="1"/>
          <p:nvPr/>
        </p:nvSpPr>
        <p:spPr>
          <a:xfrm>
            <a:off x="8366760" y="3931920"/>
            <a:ext cx="1097280" cy="292608"/>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p>
        </p:txBody>
      </p:sp>
      <p:sp>
        <p:nvSpPr>
          <p:cNvPr id="10" name="Text 7"/>
          <p:cNvSpPr txBox="1"/>
          <p:nvPr/>
        </p:nvSpPr>
        <p:spPr>
          <a:xfrm>
            <a:off x="9692640" y="393192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+20.3</a:t>
            </a:r>
            <a:endParaRPr lang="en-US" sz="1500" dirty="0"/>
          </a:p>
        </p:txBody>
      </p:sp>
      <p:sp>
        <p:nvSpPr>
          <p:cNvPr id="11" name="Text 8"/>
          <p:cNvSpPr txBox="1"/>
          <p:nvPr/>
        </p:nvSpPr>
        <p:spPr>
          <a:xfrm>
            <a:off x="8366760" y="4279392"/>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B</a:t>
            </a:r>
            <a:endParaRPr lang="en-US" sz="1500" dirty="0"/>
          </a:p>
        </p:txBody>
      </p:sp>
      <p:sp>
        <p:nvSpPr>
          <p:cNvPr id="12" name="Text 9"/>
          <p:cNvSpPr txBox="1"/>
          <p:nvPr/>
        </p:nvSpPr>
        <p:spPr>
          <a:xfrm>
            <a:off x="9692640" y="4279392"/>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+5.0</a:t>
            </a:r>
            <a:endParaRPr lang="en-US" sz="1500" dirty="0"/>
          </a:p>
        </p:txBody>
      </p:sp>
      <p:sp>
        <p:nvSpPr>
          <p:cNvPr id="13" name="Text 10"/>
          <p:cNvSpPr txBox="1"/>
          <p:nvPr/>
        </p:nvSpPr>
        <p:spPr>
          <a:xfrm>
            <a:off x="8366760" y="4626864"/>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C</a:t>
            </a:r>
            <a:endParaRPr lang="en-US" sz="1500" dirty="0"/>
          </a:p>
        </p:txBody>
      </p:sp>
      <p:sp>
        <p:nvSpPr>
          <p:cNvPr id="14" name="Text 11"/>
          <p:cNvSpPr txBox="1"/>
          <p:nvPr/>
        </p:nvSpPr>
        <p:spPr>
          <a:xfrm>
            <a:off x="9692640" y="4626864"/>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−2.8</a:t>
            </a:r>
            <a:endParaRPr lang="en-US" sz="1500" dirty="0"/>
          </a:p>
        </p:txBody>
      </p:sp>
      <p:sp>
        <p:nvSpPr>
          <p:cNvPr id="15" name="Text 12"/>
          <p:cNvSpPr txBox="1"/>
          <p:nvPr/>
        </p:nvSpPr>
        <p:spPr>
          <a:xfrm>
            <a:off x="8366760" y="4974336"/>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D</a:t>
            </a:r>
            <a:endParaRPr lang="en-US" sz="1500" dirty="0"/>
          </a:p>
        </p:txBody>
      </p:sp>
      <p:sp>
        <p:nvSpPr>
          <p:cNvPr id="16" name="Text 13"/>
          <p:cNvSpPr txBox="1"/>
          <p:nvPr/>
        </p:nvSpPr>
        <p:spPr>
          <a:xfrm>
            <a:off x="9692640" y="4974336"/>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+1.8</a:t>
            </a:r>
            <a:endParaRPr lang="en-US" sz="1500" dirty="0"/>
          </a:p>
        </p:txBody>
      </p:sp>
      <p:sp>
        <p:nvSpPr>
          <p:cNvPr id="17" name="Text 14"/>
          <p:cNvSpPr txBox="1"/>
          <p:nvPr/>
        </p:nvSpPr>
        <p:spPr>
          <a:xfrm>
            <a:off x="8366760" y="5321808"/>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E</a:t>
            </a:r>
            <a:endParaRPr lang="en-US" sz="1500" dirty="0"/>
          </a:p>
        </p:txBody>
      </p:sp>
      <p:sp>
        <p:nvSpPr>
          <p:cNvPr id="18" name="Text 15"/>
          <p:cNvSpPr txBox="1"/>
          <p:nvPr/>
        </p:nvSpPr>
        <p:spPr>
          <a:xfrm>
            <a:off x="9692640" y="5321808"/>
            <a:ext cx="1810512" cy="292608"/>
          </a:xfrm>
          <a:prstGeom prst="rect">
            <a:avLst/>
          </a:prstGeom>
          <a:noFill/>
          <a:ln/>
        </p:spPr>
        <p:txBody>
          <a:bodyPr wrap="square" lIns="0" tIns="0" rIns="0" bIns="0" rtlCol="0" anchor="t"/>
          <a:lstStyle/>
          <a:p>
            <a:pPr algn="r" indent="0" marL="0">
              <a:buNone/>
            </a:pPr>
            <a:r>
              <a:rPr lang="en-US" sz="1500" b="1" dirty="0">
                <a:solidFill>
                  <a:srgbClr val="5F6672"/>
                </a:solidFill>
                <a:latin typeface="Arial" pitchFamily="34" charset="0"/>
                <a:ea typeface="Arial" pitchFamily="34" charset="-122"/>
                <a:cs typeface="Arial" pitchFamily="34" charset="-120"/>
              </a:rPr>
              <a:t>−3.8</a:t>
            </a:r>
            <a:endParaRPr lang="en-US" sz="1500" dirty="0"/>
          </a:p>
        </p:txBody>
      </p:sp>
      <p:sp>
        <p:nvSpPr>
          <p:cNvPr id="19" name="Text 16"/>
          <p:cNvSpPr txBox="1"/>
          <p:nvPr/>
        </p:nvSpPr>
        <p:spPr>
          <a:xfrm>
            <a:off x="8366760" y="5669280"/>
            <a:ext cx="1097280" cy="292608"/>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FB F</a:t>
            </a:r>
            <a:endParaRPr lang="en-US" sz="1500" dirty="0"/>
          </a:p>
        </p:txBody>
      </p:sp>
      <p:sp>
        <p:nvSpPr>
          <p:cNvPr id="20" name="Text 17"/>
          <p:cNvSpPr txBox="1"/>
          <p:nvPr/>
        </p:nvSpPr>
        <p:spPr>
          <a:xfrm>
            <a:off x="9692640" y="5669280"/>
            <a:ext cx="1810512" cy="292608"/>
          </a:xfrm>
          <a:prstGeom prst="rect">
            <a:avLst/>
          </a:prstGeom>
          <a:noFill/>
          <a:ln/>
        </p:spPr>
        <p:txBody>
          <a:bodyPr wrap="square" lIns="0" tIns="0" rIns="0" bIns="0" rtlCol="0" anchor="t"/>
          <a:lstStyle/>
          <a:p>
            <a:pPr algn="r" indent="0" marL="0">
              <a:buNone/>
            </a:pPr>
            <a:r>
              <a:rPr lang="en-US" sz="1500" b="1" dirty="0">
                <a:solidFill>
                  <a:srgbClr val="D9541E"/>
                </a:solidFill>
                <a:latin typeface="Arial" pitchFamily="34" charset="0"/>
                <a:ea typeface="Arial" pitchFamily="34" charset="-122"/>
                <a:cs typeface="Arial" pitchFamily="34" charset="-120"/>
              </a:rPr>
              <a:t>+1.1</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Frauen wählten selektivere Fachbereiche</a:t>
            </a:r>
            <a:endParaRPr lang="en-US" sz="3200" dirty="0"/>
          </a:p>
        </p:txBody>
      </p:sp>
      <p:sp>
        <p:nvSpPr>
          <p:cNvPr id="4" name="Text 2"/>
          <p:cNvSpPr txBox="1"/>
          <p:nvPr/>
        </p:nvSpPr>
        <p:spPr>
          <a:xfrm>
            <a:off x="685800" y="1737360"/>
            <a:ext cx="2743200" cy="914400"/>
          </a:xfrm>
          <a:prstGeom prst="rect">
            <a:avLst/>
          </a:prstGeom>
          <a:noFill/>
          <a:ln/>
        </p:spPr>
        <p:txBody>
          <a:bodyPr wrap="square" lIns="0" tIns="0" rIns="0" bIns="0" rtlCol="0" anchor="t"/>
          <a:lstStyle/>
          <a:p>
            <a:pPr indent="0" marL="0">
              <a:buNone/>
            </a:pPr>
            <a:r>
              <a:rPr lang="en-US" sz="6000" b="1" dirty="0">
                <a:solidFill>
                  <a:srgbClr val="4A90C2"/>
                </a:solidFill>
                <a:latin typeface="Arial" pitchFamily="34" charset="0"/>
                <a:ea typeface="Arial" pitchFamily="34" charset="-122"/>
                <a:cs typeface="Arial" pitchFamily="34" charset="-120"/>
              </a:rPr>
              <a:t>51.5 %</a:t>
            </a:r>
            <a:endParaRPr lang="en-US" sz="6000" dirty="0"/>
          </a:p>
        </p:txBody>
      </p:sp>
      <p:sp>
        <p:nvSpPr>
          <p:cNvPr id="5" name="Text 3"/>
          <p:cNvSpPr txBox="1"/>
          <p:nvPr/>
        </p:nvSpPr>
        <p:spPr>
          <a:xfrm>
            <a:off x="3474720" y="1901952"/>
            <a:ext cx="2560320"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Männer bewarben sich in A oder B (Zulassungsquote ≈ 64 %)</a:t>
            </a:r>
            <a:endParaRPr lang="en-US" sz="1500" dirty="0"/>
          </a:p>
        </p:txBody>
      </p:sp>
      <p:sp>
        <p:nvSpPr>
          <p:cNvPr id="6" name="Text 4"/>
          <p:cNvSpPr txBox="1"/>
          <p:nvPr/>
        </p:nvSpPr>
        <p:spPr>
          <a:xfrm>
            <a:off x="6355080" y="1737360"/>
            <a:ext cx="2194560" cy="914400"/>
          </a:xfrm>
          <a:prstGeom prst="rect">
            <a:avLst/>
          </a:prstGeom>
          <a:noFill/>
          <a:ln/>
        </p:spPr>
        <p:txBody>
          <a:bodyPr wrap="square" lIns="0" tIns="0" rIns="0" bIns="0" rtlCol="0" anchor="t"/>
          <a:lstStyle/>
          <a:p>
            <a:pPr indent="0" marL="0">
              <a:buNone/>
            </a:pPr>
            <a:r>
              <a:rPr lang="en-US" sz="6000" b="1" dirty="0">
                <a:solidFill>
                  <a:srgbClr val="D9541E"/>
                </a:solidFill>
                <a:latin typeface="Arial" pitchFamily="34" charset="0"/>
                <a:ea typeface="Arial" pitchFamily="34" charset="-122"/>
                <a:cs typeface="Arial" pitchFamily="34" charset="-120"/>
              </a:rPr>
              <a:t>7.2 %</a:t>
            </a:r>
            <a:endParaRPr lang="en-US" sz="6000" dirty="0"/>
          </a:p>
        </p:txBody>
      </p:sp>
      <p:sp>
        <p:nvSpPr>
          <p:cNvPr id="7" name="Text 5"/>
          <p:cNvSpPr txBox="1"/>
          <p:nvPr/>
        </p:nvSpPr>
        <p:spPr>
          <a:xfrm>
            <a:off x="8595360" y="1901952"/>
            <a:ext cx="2907792" cy="77724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der Frauen – 92.8 % bewarben sich in C bis F (Quoten 6 bis 35 %)</a:t>
            </a:r>
            <a:endParaRPr lang="en-US" sz="1500" dirty="0"/>
          </a:p>
        </p:txBody>
      </p:sp>
      <p:sp>
        <p:nvSpPr>
          <p:cNvPr id="8" name="Text 6"/>
          <p:cNvSpPr txBox="1"/>
          <p:nvPr/>
        </p:nvSpPr>
        <p:spPr>
          <a:xfrm>
            <a:off x="685800" y="3154680"/>
            <a:ext cx="100584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Anteil aller Bewerbungen des Geschlechts je Fachbereich,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9" name="Chart 0" descr=""/>
          <p:cNvGraphicFramePr/>
          <p:nvPr/>
        </p:nvGraphicFramePr>
        <p:xfrm>
          <a:off x="502920" y="3474720"/>
          <a:ext cx="1115568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VERGLEICH DER VERTEILUNGEN</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Mehr Bewerberinnen, tiefere Zulassungsquote</a:t>
            </a:r>
            <a:endParaRPr lang="en-US" sz="3200" dirty="0"/>
          </a:p>
        </p:txBody>
      </p:sp>
      <p:sp>
        <p:nvSpPr>
          <p:cNvPr id="4" name="Text 2"/>
          <p:cNvSpPr txBox="1"/>
          <p:nvPr/>
        </p:nvSpPr>
        <p:spPr>
          <a:xfrm>
            <a:off x="685800" y="1645920"/>
            <a:ext cx="4572000" cy="256032"/>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Zulassungsquote des Fachbereichs</a:t>
            </a:r>
            <a:endParaRPr lang="en-US" sz="1200" dirty="0"/>
          </a:p>
        </p:txBody>
      </p:sp>
      <p:sp>
        <p:nvSpPr>
          <p:cNvPr id="5" name="Shape 3"/>
          <p:cNvSpPr/>
          <p:nvPr/>
        </p:nvSpPr>
        <p:spPr>
          <a:xfrm>
            <a:off x="1371600" y="5623560"/>
            <a:ext cx="5943600" cy="0"/>
          </a:xfrm>
          <a:prstGeom prst="line">
            <a:avLst/>
          </a:prstGeom>
          <a:noFill/>
          <a:ln w="12700">
            <a:solidFill>
              <a:srgbClr val="C9CED6"/>
            </a:solidFill>
            <a:prstDash val="solid"/>
          </a:ln>
        </p:spPr>
      </p:sp>
      <p:sp>
        <p:nvSpPr>
          <p:cNvPr id="6" name="Shape 4"/>
          <p:cNvSpPr/>
          <p:nvPr/>
        </p:nvSpPr>
        <p:spPr>
          <a:xfrm>
            <a:off x="1371600" y="1965960"/>
            <a:ext cx="0" cy="3657600"/>
          </a:xfrm>
          <a:prstGeom prst="line">
            <a:avLst/>
          </a:prstGeom>
          <a:noFill/>
          <a:ln w="12700">
            <a:solidFill>
              <a:srgbClr val="C9CED6"/>
            </a:solidFill>
            <a:prstDash val="solid"/>
          </a:ln>
        </p:spPr>
      </p:sp>
      <p:sp>
        <p:nvSpPr>
          <p:cNvPr id="7" name="Text 5"/>
          <p:cNvSpPr txBox="1"/>
          <p:nvPr/>
        </p:nvSpPr>
        <p:spPr>
          <a:xfrm>
            <a:off x="685800" y="55138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8" name="Text 6"/>
          <p:cNvSpPr txBox="1"/>
          <p:nvPr/>
        </p:nvSpPr>
        <p:spPr>
          <a:xfrm>
            <a:off x="10058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0 %</a:t>
            </a:r>
            <a:endParaRPr lang="en-US" sz="1200" dirty="0"/>
          </a:p>
        </p:txBody>
      </p:sp>
      <p:sp>
        <p:nvSpPr>
          <p:cNvPr id="9" name="Text 7"/>
          <p:cNvSpPr txBox="1"/>
          <p:nvPr/>
        </p:nvSpPr>
        <p:spPr>
          <a:xfrm>
            <a:off x="685800" y="45994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0" name="Text 8"/>
          <p:cNvSpPr txBox="1"/>
          <p:nvPr/>
        </p:nvSpPr>
        <p:spPr>
          <a:xfrm>
            <a:off x="24917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20 %</a:t>
            </a:r>
            <a:endParaRPr lang="en-US" sz="1200" dirty="0"/>
          </a:p>
        </p:txBody>
      </p:sp>
      <p:sp>
        <p:nvSpPr>
          <p:cNvPr id="11" name="Text 9"/>
          <p:cNvSpPr txBox="1"/>
          <p:nvPr/>
        </p:nvSpPr>
        <p:spPr>
          <a:xfrm>
            <a:off x="685800" y="36850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2" name="Text 10"/>
          <p:cNvSpPr txBox="1"/>
          <p:nvPr/>
        </p:nvSpPr>
        <p:spPr>
          <a:xfrm>
            <a:off x="39776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40 %</a:t>
            </a:r>
            <a:endParaRPr lang="en-US" sz="1200" dirty="0"/>
          </a:p>
        </p:txBody>
      </p:sp>
      <p:sp>
        <p:nvSpPr>
          <p:cNvPr id="13" name="Text 11"/>
          <p:cNvSpPr txBox="1"/>
          <p:nvPr/>
        </p:nvSpPr>
        <p:spPr>
          <a:xfrm>
            <a:off x="685800" y="27706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4" name="Text 12"/>
          <p:cNvSpPr txBox="1"/>
          <p:nvPr/>
        </p:nvSpPr>
        <p:spPr>
          <a:xfrm>
            <a:off x="54635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60 %</a:t>
            </a:r>
            <a:endParaRPr lang="en-US" sz="1200" dirty="0"/>
          </a:p>
        </p:txBody>
      </p:sp>
      <p:sp>
        <p:nvSpPr>
          <p:cNvPr id="15" name="Text 13"/>
          <p:cNvSpPr txBox="1"/>
          <p:nvPr/>
        </p:nvSpPr>
        <p:spPr>
          <a:xfrm>
            <a:off x="685800" y="1856232"/>
            <a:ext cx="566928" cy="228600"/>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6" name="Text 14"/>
          <p:cNvSpPr txBox="1"/>
          <p:nvPr/>
        </p:nvSpPr>
        <p:spPr>
          <a:xfrm>
            <a:off x="6949440" y="5696712"/>
            <a:ext cx="731520" cy="228600"/>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80 %</a:t>
            </a:r>
            <a:endParaRPr lang="en-US" sz="1200" dirty="0"/>
          </a:p>
        </p:txBody>
      </p:sp>
      <p:sp>
        <p:nvSpPr>
          <p:cNvPr id="17" name="Text 15"/>
          <p:cNvSpPr txBox="1"/>
          <p:nvPr/>
        </p:nvSpPr>
        <p:spPr>
          <a:xfrm>
            <a:off x="1371600" y="5971032"/>
            <a:ext cx="5943600" cy="256032"/>
          </a:xfrm>
          <a:prstGeom prst="rect">
            <a:avLst/>
          </a:prstGeom>
          <a:noFill/>
          <a:ln/>
        </p:spPr>
        <p:txBody>
          <a:bodyPr wrap="square" lIns="0" tIns="0" rIns="0" bIns="0" rtlCol="0" anchor="t"/>
          <a:lstStyle/>
          <a:p>
            <a:pPr algn="r" indent="0" marL="0">
              <a:buNone/>
            </a:pPr>
            <a:r>
              <a:rPr lang="en-US" sz="1200" dirty="0">
                <a:solidFill>
                  <a:srgbClr val="5F6672"/>
                </a:solidFill>
                <a:latin typeface="Arial" pitchFamily="34" charset="0"/>
                <a:ea typeface="Arial" pitchFamily="34" charset="-122"/>
                <a:cs typeface="Arial" pitchFamily="34" charset="-120"/>
              </a:rPr>
              <a:t>Frauenanteil unter den Bewerbungen</a:t>
            </a:r>
            <a:endParaRPr lang="en-US" sz="1200" dirty="0"/>
          </a:p>
        </p:txBody>
      </p:sp>
      <p:sp>
        <p:nvSpPr>
          <p:cNvPr id="18" name="Shape 16"/>
          <p:cNvSpPr/>
          <p:nvPr/>
        </p:nvSpPr>
        <p:spPr>
          <a:xfrm>
            <a:off x="1938337" y="2385198"/>
            <a:ext cx="586538" cy="586538"/>
          </a:xfrm>
          <a:prstGeom prst="ellipse">
            <a:avLst/>
          </a:prstGeom>
          <a:solidFill>
            <a:srgbClr val="003262">
              <a:alpha val="85000"/>
            </a:srgbClr>
          </a:solidFill>
          <a:ln w="19050">
            <a:solidFill>
              <a:srgbClr val="FFFFFF"/>
            </a:solidFill>
            <a:prstDash val="solid"/>
          </a:ln>
        </p:spPr>
      </p:sp>
      <p:sp>
        <p:nvSpPr>
          <p:cNvPr id="19" name="Text 17"/>
          <p:cNvSpPr txBox="1"/>
          <p:nvPr/>
        </p:nvSpPr>
        <p:spPr>
          <a:xfrm>
            <a:off x="2598028" y="2541307"/>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A</a:t>
            </a:r>
            <a:endParaRPr lang="en-US" sz="1300" dirty="0"/>
          </a:p>
        </p:txBody>
      </p:sp>
      <p:sp>
        <p:nvSpPr>
          <p:cNvPr id="20" name="Shape 18"/>
          <p:cNvSpPr/>
          <p:nvPr/>
        </p:nvSpPr>
        <p:spPr>
          <a:xfrm>
            <a:off x="1456878" y="2499646"/>
            <a:ext cx="464444" cy="464444"/>
          </a:xfrm>
          <a:prstGeom prst="ellipse">
            <a:avLst/>
          </a:prstGeom>
          <a:solidFill>
            <a:srgbClr val="003262">
              <a:alpha val="85000"/>
            </a:srgbClr>
          </a:solidFill>
          <a:ln w="19050">
            <a:solidFill>
              <a:srgbClr val="FFFFFF"/>
            </a:solidFill>
            <a:prstDash val="solid"/>
          </a:ln>
        </p:spPr>
      </p:sp>
      <p:sp>
        <p:nvSpPr>
          <p:cNvPr id="21" name="Text 19"/>
          <p:cNvSpPr txBox="1"/>
          <p:nvPr/>
        </p:nvSpPr>
        <p:spPr>
          <a:xfrm>
            <a:off x="1369060" y="2188750"/>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B</a:t>
            </a:r>
            <a:endParaRPr lang="en-US" sz="1300" dirty="0"/>
          </a:p>
        </p:txBody>
      </p:sp>
      <p:sp>
        <p:nvSpPr>
          <p:cNvPr id="22" name="Shape 20"/>
          <p:cNvSpPr/>
          <p:nvPr/>
        </p:nvSpPr>
        <p:spPr>
          <a:xfrm>
            <a:off x="5879928" y="3728972"/>
            <a:ext cx="581804" cy="581804"/>
          </a:xfrm>
          <a:prstGeom prst="ellipse">
            <a:avLst/>
          </a:prstGeom>
          <a:solidFill>
            <a:srgbClr val="003262">
              <a:alpha val="85000"/>
            </a:srgbClr>
          </a:solidFill>
          <a:ln w="19050">
            <a:solidFill>
              <a:srgbClr val="FFFFFF"/>
            </a:solidFill>
            <a:prstDash val="solid"/>
          </a:ln>
        </p:spPr>
      </p:sp>
      <p:sp>
        <p:nvSpPr>
          <p:cNvPr id="23" name="Text 21"/>
          <p:cNvSpPr txBox="1"/>
          <p:nvPr/>
        </p:nvSpPr>
        <p:spPr>
          <a:xfrm>
            <a:off x="6534884" y="3882714"/>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C</a:t>
            </a:r>
            <a:endParaRPr lang="en-US" sz="1300" dirty="0"/>
          </a:p>
        </p:txBody>
      </p:sp>
      <p:sp>
        <p:nvSpPr>
          <p:cNvPr id="24" name="Shape 22"/>
          <p:cNvSpPr/>
          <p:nvPr/>
        </p:nvSpPr>
        <p:spPr>
          <a:xfrm>
            <a:off x="4619154" y="3800495"/>
            <a:ext cx="540403" cy="540403"/>
          </a:xfrm>
          <a:prstGeom prst="ellipse">
            <a:avLst/>
          </a:prstGeom>
          <a:solidFill>
            <a:srgbClr val="003262">
              <a:alpha val="85000"/>
            </a:srgbClr>
          </a:solidFill>
          <a:ln w="19050">
            <a:solidFill>
              <a:srgbClr val="FFFFFF"/>
            </a:solidFill>
            <a:prstDash val="solid"/>
          </a:ln>
        </p:spPr>
      </p:sp>
      <p:sp>
        <p:nvSpPr>
          <p:cNvPr id="25" name="Text 23"/>
          <p:cNvSpPr txBox="1"/>
          <p:nvPr/>
        </p:nvSpPr>
        <p:spPr>
          <a:xfrm>
            <a:off x="3905922" y="3933536"/>
            <a:ext cx="640080" cy="274320"/>
          </a:xfrm>
          <a:prstGeom prst="rect">
            <a:avLst/>
          </a:prstGeom>
          <a:noFill/>
          <a:ln/>
        </p:spPr>
        <p:txBody>
          <a:bodyPr wrap="square" lIns="0" tIns="0" rIns="0" bIns="0" rtlCol="0" anchor="t"/>
          <a:lstStyle/>
          <a:p>
            <a:pPr algn="r" indent="0" marL="0">
              <a:buNone/>
            </a:pPr>
            <a:r>
              <a:rPr lang="en-US" sz="1300" b="1" dirty="0">
                <a:solidFill>
                  <a:srgbClr val="1A1A1A"/>
                </a:solidFill>
                <a:latin typeface="Arial" pitchFamily="34" charset="0"/>
                <a:ea typeface="Arial" pitchFamily="34" charset="-122"/>
                <a:cs typeface="Arial" pitchFamily="34" charset="-120"/>
              </a:rPr>
              <a:t>FB D</a:t>
            </a:r>
            <a:endParaRPr lang="en-US" sz="1300" dirty="0"/>
          </a:p>
        </p:txBody>
      </p:sp>
      <p:sp>
        <p:nvSpPr>
          <p:cNvPr id="26" name="Shape 24"/>
          <p:cNvSpPr/>
          <p:nvPr/>
        </p:nvSpPr>
        <p:spPr>
          <a:xfrm>
            <a:off x="6139223" y="4240708"/>
            <a:ext cx="464047" cy="464047"/>
          </a:xfrm>
          <a:prstGeom prst="ellipse">
            <a:avLst/>
          </a:prstGeom>
          <a:solidFill>
            <a:srgbClr val="003262">
              <a:alpha val="85000"/>
            </a:srgbClr>
          </a:solidFill>
          <a:ln w="19050">
            <a:solidFill>
              <a:srgbClr val="FFFFFF"/>
            </a:solidFill>
            <a:prstDash val="solid"/>
          </a:ln>
        </p:spPr>
      </p:sp>
      <p:sp>
        <p:nvSpPr>
          <p:cNvPr id="27" name="Text 25"/>
          <p:cNvSpPr txBox="1"/>
          <p:nvPr/>
        </p:nvSpPr>
        <p:spPr>
          <a:xfrm>
            <a:off x="6676422" y="4335571"/>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E</a:t>
            </a:r>
            <a:endParaRPr lang="en-US" sz="1300" dirty="0"/>
          </a:p>
        </p:txBody>
      </p:sp>
      <p:sp>
        <p:nvSpPr>
          <p:cNvPr id="28" name="Shape 26"/>
          <p:cNvSpPr/>
          <p:nvPr/>
        </p:nvSpPr>
        <p:spPr>
          <a:xfrm>
            <a:off x="4663311" y="5072454"/>
            <a:ext cx="513103" cy="513103"/>
          </a:xfrm>
          <a:prstGeom prst="ellipse">
            <a:avLst/>
          </a:prstGeom>
          <a:solidFill>
            <a:srgbClr val="003262">
              <a:alpha val="85000"/>
            </a:srgbClr>
          </a:solidFill>
          <a:ln w="19050">
            <a:solidFill>
              <a:srgbClr val="FFFFFF"/>
            </a:solidFill>
            <a:prstDash val="solid"/>
          </a:ln>
        </p:spPr>
      </p:sp>
      <p:sp>
        <p:nvSpPr>
          <p:cNvPr id="29" name="Text 27"/>
          <p:cNvSpPr txBox="1"/>
          <p:nvPr/>
        </p:nvSpPr>
        <p:spPr>
          <a:xfrm>
            <a:off x="5249566" y="5191845"/>
            <a:ext cx="640080" cy="274320"/>
          </a:xfrm>
          <a:prstGeom prst="rect">
            <a:avLst/>
          </a:prstGeom>
          <a:noFill/>
          <a:ln/>
        </p:spPr>
        <p:txBody>
          <a:bodyPr wrap="square" lIns="0" tIns="0" rIns="0" bIns="0" rtlCol="0" anchor="t"/>
          <a:lstStyle/>
          <a:p>
            <a:pPr algn="l" indent="0" marL="0">
              <a:buNone/>
            </a:pPr>
            <a:r>
              <a:rPr lang="en-US" sz="1300" b="1" dirty="0">
                <a:solidFill>
                  <a:srgbClr val="1A1A1A"/>
                </a:solidFill>
                <a:latin typeface="Arial" pitchFamily="34" charset="0"/>
                <a:ea typeface="Arial" pitchFamily="34" charset="-122"/>
                <a:cs typeface="Arial" pitchFamily="34" charset="-120"/>
              </a:rPr>
              <a:t>FB F</a:t>
            </a:r>
            <a:endParaRPr lang="en-US" sz="1300" dirty="0"/>
          </a:p>
        </p:txBody>
      </p:sp>
      <p:sp>
        <p:nvSpPr>
          <p:cNvPr id="30" name="Text 28"/>
          <p:cNvSpPr txBox="1"/>
          <p:nvPr/>
        </p:nvSpPr>
        <p:spPr>
          <a:xfrm>
            <a:off x="8092440" y="1874520"/>
            <a:ext cx="3410712" cy="914400"/>
          </a:xfrm>
          <a:prstGeom prst="rect">
            <a:avLst/>
          </a:prstGeom>
          <a:noFill/>
          <a:ln/>
        </p:spPr>
        <p:txBody>
          <a:bodyPr wrap="square" lIns="0" tIns="0" rIns="0" bIns="0" rtlCol="0" anchor="t"/>
          <a:lstStyle/>
          <a:p>
            <a:pPr indent="0" marL="0">
              <a:buNone/>
            </a:pPr>
            <a:r>
              <a:rPr lang="en-US" sz="6000" b="1" dirty="0">
                <a:solidFill>
                  <a:srgbClr val="003262"/>
                </a:solidFill>
                <a:latin typeface="Arial" pitchFamily="34" charset="0"/>
                <a:ea typeface="Arial" pitchFamily="34" charset="-122"/>
                <a:cs typeface="Arial" pitchFamily="34" charset="-120"/>
              </a:rPr>
              <a:t>r = −0.79</a:t>
            </a:r>
            <a:endParaRPr lang="en-US" sz="6000" dirty="0"/>
          </a:p>
        </p:txBody>
      </p:sp>
      <p:sp>
        <p:nvSpPr>
          <p:cNvPr id="31" name="Text 29"/>
          <p:cNvSpPr txBox="1"/>
          <p:nvPr/>
        </p:nvSpPr>
        <p:spPr>
          <a:xfrm>
            <a:off x="8092440" y="2834640"/>
            <a:ext cx="3200400" cy="59436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Korrelation zwischen Frauenanteil und Zulassungsquote des Fachbereichs</a:t>
            </a:r>
            <a:endParaRPr lang="en-US" sz="1500" dirty="0"/>
          </a:p>
        </p:txBody>
      </p:sp>
      <p:sp>
        <p:nvSpPr>
          <p:cNvPr id="32" name="Text 30"/>
          <p:cNvSpPr txBox="1"/>
          <p:nvPr/>
        </p:nvSpPr>
        <p:spPr>
          <a:xfrm>
            <a:off x="8092440" y="3840480"/>
            <a:ext cx="3291840" cy="100584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Je höher der Frauenanteil, desto tiefer die Zulassungsquote des Fachbereichs.</a:t>
            </a:r>
            <a:endParaRPr lang="en-US" sz="1900" dirty="0"/>
          </a:p>
        </p:txBody>
      </p:sp>
      <p:sp>
        <p:nvSpPr>
          <p:cNvPr id="33" name="Text 31"/>
          <p:cNvSpPr txBox="1"/>
          <p:nvPr/>
        </p:nvSpPr>
        <p:spPr>
          <a:xfrm>
            <a:off x="8092440" y="5349240"/>
            <a:ext cx="3291840" cy="274320"/>
          </a:xfrm>
          <a:prstGeom prst="rect">
            <a:avLst/>
          </a:prstGeom>
          <a:noFill/>
          <a:ln/>
        </p:spPr>
        <p:txBody>
          <a:bodyPr wrap="square" lIns="0" tIns="0" rIns="0" bIns="0" rtlCol="0" anchor="t"/>
          <a:lstStyle/>
          <a:p>
            <a:pPr indent="0" marL="0">
              <a:buNone/>
            </a:pPr>
            <a:r>
              <a:rPr lang="en-US" sz="1200" dirty="0">
                <a:solidFill>
                  <a:srgbClr val="5F6672"/>
                </a:solidFill>
                <a:latin typeface="Arial" pitchFamily="34" charset="0"/>
                <a:ea typeface="Arial" pitchFamily="34" charset="-122"/>
                <a:cs typeface="Arial" pitchFamily="34" charset="-120"/>
              </a:rPr>
              <a:t>Punktfläche ~ Anzahl Bewerbungen</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DIE ERKLÄRUNG</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Die Erklärung: totale Wahrscheinlichkeit</a:t>
            </a:r>
            <a:endParaRPr lang="en-US" sz="3200" dirty="0"/>
          </a:p>
        </p:txBody>
      </p:sp>
      <p:sp>
        <p:nvSpPr>
          <p:cNvPr id="4" name="Shape 2"/>
          <p:cNvSpPr/>
          <p:nvPr/>
        </p:nvSpPr>
        <p:spPr>
          <a:xfrm>
            <a:off x="0" y="1783080"/>
            <a:ext cx="12191695" cy="1234440"/>
          </a:xfrm>
          <a:prstGeom prst="rect">
            <a:avLst/>
          </a:prstGeom>
          <a:solidFill>
            <a:srgbClr val="F1F3F5"/>
          </a:solidFill>
          <a:ln/>
        </p:spPr>
      </p:sp>
      <p:sp>
        <p:nvSpPr>
          <p:cNvPr id="5" name="Text 3"/>
          <p:cNvSpPr txBox="1"/>
          <p:nvPr/>
        </p:nvSpPr>
        <p:spPr>
          <a:xfrm>
            <a:off x="685800" y="1947672"/>
            <a:ext cx="7772400" cy="548640"/>
          </a:xfrm>
          <a:prstGeom prst="rect">
            <a:avLst/>
          </a:prstGeom>
          <a:noFill/>
          <a:ln/>
        </p:spPr>
        <p:txBody>
          <a:bodyPr wrap="square" lIns="0" tIns="0" rIns="0" bIns="0" rtlCol="0" anchor="t"/>
          <a:lstStyle/>
          <a:p>
            <a:pPr indent="0" marL="0">
              <a:buNone/>
            </a:pPr>
            <a:r>
              <a:rPr lang="en-US" sz="3000" b="1" dirty="0">
                <a:solidFill>
                  <a:srgbClr val="003262"/>
                </a:solidFill>
                <a:latin typeface="Arial" pitchFamily="34" charset="0"/>
                <a:ea typeface="Arial" pitchFamily="34" charset="-122"/>
                <a:cs typeface="Arial" pitchFamily="34" charset="-120"/>
              </a:rPr>
              <a:t>P(Z | G) = Σᵢ P(Fᵢ | G) · P(Z | Fᵢ, G)</a:t>
            </a:r>
            <a:endParaRPr lang="en-US" sz="3000" dirty="0"/>
          </a:p>
        </p:txBody>
      </p:sp>
      <p:sp>
        <p:nvSpPr>
          <p:cNvPr id="6" name="Text 4"/>
          <p:cNvSpPr txBox="1"/>
          <p:nvPr/>
        </p:nvSpPr>
        <p:spPr>
          <a:xfrm>
            <a:off x="685800" y="2542032"/>
            <a:ext cx="7772400" cy="320040"/>
          </a:xfrm>
          <a:prstGeom prst="rect">
            <a:avLst/>
          </a:prstGeom>
          <a:noFill/>
          <a:ln/>
        </p:spPr>
        <p:txBody>
          <a:bodyPr wrap="square" lIns="0" tIns="0" rIns="0" bIns="0" rtlCol="0" anchor="t"/>
          <a:lstStyle/>
          <a:p>
            <a:pPr indent="0" marL="0">
              <a:buNone/>
            </a:pPr>
            <a:r>
              <a:rPr lang="en-US" sz="1700" dirty="0">
                <a:solidFill>
                  <a:srgbClr val="1A1A1A"/>
                </a:solidFill>
                <a:latin typeface="Arial" pitchFamily="34" charset="0"/>
                <a:ea typeface="Arial" pitchFamily="34" charset="-122"/>
                <a:cs typeface="Arial" pitchFamily="34" charset="-120"/>
              </a:rPr>
              <a:t>Gesamtquote = gewichteter Mittelwert der Fachbereichsquoten</a:t>
            </a:r>
            <a:endParaRPr lang="en-US" sz="1700" dirty="0"/>
          </a:p>
        </p:txBody>
      </p:sp>
      <p:sp>
        <p:nvSpPr>
          <p:cNvPr id="7" name="Text 5"/>
          <p:cNvSpPr txBox="1"/>
          <p:nvPr/>
        </p:nvSpPr>
        <p:spPr>
          <a:xfrm>
            <a:off x="685800" y="3291840"/>
            <a:ext cx="6400800" cy="274320"/>
          </a:xfrm>
          <a:prstGeom prst="rect">
            <a:avLst/>
          </a:prstGeom>
          <a:noFill/>
          <a:ln/>
        </p:spPr>
        <p:txBody>
          <a:bodyPr wrap="square" lIns="0" tIns="0" rIns="0" bIns="0" rtlCol="0" anchor="t"/>
          <a:lstStyle/>
          <a:p>
            <a:pPr indent="0" marL="0">
              <a:buNone/>
            </a:pPr>
            <a:r>
              <a:rPr lang="en-US" sz="1300" dirty="0">
                <a:solidFill>
                  <a:srgbClr val="5F6672"/>
                </a:solidFill>
                <a:latin typeface="Arial" pitchFamily="34" charset="0"/>
                <a:ea typeface="Arial" pitchFamily="34" charset="-122"/>
                <a:cs typeface="Arial" pitchFamily="34" charset="-120"/>
              </a:rPr>
              <a:t>Zulassungsquote in %     </a:t>
            </a:r>
            <a:pPr indent="0" marL="0">
              <a:buNone/>
            </a:pPr>
            <a:r>
              <a:rPr lang="en-US" sz="1300" dirty="0">
                <a:solidFill>
                  <a:srgbClr val="D9541E"/>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Frauen     </a:t>
            </a:r>
            <a:pPr indent="0" marL="0">
              <a:buNone/>
            </a:pPr>
            <a:r>
              <a:rPr lang="en-US" sz="1300" dirty="0">
                <a:solidFill>
                  <a:srgbClr val="4A90C2"/>
                </a:solidFill>
                <a:latin typeface="Arial" pitchFamily="34" charset="0"/>
                <a:ea typeface="Arial" pitchFamily="34" charset="-122"/>
                <a:cs typeface="Arial" pitchFamily="34" charset="-120"/>
              </a:rPr>
              <a:t>■ </a:t>
            </a:r>
            <a:pPr indent="0" marL="0">
              <a:buNone/>
            </a:pPr>
            <a:r>
              <a:rPr lang="en-US" sz="1300" b="1" dirty="0">
                <a:solidFill>
                  <a:srgbClr val="1A1A1A"/>
                </a:solidFill>
                <a:latin typeface="Arial" pitchFamily="34" charset="0"/>
                <a:ea typeface="Arial" pitchFamily="34" charset="-122"/>
                <a:cs typeface="Arial" pitchFamily="34" charset="-120"/>
              </a:rPr>
              <a:t>Männer</a:t>
            </a:r>
            <a:endParaRPr lang="en-US" sz="1300" dirty="0"/>
          </a:p>
        </p:txBody>
      </p:sp>
      <p:graphicFrame>
        <p:nvGraphicFramePr>
          <p:cNvPr id="8" name="Chart 0" descr=""/>
          <p:cNvGraphicFramePr/>
          <p:nvPr/>
        </p:nvGraphicFramePr>
        <p:xfrm>
          <a:off x="502920" y="3611880"/>
          <a:ext cx="6400800" cy="25603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7589520" y="3337560"/>
            <a:ext cx="3913632" cy="274320"/>
          </a:xfrm>
          <a:prstGeom prst="rect">
            <a:avLst/>
          </a:prstGeom>
          <a:noFill/>
          <a:ln/>
        </p:spPr>
        <p:txBody>
          <a:bodyPr wrap="square" lIns="0" tIns="0" rIns="0" bIns="0" rtlCol="0" anchor="t"/>
          <a:lstStyle/>
          <a:p>
            <a:pPr indent="0" marL="0">
              <a:buNone/>
            </a:pPr>
            <a:r>
              <a:rPr lang="en-US" sz="1500" dirty="0">
                <a:solidFill>
                  <a:srgbClr val="5F6672"/>
                </a:solidFill>
                <a:latin typeface="Arial" pitchFamily="34" charset="0"/>
                <a:ea typeface="Arial" pitchFamily="34" charset="-122"/>
                <a:cs typeface="Arial" pitchFamily="34" charset="-120"/>
              </a:rPr>
              <a:t>Gleiche Gewichte für beide Geschlechter:</a:t>
            </a:r>
            <a:endParaRPr lang="en-US" sz="1500" dirty="0"/>
          </a:p>
        </p:txBody>
      </p:sp>
      <p:sp>
        <p:nvSpPr>
          <p:cNvPr id="10" name="Text 7"/>
          <p:cNvSpPr txBox="1"/>
          <p:nvPr/>
        </p:nvSpPr>
        <p:spPr>
          <a:xfrm>
            <a:off x="7589520" y="3657600"/>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Frauen  </a:t>
            </a:r>
            <a:pPr indent="0" marL="0">
              <a:buNone/>
            </a:pPr>
            <a:r>
              <a:rPr lang="en-US" sz="3200" b="1" dirty="0">
                <a:solidFill>
                  <a:srgbClr val="D9541E"/>
                </a:solidFill>
                <a:latin typeface="Arial" pitchFamily="34" charset="0"/>
                <a:ea typeface="Arial" pitchFamily="34" charset="-122"/>
                <a:cs typeface="Arial" pitchFamily="34" charset="-120"/>
              </a:rPr>
              <a:t>43.0 %</a:t>
            </a:r>
            <a:endParaRPr lang="en-US" sz="3200" dirty="0"/>
          </a:p>
        </p:txBody>
      </p:sp>
      <p:sp>
        <p:nvSpPr>
          <p:cNvPr id="11" name="Text 8"/>
          <p:cNvSpPr txBox="1"/>
          <p:nvPr/>
        </p:nvSpPr>
        <p:spPr>
          <a:xfrm>
            <a:off x="7589520" y="4224528"/>
            <a:ext cx="3913632" cy="548640"/>
          </a:xfrm>
          <a:prstGeom prst="rect">
            <a:avLst/>
          </a:prstGeom>
          <a:noFill/>
          <a:ln/>
        </p:spPr>
        <p:txBody>
          <a:bodyPr wrap="square" lIns="0" tIns="0" rIns="0" bIns="0" rtlCol="0" anchor="t"/>
          <a:lstStyle/>
          <a:p>
            <a:pPr indent="0" marL="0">
              <a:buNone/>
            </a:pPr>
            <a:r>
              <a:rPr lang="en-US" sz="1800" b="1" dirty="0">
                <a:solidFill>
                  <a:srgbClr val="1A1A1A"/>
                </a:solidFill>
                <a:latin typeface="Arial" pitchFamily="34" charset="0"/>
                <a:ea typeface="Arial" pitchFamily="34" charset="-122"/>
                <a:cs typeface="Arial" pitchFamily="34" charset="-120"/>
              </a:rPr>
              <a:t>Männer  </a:t>
            </a:r>
            <a:pPr indent="0" marL="0">
              <a:buNone/>
            </a:pPr>
            <a:r>
              <a:rPr lang="en-US" sz="3200" b="1" dirty="0">
                <a:solidFill>
                  <a:srgbClr val="4A90C2"/>
                </a:solidFill>
                <a:latin typeface="Arial" pitchFamily="34" charset="0"/>
                <a:ea typeface="Arial" pitchFamily="34" charset="-122"/>
                <a:cs typeface="Arial" pitchFamily="34" charset="-120"/>
              </a:rPr>
              <a:t>38.7 %</a:t>
            </a:r>
            <a:endParaRPr lang="en-US" sz="3200" dirty="0"/>
          </a:p>
        </p:txBody>
      </p:sp>
      <p:sp>
        <p:nvSpPr>
          <p:cNvPr id="12" name="Text 9"/>
          <p:cNvSpPr txBox="1"/>
          <p:nvPr/>
        </p:nvSpPr>
        <p:spPr>
          <a:xfrm>
            <a:off x="7589520" y="4919472"/>
            <a:ext cx="3913632"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Der Unterschied kehrt sich um.</a:t>
            </a:r>
            <a:endParaRPr lang="en-US" sz="1900" dirty="0"/>
          </a:p>
        </p:txBody>
      </p:sp>
      <p:sp>
        <p:nvSpPr>
          <p:cNvPr id="13" name="Text 10"/>
          <p:cNvSpPr txBox="1"/>
          <p:nvPr/>
        </p:nvSpPr>
        <p:spPr>
          <a:xfrm>
            <a:off x="7589520" y="5486400"/>
            <a:ext cx="3913632"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gesamtquote(quote_g[g], gewichte_alle)</a:t>
            </a:r>
            <a:endParaRPr lang="en-US" sz="12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(C) STOCHASTISCHE UNABHÄNGIGKEIT</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Stochastische Unabhängigkeit</a:t>
            </a:r>
            <a:endParaRPr lang="en-US" sz="3200" dirty="0"/>
          </a:p>
        </p:txBody>
      </p:sp>
      <p:sp>
        <p:nvSpPr>
          <p:cNvPr id="4" name="Text 2"/>
          <p:cNvSpPr txBox="1"/>
          <p:nvPr/>
        </p:nvSpPr>
        <p:spPr>
          <a:xfrm>
            <a:off x="685800" y="1691640"/>
            <a:ext cx="10820095" cy="411480"/>
          </a:xfrm>
          <a:prstGeom prst="rect">
            <a:avLst/>
          </a:prstGeom>
          <a:noFill/>
          <a:ln/>
        </p:spPr>
        <p:txBody>
          <a:bodyPr wrap="square" lIns="0" tIns="0" rIns="0" bIns="0" rtlCol="0" anchor="t"/>
          <a:lstStyle/>
          <a:p>
            <a:pPr indent="0" marL="0">
              <a:buNone/>
            </a:pPr>
            <a:r>
              <a:rPr lang="en-US" sz="2100" b="1" dirty="0">
                <a:solidFill>
                  <a:srgbClr val="003262"/>
                </a:solidFill>
                <a:latin typeface="Arial" pitchFamily="34" charset="0"/>
                <a:ea typeface="Arial" pitchFamily="34" charset="-122"/>
                <a:cs typeface="Arial" pitchFamily="34" charset="-120"/>
              </a:rPr>
              <a:t>Z, W unabhängig   ⇔   P(Z ∩ W) = P(Z) · P(W)   ⇔   P(Z | W) = P(Z)</a:t>
            </a:r>
            <a:endParaRPr lang="en-US" sz="2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20095" cy="914400"/>
        </p:xfrm>
        <a:graphic>
          <a:graphicData uri="http://schemas.openxmlformats.org/drawingml/2006/table">
            <a:tbl>
              <a:tblPr/>
              <a:tblGrid>
                <a:gridCol w="1143000"/>
                <a:gridCol w="1234440"/>
                <a:gridCol w="1234440"/>
                <a:gridCol w="1234440"/>
                <a:gridCol w="1371600"/>
                <a:gridCol w="4602175"/>
              </a:tblGrid>
              <a:tr h="384048">
                <a:tc>
                  <a:txBody>
                    <a:bodyPr/>
                    <a:lstStyle/>
                    <a:p>
                      <a:pPr algn="l" indent="0" marL="0">
                        <a:buNone/>
                      </a:pP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Chi-Quadrat-Test (α = 5 %)</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Gesamt</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30.4 %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44.5 %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0.1231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r" indent="0" marL="0">
                        <a:buNone/>
                      </a:pPr>
                      <a:r>
                        <a:rPr lang="en-US" sz="1500" b="1" dirty="0">
                          <a:solidFill>
                            <a:srgbClr val="1A1A1A"/>
                          </a:solidFill>
                          <a:latin typeface="Arial" pitchFamily="34" charset="0"/>
                          <a:ea typeface="Arial" pitchFamily="34" charset="-122"/>
                          <a:cs typeface="Arial" pitchFamily="34" charset="-120"/>
                        </a:rPr>
                        <a:t>0.1572</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92.2, p &lt; 0.001: 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solidFill>
                      <a:srgbClr val="F1F3F5"/>
                    </a:solidFill>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0.0954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0.0746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b="1" dirty="0">
                          <a:solidFill>
                            <a:srgbClr val="D9541E"/>
                          </a:solidFill>
                          <a:latin typeface="Arial" pitchFamily="34" charset="0"/>
                          <a:ea typeface="Arial" pitchFamily="34" charset="-122"/>
                          <a:cs typeface="Arial" pitchFamily="34" charset="-120"/>
                        </a:rPr>
                        <a:t>χ² = 17.3, p &lt; 0.001: abhängig (pro Frauen)</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0.0291</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0.0270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0.61: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0.2200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0.2266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0.1654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0.59: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0.1610</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0.1694</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0.32: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384048">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FB 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0.0336</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0.0308</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l" indent="0" marL="0">
                        <a:buNone/>
                      </a:pPr>
                      <a:r>
                        <a:rPr lang="en-US" sz="1500" dirty="0">
                          <a:solidFill>
                            <a:srgbClr val="1A1A1A"/>
                          </a:solidFill>
                          <a:latin typeface="Arial" pitchFamily="34" charset="0"/>
                          <a:ea typeface="Arial" pitchFamily="34" charset="-122"/>
                          <a:cs typeface="Arial" pitchFamily="34" charset="-120"/>
                        </a:rPr>
                        <a:t>p = 0.54: unabhängig</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bl>
          </a:graphicData>
        </a:graphic>
      </p:graphicFrame>
      <p:sp>
        <p:nvSpPr>
          <p:cNvPr id="6" name="Text 3"/>
          <p:cNvSpPr txBox="1"/>
          <p:nvPr/>
        </p:nvSpPr>
        <p:spPr>
          <a:xfrm>
            <a:off x="685800" y="5541264"/>
            <a:ext cx="10820095" cy="548640"/>
          </a:xfrm>
          <a:prstGeom prst="rect">
            <a:avLst/>
          </a:prstGeom>
          <a:noFill/>
          <a:ln/>
        </p:spPr>
        <p:txBody>
          <a:bodyPr wrap="square" lIns="0" tIns="0" rIns="0" bIns="0" rtlCol="0" anchor="t"/>
          <a:lstStyle/>
          <a:p>
            <a:pPr indent="0" marL="0">
              <a:buNone/>
            </a:pPr>
            <a:r>
              <a:rPr lang="en-US" sz="1700" b="1" dirty="0">
                <a:solidFill>
                  <a:srgbClr val="1A1A1A"/>
                </a:solidFill>
                <a:latin typeface="Arial" pitchFamily="34" charset="0"/>
                <a:ea typeface="Arial" pitchFamily="34" charset="-122"/>
                <a:cs typeface="Arial" pitchFamily="34" charset="-120"/>
              </a:rPr>
              <a:t>Insgesamt abhängig, innerhalb der Fachbereiche (bis auf A) unabhängig: bedingte Unabhängigkeit gegeben Fachbereich</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FAZIT  ·  SIMPSON-PARADOXON</a:t>
            </a:r>
            <a:endParaRPr lang="en-US" sz="1200" dirty="0"/>
          </a:p>
        </p:txBody>
      </p:sp>
      <p:sp>
        <p:nvSpPr>
          <p:cNvPr id="3" name="Text 0"/>
          <p:cNvSpPr/>
          <p:nvPr>
            <p:ph idx="100" type="title" hasCustomPrompt="1"/>
          </p:nvPr>
        </p:nvSpPr>
        <p:spPr>
          <a:xfrm>
            <a:off x="685800" y="786384"/>
            <a:ext cx="10820095" cy="1554480"/>
          </a:xfrm>
          <a:prstGeom prst="rect">
            <a:avLst/>
          </a:prstGeom>
          <a:noFill/>
          <a:ln/>
        </p:spPr>
        <p:txBody>
          <a:bodyPr wrap="square" lIns="0" tIns="0" rIns="0" bIns="0" rtlCol="0" anchor="t"/>
          <a:lstStyle/>
          <a:p>
            <a:pPr algn="l" indent="0" marL="0">
              <a:buNone/>
            </a:pPr>
            <a:r>
              <a:rPr lang="en-US" sz="3200" b="1" dirty="0">
                <a:solidFill>
                  <a:srgbClr val="FFFFFF"/>
                </a:solidFill>
                <a:latin typeface="Arial" pitchFamily="34" charset="0"/>
                <a:ea typeface="Arial" pitchFamily="34" charset="-122"/>
                <a:cs typeface="Arial" pitchFamily="34" charset="-120"/>
              </a:rPr>
              <a:t>Die Drittvariable Fachbereich</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kehrt den Zusammenhang um</a:t>
            </a:r>
            <a:endParaRPr lang="en-US" sz="3200" dirty="0"/>
          </a:p>
        </p:txBody>
      </p:sp>
      <p:sp>
        <p:nvSpPr>
          <p:cNvPr id="4" name="Text 2"/>
          <p:cNvSpPr txBox="1"/>
          <p:nvPr/>
        </p:nvSpPr>
        <p:spPr>
          <a:xfrm>
            <a:off x="685800"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685800"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AGGREGIERT</a:t>
            </a:r>
            <a:endParaRPr lang="en-US" sz="1200" dirty="0"/>
          </a:p>
        </p:txBody>
      </p:sp>
      <p:sp>
        <p:nvSpPr>
          <p:cNvPr id="6" name="Text 4"/>
          <p:cNvSpPr txBox="1"/>
          <p:nvPr/>
        </p:nvSpPr>
        <p:spPr>
          <a:xfrm>
            <a:off x="685800"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Zulassung und Geschlecht sind stochastisch abhängig (30.4 % vs. 44.5 %)</a:t>
            </a:r>
            <a:endParaRPr lang="en-US" sz="1700" dirty="0"/>
          </a:p>
        </p:txBody>
      </p:sp>
      <p:sp>
        <p:nvSpPr>
          <p:cNvPr id="7" name="Text 5"/>
          <p:cNvSpPr txBox="1"/>
          <p:nvPr/>
        </p:nvSpPr>
        <p:spPr>
          <a:xfrm>
            <a:off x="2904683"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02</a:t>
            </a:r>
            <a:endParaRPr lang="en-US" sz="3000" dirty="0"/>
          </a:p>
        </p:txBody>
      </p:sp>
      <p:sp>
        <p:nvSpPr>
          <p:cNvPr id="8" name="Text 6"/>
          <p:cNvSpPr txBox="1"/>
          <p:nvPr/>
        </p:nvSpPr>
        <p:spPr>
          <a:xfrm>
            <a:off x="2904683"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JE FACHBEREICH</a:t>
            </a:r>
            <a:endParaRPr lang="en-US" sz="1200" dirty="0"/>
          </a:p>
        </p:txBody>
      </p:sp>
      <p:sp>
        <p:nvSpPr>
          <p:cNvPr id="9" name="Text 7"/>
          <p:cNvSpPr txBox="1"/>
          <p:nvPr/>
        </p:nvSpPr>
        <p:spPr>
          <a:xfrm>
            <a:off x="2904683"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Kein Nachteil für Frauen; bedingt auf den Fachbereich meist unabhängig</a:t>
            </a:r>
            <a:endParaRPr lang="en-US" sz="1700" dirty="0"/>
          </a:p>
        </p:txBody>
      </p:sp>
      <p:sp>
        <p:nvSpPr>
          <p:cNvPr id="10" name="Text 8"/>
          <p:cNvSpPr txBox="1"/>
          <p:nvPr/>
        </p:nvSpPr>
        <p:spPr>
          <a:xfrm>
            <a:off x="5123566"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03</a:t>
            </a:r>
            <a:endParaRPr lang="en-US" sz="3000" dirty="0"/>
          </a:p>
        </p:txBody>
      </p:sp>
      <p:sp>
        <p:nvSpPr>
          <p:cNvPr id="11" name="Text 9"/>
          <p:cNvSpPr txBox="1"/>
          <p:nvPr/>
        </p:nvSpPr>
        <p:spPr>
          <a:xfrm>
            <a:off x="5123566"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URSACHE</a:t>
            </a:r>
            <a:endParaRPr lang="en-US" sz="1200" dirty="0"/>
          </a:p>
        </p:txBody>
      </p:sp>
      <p:sp>
        <p:nvSpPr>
          <p:cNvPr id="12" name="Text 10"/>
          <p:cNvSpPr txBox="1"/>
          <p:nvPr/>
        </p:nvSpPr>
        <p:spPr>
          <a:xfrm>
            <a:off x="5123566"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Frauen bewarben sich häufiger in stark umkämpften Fachbereichen</a:t>
            </a:r>
            <a:endParaRPr lang="en-US" sz="1700" dirty="0"/>
          </a:p>
        </p:txBody>
      </p:sp>
      <p:sp>
        <p:nvSpPr>
          <p:cNvPr id="13" name="Text 11"/>
          <p:cNvSpPr txBox="1"/>
          <p:nvPr/>
        </p:nvSpPr>
        <p:spPr>
          <a:xfrm>
            <a:off x="7342449"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04</a:t>
            </a:r>
            <a:endParaRPr lang="en-US" sz="3000" dirty="0"/>
          </a:p>
        </p:txBody>
      </p:sp>
      <p:sp>
        <p:nvSpPr>
          <p:cNvPr id="14" name="Text 12"/>
          <p:cNvSpPr txBox="1"/>
          <p:nvPr/>
        </p:nvSpPr>
        <p:spPr>
          <a:xfrm>
            <a:off x="7342449"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GRENZEN</a:t>
            </a:r>
            <a:endParaRPr lang="en-US" sz="1200" dirty="0"/>
          </a:p>
        </p:txBody>
      </p:sp>
      <p:sp>
        <p:nvSpPr>
          <p:cNvPr id="15" name="Text 13"/>
          <p:cNvSpPr txBox="1"/>
          <p:nvPr/>
        </p:nvSpPr>
        <p:spPr>
          <a:xfrm>
            <a:off x="7342449"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Beobachtungsdaten eines Jahres; Gründe für die Fachbereichswahl bleiben offen</a:t>
            </a:r>
            <a:endParaRPr lang="en-US" sz="1700" dirty="0"/>
          </a:p>
        </p:txBody>
      </p:sp>
      <p:sp>
        <p:nvSpPr>
          <p:cNvPr id="16" name="Text 14"/>
          <p:cNvSpPr txBox="1"/>
          <p:nvPr/>
        </p:nvSpPr>
        <p:spPr>
          <a:xfrm>
            <a:off x="9561332" y="2743200"/>
            <a:ext cx="1944563" cy="502920"/>
          </a:xfrm>
          <a:prstGeom prst="rect">
            <a:avLst/>
          </a:prstGeom>
          <a:noFill/>
          <a:ln/>
        </p:spPr>
        <p:txBody>
          <a:bodyPr wrap="square" lIns="0" tIns="0" rIns="0" bIns="0" rtlCol="0" anchor="t"/>
          <a:lstStyle/>
          <a:p>
            <a:pPr indent="0" marL="0">
              <a:buNone/>
            </a:pPr>
            <a:r>
              <a:rPr lang="en-US" sz="3000" b="1" dirty="0">
                <a:solidFill>
                  <a:srgbClr val="FDB515"/>
                </a:solidFill>
                <a:latin typeface="Arial" pitchFamily="34" charset="0"/>
                <a:ea typeface="Arial" pitchFamily="34" charset="-122"/>
                <a:cs typeface="Arial" pitchFamily="34" charset="-120"/>
              </a:rPr>
              <a:t>05</a:t>
            </a:r>
            <a:endParaRPr lang="en-US" sz="3000" dirty="0"/>
          </a:p>
        </p:txBody>
      </p:sp>
      <p:sp>
        <p:nvSpPr>
          <p:cNvPr id="17" name="Text 15"/>
          <p:cNvSpPr txBox="1"/>
          <p:nvPr/>
        </p:nvSpPr>
        <p:spPr>
          <a:xfrm>
            <a:off x="9561332" y="3337560"/>
            <a:ext cx="1944563" cy="274320"/>
          </a:xfrm>
          <a:prstGeom prst="rect">
            <a:avLst/>
          </a:prstGeom>
          <a:noFill/>
          <a:ln/>
        </p:spPr>
        <p:txBody>
          <a:bodyPr wrap="square" lIns="0" tIns="0" rIns="0" bIns="0" rtlCol="0" anchor="t"/>
          <a:lstStyle/>
          <a:p>
            <a:pPr indent="0" marL="0">
              <a:buNone/>
            </a:pPr>
            <a:r>
              <a:rPr lang="en-US" sz="1200" b="1" spc="150" kern="0" dirty="0">
                <a:solidFill>
                  <a:srgbClr val="FDB515"/>
                </a:solidFill>
                <a:latin typeface="Arial" pitchFamily="34" charset="0"/>
                <a:ea typeface="Arial" pitchFamily="34" charset="-122"/>
                <a:cs typeface="Arial" pitchFamily="34" charset="-120"/>
              </a:rPr>
              <a:t>PYTHON</a:t>
            </a:r>
            <a:endParaRPr lang="en-US" sz="1200" dirty="0"/>
          </a:p>
        </p:txBody>
      </p:sp>
      <p:sp>
        <p:nvSpPr>
          <p:cNvPr id="18" name="Text 16"/>
          <p:cNvSpPr txBox="1"/>
          <p:nvPr/>
        </p:nvSpPr>
        <p:spPr>
          <a:xfrm>
            <a:off x="9561332" y="3685032"/>
            <a:ext cx="1944563" cy="1737360"/>
          </a:xfrm>
          <a:prstGeom prst="rect">
            <a:avLst/>
          </a:prstGeom>
          <a:noFill/>
          <a:ln/>
        </p:spPr>
        <p:txBody>
          <a:bodyPr wrap="square" lIns="0" tIns="0" rIns="0" bIns="0" rtlCol="0" anchor="t"/>
          <a:lstStyle/>
          <a:p>
            <a:pPr indent="0" marL="0">
              <a:lnSpc>
                <a:spcPct val="105000"/>
              </a:lnSpc>
              <a:buNone/>
            </a:pPr>
            <a:r>
              <a:rPr lang="en-US" sz="1700" dirty="0">
                <a:solidFill>
                  <a:srgbClr val="FFFFFF"/>
                </a:solidFill>
                <a:latin typeface="Arial" pitchFamily="34" charset="0"/>
                <a:ea typeface="Arial" pitchFamily="34" charset="-122"/>
                <a:cs typeface="Arial" pitchFamily="34" charset="-120"/>
              </a:rPr>
              <a:t>Dieselben Funktionen für Gesamtanalyse, 6 Fachbereiche und Standardisierung</a:t>
            </a:r>
            <a:endParaRPr lang="en-US" sz="17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QUELLEN  ·  FRAGEN</a:t>
            </a:r>
            <a:endParaRPr lang="en-US" sz="1200" dirty="0"/>
          </a:p>
        </p:txBody>
      </p:sp>
      <p:sp>
        <p:nvSpPr>
          <p:cNvPr id="3" name="Text 1"/>
          <p:cNvSpPr txBox="1"/>
          <p:nvPr/>
        </p:nvSpPr>
        <p:spPr>
          <a:xfrm>
            <a:off x="685800" y="2103120"/>
            <a:ext cx="4937760" cy="1280160"/>
          </a:xfrm>
          <a:prstGeom prst="rect">
            <a:avLst/>
          </a:prstGeom>
          <a:noFill/>
          <a:ln/>
        </p:spPr>
        <p:txBody>
          <a:bodyPr wrap="square" lIns="0" tIns="0" rIns="0" bIns="0" rtlCol="0" anchor="t"/>
          <a:lstStyle/>
          <a:p>
            <a:pPr indent="0" marL="0">
              <a:buNone/>
            </a:pPr>
            <a:r>
              <a:rPr lang="en-US" sz="8800" b="1" dirty="0">
                <a:solidFill>
                  <a:srgbClr val="003262"/>
                </a:solidFill>
                <a:latin typeface="Arial" pitchFamily="34" charset="0"/>
                <a:ea typeface="Arial" pitchFamily="34" charset="-122"/>
                <a:cs typeface="Arial" pitchFamily="34" charset="-120"/>
              </a:rPr>
              <a:t>Fragen?</a:t>
            </a:r>
            <a:endParaRPr lang="en-US" sz="8800" dirty="0"/>
          </a:p>
        </p:txBody>
      </p:sp>
      <p:sp>
        <p:nvSpPr>
          <p:cNvPr id="4" name="Text 2"/>
          <p:cNvSpPr txBox="1"/>
          <p:nvPr/>
        </p:nvSpPr>
        <p:spPr>
          <a:xfrm>
            <a:off x="685800" y="3520440"/>
            <a:ext cx="4937760" cy="365760"/>
          </a:xfrm>
          <a:prstGeom prst="rect">
            <a:avLst/>
          </a:prstGeom>
          <a:noFill/>
          <a:ln/>
        </p:spPr>
        <p:txBody>
          <a:bodyPr wrap="square" lIns="0" tIns="0" rIns="0" bIns="0" rtlCol="0" anchor="t"/>
          <a:lstStyle/>
          <a:p>
            <a:pPr indent="0" marL="0">
              <a:buNone/>
            </a:pPr>
            <a:r>
              <a:rPr lang="en-US" sz="1900" dirty="0">
                <a:solidFill>
                  <a:srgbClr val="5F6672"/>
                </a:solidFill>
                <a:latin typeface="Arial" pitchFamily="34" charset="0"/>
                <a:ea typeface="Arial" pitchFamily="34" charset="-122"/>
                <a:cs typeface="Arial" pitchFamily="34" charset="-120"/>
              </a:rPr>
              <a:t>Danke für die Aufmerksamkeit.</a:t>
            </a:r>
            <a:endParaRPr lang="en-US" sz="1900" dirty="0"/>
          </a:p>
        </p:txBody>
      </p:sp>
      <p:sp>
        <p:nvSpPr>
          <p:cNvPr id="5" name="Text 3"/>
          <p:cNvSpPr txBox="1"/>
          <p:nvPr/>
        </p:nvSpPr>
        <p:spPr>
          <a:xfrm>
            <a:off x="6126480" y="1234440"/>
            <a:ext cx="4572000" cy="27432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QUELLEN</a:t>
            </a:r>
            <a:endParaRPr lang="en-US" sz="1100" dirty="0"/>
          </a:p>
        </p:txBody>
      </p:sp>
      <p:sp>
        <p:nvSpPr>
          <p:cNvPr id="6" name="Text 4"/>
          <p:cNvSpPr txBox="1"/>
          <p:nvPr/>
        </p:nvSpPr>
        <p:spPr>
          <a:xfrm>
            <a:off x="6126480" y="1600200"/>
            <a:ext cx="5376672" cy="4480560"/>
          </a:xfrm>
          <a:prstGeom prst="rect">
            <a:avLst/>
          </a:prstGeom>
          <a:noFill/>
          <a:ln/>
        </p:spPr>
        <p:txBody>
          <a:bodyPr wrap="square" lIns="0" tIns="0" rIns="0" bIns="0" rtlCol="0" anchor="t"/>
          <a:lstStyle/>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Bickel, P. J., Hammel, E. A. &amp; O'Connell, J. W. (1975). Sex Bias in Graduate Admissions: Data from Berkeley. Science, 187(4175), 398–404.</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McKinney, W. (2018). Datenanalyse mit Python (2. Aufl.). O'Reilly. Abschnitt 3.2 Funktionen.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Newbold, P., Carlson, W. &amp; Thorne, B. (2013). Statistics for Business and Economics (8th ed.). Pearson.</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ZHAW SML (HS 2026). Folienskript Statistik, Teil 3; Aufgabe 4, Tabelle 4: UCB Admissions.</a:t>
            </a:r>
            <a:endParaRPr lang="en-US" sz="1400" dirty="0"/>
          </a:p>
          <a:p>
            <a:pPr indent="0" marL="0">
              <a:lnSpc>
                <a:spcPct val="105000"/>
              </a:lnSpc>
              <a:spcAft>
                <a:spcPts val="1400"/>
              </a:spcAft>
              <a:buNone/>
            </a:pPr>
            <a:r>
              <a:rPr lang="en-US" sz="1400" dirty="0">
                <a:solidFill>
                  <a:srgbClr val="1A1A1A"/>
                </a:solidFill>
                <a:latin typeface="Arial" pitchFamily="34" charset="0"/>
                <a:ea typeface="Arial" pitchFamily="34" charset="-122"/>
                <a:cs typeface="Arial" pitchFamily="34" charset="-120"/>
              </a:rPr>
              <a:t>Code: Vortrag4_Berkeley_Analyse.ipynb</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85800" y="685800"/>
            <a:ext cx="7315200" cy="274320"/>
          </a:xfrm>
          <a:prstGeom prst="rect">
            <a:avLst/>
          </a:prstGeom>
          <a:noFill/>
          <a:ln/>
        </p:spPr>
        <p:txBody>
          <a:bodyPr wrap="square" lIns="0" tIns="0" rIns="0" bIns="0" rtlCol="0" anchor="t"/>
          <a:lstStyle/>
          <a:p>
            <a:pPr indent="0" marL="0">
              <a:buNone/>
            </a:pPr>
            <a:r>
              <a:rPr lang="en-US" sz="1200" b="1" spc="200" kern="0" dirty="0">
                <a:solidFill>
                  <a:srgbClr val="FDB515"/>
                </a:solidFill>
                <a:latin typeface="Arial" pitchFamily="34" charset="0"/>
                <a:ea typeface="Arial" pitchFamily="34" charset="-122"/>
                <a:cs typeface="Arial" pitchFamily="34" charset="-120"/>
              </a:rPr>
              <a:t>ANHANG</a:t>
            </a:r>
            <a:endParaRPr lang="en-US" sz="1200" dirty="0"/>
          </a:p>
        </p:txBody>
      </p:sp>
      <p:sp>
        <p:nvSpPr>
          <p:cNvPr id="3" name="Text 1"/>
          <p:cNvSpPr txBox="1"/>
          <p:nvPr/>
        </p:nvSpPr>
        <p:spPr>
          <a:xfrm>
            <a:off x="612648" y="1143000"/>
            <a:ext cx="7315200" cy="2926080"/>
          </a:xfrm>
          <a:prstGeom prst="rect">
            <a:avLst/>
          </a:prstGeom>
          <a:noFill/>
          <a:ln/>
        </p:spPr>
        <p:txBody>
          <a:bodyPr wrap="square" lIns="0" tIns="0" rIns="0" bIns="0" rtlCol="0" anchor="t"/>
          <a:lstStyle/>
          <a:p>
            <a:pPr indent="0" marL="0">
              <a:buNone/>
            </a:pPr>
            <a:r>
              <a:rPr lang="en-US" sz="20000" b="1" dirty="0">
                <a:solidFill>
                  <a:srgbClr val="FDB515"/>
                </a:solidFill>
                <a:latin typeface="Arial" pitchFamily="34" charset="0"/>
                <a:ea typeface="Arial" pitchFamily="34" charset="-122"/>
                <a:cs typeface="Arial" pitchFamily="34" charset="-120"/>
              </a:rPr>
              <a:t>R</a:t>
            </a:r>
            <a:endParaRPr lang="en-US" sz="20000" dirty="0"/>
          </a:p>
        </p:txBody>
      </p:sp>
      <p:sp>
        <p:nvSpPr>
          <p:cNvPr id="4" name="Text 2"/>
          <p:cNvSpPr txBox="1"/>
          <p:nvPr/>
        </p:nvSpPr>
        <p:spPr>
          <a:xfrm>
            <a:off x="685800" y="4297680"/>
            <a:ext cx="960120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Reserve</a:t>
            </a:r>
            <a:endParaRPr lang="en-US" sz="4000" dirty="0"/>
          </a:p>
        </p:txBody>
      </p:sp>
      <p:sp>
        <p:nvSpPr>
          <p:cNvPr id="5" name="Text 3"/>
          <p:cNvSpPr txBox="1"/>
          <p:nvPr/>
        </p:nvSpPr>
        <p:spPr>
          <a:xfrm>
            <a:off x="685800" y="5120640"/>
            <a:ext cx="8686800" cy="731520"/>
          </a:xfrm>
          <a:prstGeom prst="rect">
            <a:avLst/>
          </a:prstGeom>
          <a:noFill/>
          <a:ln/>
        </p:spPr>
        <p:txBody>
          <a:bodyPr wrap="square" lIns="0" tIns="0" rIns="0" bIns="0" rtlCol="0" anchor="t"/>
          <a:lstStyle/>
          <a:p>
            <a:pPr indent="0" marL="0">
              <a:buNone/>
            </a:pPr>
            <a:r>
              <a:rPr lang="en-US" sz="1900" dirty="0">
                <a:solidFill>
                  <a:srgbClr val="C9D6E3"/>
                </a:solidFill>
                <a:latin typeface="Arial" pitchFamily="34" charset="0"/>
                <a:ea typeface="Arial" pitchFamily="34" charset="-122"/>
                <a:cs typeface="Arial" pitchFamily="34" charset="-120"/>
              </a:rPr>
              <a:t>Zusatzfolien für die 20-Minuten-Variante und für Rückfragen</a:t>
            </a:r>
            <a:endParaRPr lang="en-US" sz="19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C9D6E3"/>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13</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Gesamtquote als gewichteter Mittelwert</a:t>
            </a:r>
            <a:endParaRPr lang="en-US" sz="3200" dirty="0"/>
          </a:p>
        </p:txBody>
      </p:sp>
      <p:sp>
        <p:nvSpPr>
          <p:cNvPr id="4" name="Text 2"/>
          <p:cNvSpPr txBox="1"/>
          <p:nvPr/>
        </p:nvSpPr>
        <p:spPr>
          <a:xfrm>
            <a:off x="685800" y="1828800"/>
            <a:ext cx="3291840" cy="822960"/>
          </a:xfrm>
          <a:prstGeom prst="rect">
            <a:avLst/>
          </a:prstGeom>
          <a:noFill/>
          <a:ln/>
        </p:spPr>
        <p:txBody>
          <a:bodyPr wrap="square" lIns="0" tIns="0" rIns="0" bIns="0" rtlCol="0" anchor="t"/>
          <a:lstStyle/>
          <a:p>
            <a:pPr indent="0" marL="0">
              <a:buNone/>
            </a:pPr>
            <a:r>
              <a:rPr lang="en-US" sz="1900" b="1" dirty="0">
                <a:solidFill>
                  <a:srgbClr val="003262"/>
                </a:solidFill>
                <a:latin typeface="Arial" pitchFamily="34" charset="0"/>
                <a:ea typeface="Arial" pitchFamily="34" charset="-122"/>
                <a:cs typeface="Arial" pitchFamily="34" charset="-120"/>
              </a:rPr>
              <a:t>P(Z | G) =</a:t>
            </a:r>
            <a:endParaRPr lang="en-US" sz="1900" dirty="0"/>
          </a:p>
          <a:p>
            <a:pPr indent="0" marL="0">
              <a:buNone/>
            </a:pPr>
            <a:r>
              <a:rPr lang="en-US" sz="1900" b="1" dirty="0">
                <a:solidFill>
                  <a:srgbClr val="003262"/>
                </a:solidFill>
                <a:latin typeface="Arial" pitchFamily="34" charset="0"/>
                <a:ea typeface="Arial" pitchFamily="34" charset="-122"/>
                <a:cs typeface="Arial" pitchFamily="34" charset="-120"/>
              </a:rPr>
              <a:t>Σᵢ P(Fᵢ | G) · P(Z | Fᵢ, G)</a:t>
            </a:r>
            <a:endParaRPr lang="en-US" sz="1900" dirty="0"/>
          </a:p>
        </p:txBody>
      </p:sp>
      <p:sp>
        <p:nvSpPr>
          <p:cNvPr id="5" name="Text 3"/>
          <p:cNvSpPr txBox="1"/>
          <p:nvPr/>
        </p:nvSpPr>
        <p:spPr>
          <a:xfrm>
            <a:off x="685800" y="2880360"/>
            <a:ext cx="3200400" cy="54864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Beitrag je Fachbereich = Anteil × Quote</a:t>
            </a:r>
            <a:endParaRPr lang="en-US" sz="1600" dirty="0"/>
          </a:p>
        </p:txBody>
      </p:sp>
      <p:sp>
        <p:nvSpPr>
          <p:cNvPr id="6" name="Text 4"/>
          <p:cNvSpPr txBox="1"/>
          <p:nvPr/>
        </p:nvSpPr>
        <p:spPr>
          <a:xfrm>
            <a:off x="685800" y="3657600"/>
            <a:ext cx="3200400" cy="2194560"/>
          </a:xfrm>
          <a:prstGeom prst="rect">
            <a:avLst/>
          </a:prstGeom>
          <a:noFill/>
          <a:ln/>
        </p:spPr>
        <p:txBody>
          <a:bodyPr wrap="square" lIns="0" tIns="0" rIns="0" bIns="0" rtlCol="0" anchor="t"/>
          <a:lstStyle/>
          <a:p>
            <a:pPr indent="0" marL="0">
              <a:lnSpc>
                <a:spcPct val="105000"/>
              </a:lnSpc>
              <a:buNone/>
            </a:pPr>
            <a:r>
              <a:rPr lang="en-US" sz="1500" dirty="0">
                <a:solidFill>
                  <a:srgbClr val="5F6672"/>
                </a:solidFill>
                <a:latin typeface="Arial" pitchFamily="34" charset="0"/>
                <a:ea typeface="Arial" pitchFamily="34" charset="-122"/>
                <a:cs typeface="Arial" pitchFamily="34" charset="-120"/>
              </a:rPr>
              <a:t>Frauen haben ihre grossen Gewichte bei den tiefen Quoten (C–F), Männer bei den hohen (A, B). Deshalb ist die Summe der Frauen klein, obwohl ihre Quoten je Fachbereich meist höher sind.</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343400" y="1828800"/>
          <a:ext cx="7162495" cy="914400"/>
        </p:xfrm>
        <a:graphic>
          <a:graphicData uri="http://schemas.openxmlformats.org/drawingml/2006/table">
            <a:tbl>
              <a:tblPr/>
              <a:tblGrid>
                <a:gridCol w="667512"/>
                <a:gridCol w="1081735"/>
                <a:gridCol w="1081735"/>
                <a:gridCol w="1097280"/>
                <a:gridCol w="1081735"/>
                <a:gridCol w="1081735"/>
                <a:gridCol w="1070762"/>
              </a:tblGrid>
              <a:tr h="457200">
                <a:tc>
                  <a:txBody>
                    <a:bodyPr/>
                    <a:lstStyle/>
                    <a:p>
                      <a:pPr algn="l" indent="0" marL="0">
                        <a:buNone/>
                      </a:pPr>
                      <a:r>
                        <a:rPr lang="en-US" sz="1300" b="1" dirty="0">
                          <a:solidFill>
                            <a:srgbClr val="5F6672"/>
                          </a:solidFill>
                          <a:latin typeface="Arial" pitchFamily="34" charset="0"/>
                          <a:ea typeface="Arial" pitchFamily="34" charset="-122"/>
                          <a:cs typeface="Arial" pitchFamily="34" charset="-120"/>
                        </a:rPr>
                        <a:t>FB</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D9541E"/>
                          </a:solidFill>
                          <a:latin typeface="Arial" pitchFamily="34" charset="0"/>
                          <a:ea typeface="Arial" pitchFamily="34" charset="-122"/>
                          <a:cs typeface="Arial" pitchFamily="34" charset="-120"/>
                        </a:rPr>
                        <a:t>Beitrag F</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Anteil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5F6672"/>
                          </a:solidFill>
                          <a:latin typeface="Arial" pitchFamily="34" charset="0"/>
                          <a:ea typeface="Arial" pitchFamily="34" charset="-122"/>
                          <a:cs typeface="Arial" pitchFamily="34" charset="-120"/>
                        </a:rPr>
                        <a:t>Quote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c>
                  <a:txBody>
                    <a:bodyPr/>
                    <a:lstStyle/>
                    <a:p>
                      <a:pPr algn="r" indent="0" marL="0">
                        <a:buNone/>
                      </a:pPr>
                      <a:r>
                        <a:rPr lang="en-US" sz="1300" b="1" dirty="0">
                          <a:solidFill>
                            <a:srgbClr val="4A90C2"/>
                          </a:solidFill>
                          <a:latin typeface="Arial" pitchFamily="34" charset="0"/>
                          <a:ea typeface="Arial" pitchFamily="34" charset="-122"/>
                          <a:cs typeface="Arial" pitchFamily="34" charset="-120"/>
                        </a:rPr>
                        <a:t>Beitrag M</a:t>
                      </a:r>
                      <a:endParaRPr lang="en-US" sz="13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15875" cap="flat" cmpd="sng" algn="ctr">
                      <a:solidFill>
                        <a:srgbClr val="1A1A1A"/>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A</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82.4 %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30.7 %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19.1 %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B</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68.0 %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63.0 %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13.1 %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C</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32.3 %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11.0 %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12.1 %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36.9 %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4.5 %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D</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20.4 %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34.9 %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15.5 %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33.1 %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E</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21.4 %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5.1 %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7.1 %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27.7 %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2.0 %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500" b="1" dirty="0">
                          <a:solidFill>
                            <a:srgbClr val="1A1A1A"/>
                          </a:solidFill>
                          <a:latin typeface="Arial" pitchFamily="34" charset="0"/>
                          <a:ea typeface="Arial" pitchFamily="34" charset="-122"/>
                          <a:cs typeface="Arial" pitchFamily="34" charset="-120"/>
                        </a:rPr>
                        <a:t>F</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18.6 %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7.0 %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D9541E"/>
                          </a:solidFill>
                          <a:latin typeface="Arial" pitchFamily="34" charset="0"/>
                          <a:ea typeface="Arial" pitchFamily="34" charset="-122"/>
                          <a:cs typeface="Arial" pitchFamily="34" charset="-120"/>
                        </a:rPr>
                        <a:t>1.3 %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13.9 %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dirty="0">
                          <a:solidFill>
                            <a:srgbClr val="1A1A1A"/>
                          </a:solidFill>
                          <a:latin typeface="Arial" pitchFamily="34" charset="0"/>
                          <a:ea typeface="Arial" pitchFamily="34" charset="-122"/>
                          <a:cs typeface="Arial" pitchFamily="34" charset="-120"/>
                        </a:rPr>
                        <a:t>5.9 %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c>
                  <a:txBody>
                    <a:bodyPr/>
                    <a:lstStyle/>
                    <a:p>
                      <a:pPr algn="r" indent="0" marL="0">
                        <a:buNone/>
                      </a:pPr>
                      <a:r>
                        <a:rPr lang="en-US" sz="1500" b="1" dirty="0">
                          <a:solidFill>
                            <a:srgbClr val="4A90C2"/>
                          </a:solidFill>
                          <a:latin typeface="Arial" pitchFamily="34" charset="0"/>
                          <a:ea typeface="Arial" pitchFamily="34" charset="-122"/>
                          <a:cs typeface="Arial" pitchFamily="34" charset="-120"/>
                        </a:rPr>
                        <a:t>0.8 %</a:t>
                      </a:r>
                      <a:endParaRPr lang="en-US" sz="15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9525" cap="flat" cmpd="sng" algn="ctr">
                      <a:solidFill>
                        <a:srgbClr val="C9CED6"/>
                      </a:solidFill>
                      <a:prstDash val="solid"/>
                      <a:round/>
                      <a:headEnd type="none" w="med" len="med"/>
                      <a:tailEnd type="none" w="med" len="med"/>
                    </a:lnB>
                  </a:tcPr>
                </a:tc>
              </a:tr>
              <a:tr h="457200">
                <a:tc>
                  <a:txBody>
                    <a:bodyPr/>
                    <a:lstStyle/>
                    <a:p>
                      <a:pPr algn="l" indent="0" marL="0">
                        <a:buNone/>
                      </a:pPr>
                      <a:r>
                        <a:rPr lang="en-US" sz="1600" b="1" dirty="0">
                          <a:solidFill>
                            <a:srgbClr val="1A1A1A"/>
                          </a:solidFill>
                          <a:latin typeface="Arial" pitchFamily="34" charset="0"/>
                          <a:ea typeface="Arial" pitchFamily="34" charset="-122"/>
                          <a:cs typeface="Arial" pitchFamily="34" charset="-120"/>
                        </a:rPr>
                        <a:t>Σ</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D9541E"/>
                          </a:solidFill>
                          <a:latin typeface="Arial" pitchFamily="34" charset="0"/>
                          <a:ea typeface="Arial" pitchFamily="34" charset="-122"/>
                          <a:cs typeface="Arial" pitchFamily="34" charset="-120"/>
                        </a:rPr>
                        <a:t>30.4 %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1A1A1A"/>
                          </a:solidFill>
                          <a:latin typeface="Arial" pitchFamily="34" charset="0"/>
                          <a:ea typeface="Arial" pitchFamily="34" charset="-122"/>
                          <a:cs typeface="Arial" pitchFamily="34" charset="-120"/>
                        </a:rPr>
                        <a:t>100 %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c>
                  <a:txBody>
                    <a:bodyPr/>
                    <a:lstStyle/>
                    <a:p>
                      <a:pPr algn="r" indent="0" marL="0">
                        <a:buNone/>
                      </a:pPr>
                      <a:r>
                        <a:rPr lang="en-US" sz="1600" b="1" dirty="0">
                          <a:solidFill>
                            <a:srgbClr val="4A90C2"/>
                          </a:solidFill>
                          <a:latin typeface="Arial" pitchFamily="34" charset="0"/>
                          <a:ea typeface="Arial" pitchFamily="34" charset="-122"/>
                          <a:cs typeface="Arial" pitchFamily="34" charset="-120"/>
                        </a:rPr>
                        <a:t>44.6 %</a:t>
                      </a:r>
                      <a:endParaRPr lang="en-US" sz="1600" dirty="0">
                        <a:latin typeface="Arial" charset="0"/>
                        <a:ea typeface="Arial" charset="0"/>
                        <a:cs typeface="Arial"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1F3F5"/>
                    </a:solidFill>
                  </a:tcPr>
                </a:tc>
              </a:tr>
            </a:tbl>
          </a:graphicData>
        </a:graphic>
      </p:graphicFrame>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So funktioniert der Chi-Quadrat-Test</a:t>
            </a:r>
            <a:endParaRPr lang="en-US" sz="3200" dirty="0"/>
          </a:p>
        </p:txBody>
      </p:sp>
      <p:sp>
        <p:nvSpPr>
          <p:cNvPr id="4" name="Text 2"/>
          <p:cNvSpPr txBox="1"/>
          <p:nvPr/>
        </p:nvSpPr>
        <p:spPr>
          <a:xfrm>
            <a:off x="685800" y="1783080"/>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H₀</a:t>
            </a:r>
            <a:endParaRPr lang="en-US" sz="2200" dirty="0"/>
          </a:p>
        </p:txBody>
      </p:sp>
      <p:sp>
        <p:nvSpPr>
          <p:cNvPr id="5" name="Text 3"/>
          <p:cNvSpPr txBox="1"/>
          <p:nvPr/>
        </p:nvSpPr>
        <p:spPr>
          <a:xfrm>
            <a:off x="1508760" y="1819656"/>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Z und W sind unabhängig</a:t>
            </a:r>
            <a:endParaRPr lang="en-US" sz="1500" dirty="0"/>
          </a:p>
        </p:txBody>
      </p:sp>
      <p:sp>
        <p:nvSpPr>
          <p:cNvPr id="6" name="Text 4"/>
          <p:cNvSpPr txBox="1"/>
          <p:nvPr/>
        </p:nvSpPr>
        <p:spPr>
          <a:xfrm>
            <a:off x="685800" y="2532888"/>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E</a:t>
            </a:r>
            <a:endParaRPr lang="en-US" sz="2200" dirty="0"/>
          </a:p>
        </p:txBody>
      </p:sp>
      <p:sp>
        <p:nvSpPr>
          <p:cNvPr id="7" name="Text 5"/>
          <p:cNvSpPr txBox="1"/>
          <p:nvPr/>
        </p:nvSpPr>
        <p:spPr>
          <a:xfrm>
            <a:off x="1508760" y="2569464"/>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Erwartete Häufigkeit je Zelle: E = n · P(Z) · P(W)</a:t>
            </a:r>
            <a:endParaRPr lang="en-US" sz="1500" dirty="0"/>
          </a:p>
        </p:txBody>
      </p:sp>
      <p:sp>
        <p:nvSpPr>
          <p:cNvPr id="8" name="Text 6"/>
          <p:cNvSpPr txBox="1"/>
          <p:nvPr/>
        </p:nvSpPr>
        <p:spPr>
          <a:xfrm>
            <a:off x="685800" y="3282696"/>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χ²</a:t>
            </a:r>
            <a:endParaRPr lang="en-US" sz="2200" dirty="0"/>
          </a:p>
        </p:txBody>
      </p:sp>
      <p:sp>
        <p:nvSpPr>
          <p:cNvPr id="9" name="Text 7"/>
          <p:cNvSpPr txBox="1"/>
          <p:nvPr/>
        </p:nvSpPr>
        <p:spPr>
          <a:xfrm>
            <a:off x="1508760" y="3319272"/>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Teststatistik: χ² = Σ (B − E)² / E</a:t>
            </a:r>
            <a:endParaRPr lang="en-US" sz="1500" dirty="0"/>
          </a:p>
        </p:txBody>
      </p:sp>
      <p:sp>
        <p:nvSpPr>
          <p:cNvPr id="10" name="Text 8"/>
          <p:cNvSpPr txBox="1"/>
          <p:nvPr/>
        </p:nvSpPr>
        <p:spPr>
          <a:xfrm>
            <a:off x="685800" y="4032504"/>
            <a:ext cx="731520" cy="411480"/>
          </a:xfrm>
          <a:prstGeom prst="rect">
            <a:avLst/>
          </a:prstGeom>
          <a:noFill/>
          <a:ln/>
        </p:spPr>
        <p:txBody>
          <a:bodyPr wrap="square" lIns="0" tIns="0" rIns="0" bIns="0" rtlCol="0" anchor="t"/>
          <a:lstStyle/>
          <a:p>
            <a:pPr indent="0" marL="0">
              <a:buNone/>
            </a:pPr>
            <a:r>
              <a:rPr lang="en-US" sz="2200" b="1" dirty="0">
                <a:solidFill>
                  <a:srgbClr val="003262"/>
                </a:solidFill>
                <a:latin typeface="Arial" pitchFamily="34" charset="0"/>
                <a:ea typeface="Arial" pitchFamily="34" charset="-122"/>
                <a:cs typeface="Arial" pitchFamily="34" charset="-120"/>
              </a:rPr>
              <a:t>df</a:t>
            </a:r>
            <a:endParaRPr lang="en-US" sz="2200" dirty="0"/>
          </a:p>
        </p:txBody>
      </p:sp>
      <p:sp>
        <p:nvSpPr>
          <p:cNvPr id="11" name="Text 9"/>
          <p:cNvSpPr txBox="1"/>
          <p:nvPr/>
        </p:nvSpPr>
        <p:spPr>
          <a:xfrm>
            <a:off x="1508760" y="4069080"/>
            <a:ext cx="4114800" cy="64008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Freiheitsgrade: (2 − 1) · (2 − 1) = 1; kritischer Wert (α = 5 %): 3.84</a:t>
            </a:r>
            <a:endParaRPr lang="en-US" sz="1500" dirty="0"/>
          </a:p>
        </p:txBody>
      </p:sp>
      <p:sp>
        <p:nvSpPr>
          <p:cNvPr id="12" name="Text 10"/>
          <p:cNvSpPr txBox="1"/>
          <p:nvPr/>
        </p:nvSpPr>
        <p:spPr>
          <a:xfrm>
            <a:off x="685800" y="4892040"/>
            <a:ext cx="5120640" cy="411480"/>
          </a:xfrm>
          <a:prstGeom prst="rect">
            <a:avLst/>
          </a:prstGeom>
          <a:noFill/>
          <a:ln/>
        </p:spPr>
        <p:txBody>
          <a:bodyPr wrap="square" lIns="0" tIns="0" rIns="0" bIns="0" rtlCol="0" anchor="t"/>
          <a:lstStyle/>
          <a:p>
            <a:pPr indent="0" marL="0">
              <a:buNone/>
            </a:pPr>
            <a:r>
              <a:rPr lang="en-US" sz="2100" b="1" dirty="0">
                <a:solidFill>
                  <a:srgbClr val="D9541E"/>
                </a:solidFill>
                <a:latin typeface="Arial" pitchFamily="34" charset="0"/>
                <a:ea typeface="Arial" pitchFamily="34" charset="-122"/>
                <a:cs typeface="Arial" pitchFamily="34" charset="-120"/>
              </a:rPr>
              <a:t>χ² = 92.2, p &lt; 0.001  →  H₀ verwerfen</a:t>
            </a:r>
            <a:endParaRPr lang="en-US" sz="2100" dirty="0"/>
          </a:p>
        </p:txBody>
      </p:sp>
      <p:sp>
        <p:nvSpPr>
          <p:cNvPr id="13" name="Text 11"/>
          <p:cNvSpPr txBox="1"/>
          <p:nvPr/>
        </p:nvSpPr>
        <p:spPr>
          <a:xfrm>
            <a:off x="685800" y="5440680"/>
            <a:ext cx="5120640" cy="274320"/>
          </a:xfrm>
          <a:prstGeom prst="rect">
            <a:avLst/>
          </a:prstGeom>
          <a:noFill/>
          <a:ln/>
        </p:spPr>
        <p:txBody>
          <a:bodyPr wrap="square" lIns="0" tIns="0" rIns="0" bIns="0" rtlCol="0" anchor="t"/>
          <a:lstStyle/>
          <a:p>
            <a:pPr indent="0" marL="0">
              <a:buNone/>
            </a:pPr>
            <a:r>
              <a:rPr lang="en-US" sz="1200" dirty="0">
                <a:solidFill>
                  <a:srgbClr val="5F6672"/>
                </a:solidFill>
                <a:latin typeface="Courier New" pitchFamily="34" charset="0"/>
                <a:ea typeface="Courier New" pitchFamily="34" charset="-122"/>
                <a:cs typeface="Courier New" pitchFamily="34" charset="-120"/>
              </a:rPr>
              <a:t>Python: chi2_contingency(tafel, correction=False)</a:t>
            </a:r>
            <a:endParaRPr lang="en-US" sz="1200" dirty="0"/>
          </a:p>
        </p:txBody>
      </p:sp>
      <p:sp>
        <p:nvSpPr>
          <p:cNvPr id="14" name="Text 12"/>
          <p:cNvSpPr txBox="1"/>
          <p:nvPr/>
        </p:nvSpPr>
        <p:spPr>
          <a:xfrm>
            <a:off x="7406640"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zugelassen</a:t>
            </a:r>
            <a:endParaRPr lang="en-US" sz="1300" dirty="0"/>
          </a:p>
        </p:txBody>
      </p:sp>
      <p:sp>
        <p:nvSpPr>
          <p:cNvPr id="15" name="Text 13"/>
          <p:cNvSpPr txBox="1"/>
          <p:nvPr/>
        </p:nvSpPr>
        <p:spPr>
          <a:xfrm>
            <a:off x="8759952"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abgelehnt</a:t>
            </a:r>
            <a:endParaRPr lang="en-US" sz="1300" dirty="0"/>
          </a:p>
        </p:txBody>
      </p:sp>
      <p:sp>
        <p:nvSpPr>
          <p:cNvPr id="16" name="Text 14"/>
          <p:cNvSpPr txBox="1"/>
          <p:nvPr/>
        </p:nvSpPr>
        <p:spPr>
          <a:xfrm>
            <a:off x="10113264" y="1783080"/>
            <a:ext cx="1298448" cy="411480"/>
          </a:xfrm>
          <a:prstGeom prst="rect">
            <a:avLst/>
          </a:prstGeom>
          <a:noFill/>
          <a:ln/>
        </p:spPr>
        <p:txBody>
          <a:bodyPr wrap="square" lIns="0" tIns="0" rIns="0" bIns="0" rtlCol="0" anchor="ctr"/>
          <a:lstStyle/>
          <a:p>
            <a:pPr algn="ctr" indent="0" marL="0">
              <a:buNone/>
            </a:pPr>
            <a:r>
              <a:rPr lang="en-US" sz="1300" b="1" dirty="0">
                <a:solidFill>
                  <a:srgbClr val="5F6672"/>
                </a:solidFill>
                <a:latin typeface="Arial" pitchFamily="34" charset="0"/>
                <a:ea typeface="Arial" pitchFamily="34" charset="-122"/>
                <a:cs typeface="Arial" pitchFamily="34" charset="-120"/>
              </a:rPr>
              <a:t>Total</a:t>
            </a:r>
            <a:endParaRPr lang="en-US" sz="1300" dirty="0"/>
          </a:p>
        </p:txBody>
      </p:sp>
      <p:sp>
        <p:nvSpPr>
          <p:cNvPr id="17" name="Text 15"/>
          <p:cNvSpPr txBox="1"/>
          <p:nvPr/>
        </p:nvSpPr>
        <p:spPr>
          <a:xfrm>
            <a:off x="6263640" y="21945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Frauen</a:t>
            </a:r>
            <a:endParaRPr lang="en-US" sz="1500" dirty="0"/>
          </a:p>
        </p:txBody>
      </p:sp>
      <p:sp>
        <p:nvSpPr>
          <p:cNvPr id="18" name="Shape 16"/>
          <p:cNvSpPr/>
          <p:nvPr/>
        </p:nvSpPr>
        <p:spPr>
          <a:xfrm>
            <a:off x="7406640" y="2194560"/>
            <a:ext cx="1298448" cy="859536"/>
          </a:xfrm>
          <a:prstGeom prst="rect">
            <a:avLst/>
          </a:prstGeom>
          <a:solidFill>
            <a:srgbClr val="FBE3D9"/>
          </a:solidFill>
          <a:ln/>
        </p:spPr>
      </p:sp>
      <p:sp>
        <p:nvSpPr>
          <p:cNvPr id="19" name="Text 17"/>
          <p:cNvSpPr txBox="1"/>
          <p:nvPr/>
        </p:nvSpPr>
        <p:spPr>
          <a:xfrm>
            <a:off x="7406640" y="2322576"/>
            <a:ext cx="1298448" cy="365760"/>
          </a:xfrm>
          <a:prstGeom prst="rect">
            <a:avLst/>
          </a:prstGeom>
          <a:noFill/>
          <a:ln/>
        </p:spPr>
        <p:txBody>
          <a:bodyPr wrap="square" lIns="0" tIns="0" rIns="0" bIns="0" rtlCol="0" anchor="t"/>
          <a:lstStyle/>
          <a:p>
            <a:pPr algn="ctr" indent="0" marL="0">
              <a:buNone/>
            </a:pPr>
            <a:r>
              <a:rPr lang="en-US" sz="2400" b="1" dirty="0">
                <a:solidFill>
                  <a:srgbClr val="D9541E"/>
                </a:solidFill>
                <a:latin typeface="Arial" pitchFamily="34" charset="0"/>
                <a:ea typeface="Arial" pitchFamily="34" charset="-122"/>
                <a:cs typeface="Arial" pitchFamily="34" charset="-120"/>
              </a:rPr>
              <a:t>557</a:t>
            </a:r>
            <a:endParaRPr lang="en-US" sz="2400" dirty="0"/>
          </a:p>
        </p:txBody>
      </p:sp>
      <p:sp>
        <p:nvSpPr>
          <p:cNvPr id="20" name="Text 18"/>
          <p:cNvSpPr txBox="1"/>
          <p:nvPr/>
        </p:nvSpPr>
        <p:spPr>
          <a:xfrm>
            <a:off x="7406640"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711.5</a:t>
            </a:r>
            <a:endParaRPr lang="en-US" sz="1200" dirty="0"/>
          </a:p>
        </p:txBody>
      </p:sp>
      <p:sp>
        <p:nvSpPr>
          <p:cNvPr id="21" name="Shape 19"/>
          <p:cNvSpPr/>
          <p:nvPr/>
        </p:nvSpPr>
        <p:spPr>
          <a:xfrm>
            <a:off x="8759952" y="2194560"/>
            <a:ext cx="1298448" cy="859536"/>
          </a:xfrm>
          <a:prstGeom prst="rect">
            <a:avLst/>
          </a:prstGeom>
          <a:solidFill>
            <a:srgbClr val="F1F3F5"/>
          </a:solidFill>
          <a:ln/>
        </p:spPr>
      </p:sp>
      <p:sp>
        <p:nvSpPr>
          <p:cNvPr id="22" name="Text 20"/>
          <p:cNvSpPr txBox="1"/>
          <p:nvPr/>
        </p:nvSpPr>
        <p:spPr>
          <a:xfrm>
            <a:off x="8759952" y="23225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1 278</a:t>
            </a:r>
            <a:endParaRPr lang="en-US" sz="2400" dirty="0"/>
          </a:p>
        </p:txBody>
      </p:sp>
      <p:sp>
        <p:nvSpPr>
          <p:cNvPr id="23" name="Text 21"/>
          <p:cNvSpPr txBox="1"/>
          <p:nvPr/>
        </p:nvSpPr>
        <p:spPr>
          <a:xfrm>
            <a:off x="8759952" y="27249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1 123.5</a:t>
            </a:r>
            <a:endParaRPr lang="en-US" sz="1200" dirty="0"/>
          </a:p>
        </p:txBody>
      </p:sp>
      <p:sp>
        <p:nvSpPr>
          <p:cNvPr id="24" name="Text 22"/>
          <p:cNvSpPr txBox="1"/>
          <p:nvPr/>
        </p:nvSpPr>
        <p:spPr>
          <a:xfrm>
            <a:off x="10113264" y="24688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1 835</a:t>
            </a:r>
            <a:endParaRPr lang="en-US" sz="1700" dirty="0"/>
          </a:p>
        </p:txBody>
      </p:sp>
      <p:sp>
        <p:nvSpPr>
          <p:cNvPr id="25" name="Text 23"/>
          <p:cNvSpPr txBox="1"/>
          <p:nvPr/>
        </p:nvSpPr>
        <p:spPr>
          <a:xfrm>
            <a:off x="6263640" y="31089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Männer</a:t>
            </a:r>
            <a:endParaRPr lang="en-US" sz="1500" dirty="0"/>
          </a:p>
        </p:txBody>
      </p:sp>
      <p:sp>
        <p:nvSpPr>
          <p:cNvPr id="26" name="Shape 24"/>
          <p:cNvSpPr/>
          <p:nvPr/>
        </p:nvSpPr>
        <p:spPr>
          <a:xfrm>
            <a:off x="7406640" y="3108960"/>
            <a:ext cx="1298448" cy="859536"/>
          </a:xfrm>
          <a:prstGeom prst="rect">
            <a:avLst/>
          </a:prstGeom>
          <a:solidFill>
            <a:srgbClr val="F1F3F5"/>
          </a:solidFill>
          <a:ln/>
        </p:spPr>
      </p:sp>
      <p:sp>
        <p:nvSpPr>
          <p:cNvPr id="27" name="Text 25"/>
          <p:cNvSpPr txBox="1"/>
          <p:nvPr/>
        </p:nvSpPr>
        <p:spPr>
          <a:xfrm>
            <a:off x="7406640"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1 198</a:t>
            </a:r>
            <a:endParaRPr lang="en-US" sz="2400" dirty="0"/>
          </a:p>
        </p:txBody>
      </p:sp>
      <p:sp>
        <p:nvSpPr>
          <p:cNvPr id="28" name="Text 26"/>
          <p:cNvSpPr txBox="1"/>
          <p:nvPr/>
        </p:nvSpPr>
        <p:spPr>
          <a:xfrm>
            <a:off x="7406640"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1 043.5</a:t>
            </a:r>
            <a:endParaRPr lang="en-US" sz="1200" dirty="0"/>
          </a:p>
        </p:txBody>
      </p:sp>
      <p:sp>
        <p:nvSpPr>
          <p:cNvPr id="29" name="Shape 27"/>
          <p:cNvSpPr/>
          <p:nvPr/>
        </p:nvSpPr>
        <p:spPr>
          <a:xfrm>
            <a:off x="8759952" y="3108960"/>
            <a:ext cx="1298448" cy="859536"/>
          </a:xfrm>
          <a:prstGeom prst="rect">
            <a:avLst/>
          </a:prstGeom>
          <a:solidFill>
            <a:srgbClr val="F1F3F5"/>
          </a:solidFill>
          <a:ln/>
        </p:spPr>
      </p:sp>
      <p:sp>
        <p:nvSpPr>
          <p:cNvPr id="30" name="Text 28"/>
          <p:cNvSpPr txBox="1"/>
          <p:nvPr/>
        </p:nvSpPr>
        <p:spPr>
          <a:xfrm>
            <a:off x="8759952" y="3236976"/>
            <a:ext cx="1298448" cy="365760"/>
          </a:xfrm>
          <a:prstGeom prst="rect">
            <a:avLst/>
          </a:prstGeom>
          <a:noFill/>
          <a:ln/>
        </p:spPr>
        <p:txBody>
          <a:bodyPr wrap="square" lIns="0" tIns="0" rIns="0" bIns="0" rtlCol="0" anchor="t"/>
          <a:lstStyle/>
          <a:p>
            <a:pPr algn="ctr" indent="0" marL="0">
              <a:buNone/>
            </a:pPr>
            <a:r>
              <a:rPr lang="en-US" sz="2400" b="1" dirty="0">
                <a:solidFill>
                  <a:srgbClr val="1A1A1A"/>
                </a:solidFill>
                <a:latin typeface="Arial" pitchFamily="34" charset="0"/>
                <a:ea typeface="Arial" pitchFamily="34" charset="-122"/>
                <a:cs typeface="Arial" pitchFamily="34" charset="-120"/>
              </a:rPr>
              <a:t>1 493</a:t>
            </a:r>
            <a:endParaRPr lang="en-US" sz="2400" dirty="0"/>
          </a:p>
        </p:txBody>
      </p:sp>
      <p:sp>
        <p:nvSpPr>
          <p:cNvPr id="31" name="Text 29"/>
          <p:cNvSpPr txBox="1"/>
          <p:nvPr/>
        </p:nvSpPr>
        <p:spPr>
          <a:xfrm>
            <a:off x="8759952" y="3639312"/>
            <a:ext cx="1298448" cy="256032"/>
          </a:xfrm>
          <a:prstGeom prst="rect">
            <a:avLst/>
          </a:prstGeom>
          <a:noFill/>
          <a:ln/>
        </p:spPr>
        <p:txBody>
          <a:bodyPr wrap="square" lIns="0" tIns="0" rIns="0" bIns="0" rtlCol="0" anchor="t"/>
          <a:lstStyle/>
          <a:p>
            <a:pPr algn="ctr" indent="0" marL="0">
              <a:buNone/>
            </a:pPr>
            <a:r>
              <a:rPr lang="en-US" sz="1200" dirty="0">
                <a:solidFill>
                  <a:srgbClr val="5F6672"/>
                </a:solidFill>
                <a:latin typeface="Arial" pitchFamily="34" charset="0"/>
                <a:ea typeface="Arial" pitchFamily="34" charset="-122"/>
                <a:cs typeface="Arial" pitchFamily="34" charset="-120"/>
              </a:rPr>
              <a:t>erwartet 1 647.5</a:t>
            </a:r>
            <a:endParaRPr lang="en-US" sz="1200" dirty="0"/>
          </a:p>
        </p:txBody>
      </p:sp>
      <p:sp>
        <p:nvSpPr>
          <p:cNvPr id="32" name="Text 30"/>
          <p:cNvSpPr txBox="1"/>
          <p:nvPr/>
        </p:nvSpPr>
        <p:spPr>
          <a:xfrm>
            <a:off x="10113264" y="33832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2 691</a:t>
            </a:r>
            <a:endParaRPr lang="en-US" sz="1700" dirty="0"/>
          </a:p>
        </p:txBody>
      </p:sp>
      <p:sp>
        <p:nvSpPr>
          <p:cNvPr id="33" name="Text 31"/>
          <p:cNvSpPr txBox="1"/>
          <p:nvPr/>
        </p:nvSpPr>
        <p:spPr>
          <a:xfrm>
            <a:off x="6263640" y="4023360"/>
            <a:ext cx="1051560" cy="859536"/>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Total</a:t>
            </a:r>
            <a:endParaRPr lang="en-US" sz="1500" dirty="0"/>
          </a:p>
        </p:txBody>
      </p:sp>
      <p:sp>
        <p:nvSpPr>
          <p:cNvPr id="34" name="Text 32"/>
          <p:cNvSpPr txBox="1"/>
          <p:nvPr/>
        </p:nvSpPr>
        <p:spPr>
          <a:xfrm>
            <a:off x="7406640"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1 755</a:t>
            </a:r>
            <a:endParaRPr lang="en-US" sz="1700" dirty="0"/>
          </a:p>
        </p:txBody>
      </p:sp>
      <p:sp>
        <p:nvSpPr>
          <p:cNvPr id="35" name="Text 33"/>
          <p:cNvSpPr txBox="1"/>
          <p:nvPr/>
        </p:nvSpPr>
        <p:spPr>
          <a:xfrm>
            <a:off x="8759952"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2 771</a:t>
            </a:r>
            <a:endParaRPr lang="en-US" sz="1700" dirty="0"/>
          </a:p>
        </p:txBody>
      </p:sp>
      <p:sp>
        <p:nvSpPr>
          <p:cNvPr id="36" name="Text 34"/>
          <p:cNvSpPr txBox="1"/>
          <p:nvPr/>
        </p:nvSpPr>
        <p:spPr>
          <a:xfrm>
            <a:off x="10113264" y="4297680"/>
            <a:ext cx="1298448" cy="365760"/>
          </a:xfrm>
          <a:prstGeom prst="rect">
            <a:avLst/>
          </a:prstGeom>
          <a:noFill/>
          <a:ln/>
        </p:spPr>
        <p:txBody>
          <a:bodyPr wrap="square" lIns="0" tIns="0" rIns="0" bIns="0" rtlCol="0" anchor="t"/>
          <a:lstStyle/>
          <a:p>
            <a:pPr algn="ctr" indent="0" marL="0">
              <a:buNone/>
            </a:pPr>
            <a:r>
              <a:rPr lang="en-US" sz="1700" b="1" dirty="0">
                <a:solidFill>
                  <a:srgbClr val="1A1A1A"/>
                </a:solidFill>
                <a:latin typeface="Arial" pitchFamily="34" charset="0"/>
                <a:ea typeface="Arial" pitchFamily="34" charset="-122"/>
                <a:cs typeface="Arial" pitchFamily="34" charset="-120"/>
              </a:rPr>
              <a:t>4 526</a:t>
            </a:r>
            <a:endParaRPr lang="en-US" sz="1700" dirty="0"/>
          </a:p>
        </p:txBody>
      </p:sp>
      <p:sp>
        <p:nvSpPr>
          <p:cNvPr id="37" name="Text 35"/>
          <p:cNvSpPr txBox="1"/>
          <p:nvPr/>
        </p:nvSpPr>
        <p:spPr>
          <a:xfrm>
            <a:off x="6263640" y="4983480"/>
            <a:ext cx="5242255" cy="77724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Bei Unabhängigkeit wären rund 712 Frauen zugelassen worden, tatsächlich waren es 557. Die Abweichung ist viel zu gross für Zufall.</a:t>
            </a:r>
            <a:endParaRPr lang="en-US" sz="15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14</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Der Fachbereich als Drittvariable</a:t>
            </a:r>
            <a:endParaRPr lang="en-US" sz="3200" dirty="0"/>
          </a:p>
        </p:txBody>
      </p:sp>
      <p:sp>
        <p:nvSpPr>
          <p:cNvPr id="4" name="Shape 2"/>
          <p:cNvSpPr/>
          <p:nvPr/>
        </p:nvSpPr>
        <p:spPr>
          <a:xfrm flipV="1">
            <a:off x="2514600" y="2606040"/>
            <a:ext cx="2423160" cy="1371600"/>
          </a:xfrm>
          <a:prstGeom prst="line">
            <a:avLst/>
          </a:prstGeom>
          <a:noFill/>
          <a:ln w="31750">
            <a:solidFill>
              <a:srgbClr val="003262"/>
            </a:solidFill>
            <a:prstDash val="solid"/>
            <a:tailEnd type="triangle"/>
          </a:ln>
        </p:spPr>
      </p:sp>
      <p:sp>
        <p:nvSpPr>
          <p:cNvPr id="5" name="Shape 3"/>
          <p:cNvSpPr/>
          <p:nvPr/>
        </p:nvSpPr>
        <p:spPr>
          <a:xfrm>
            <a:off x="7269480" y="2606040"/>
            <a:ext cx="2423160" cy="1371600"/>
          </a:xfrm>
          <a:prstGeom prst="line">
            <a:avLst/>
          </a:prstGeom>
          <a:noFill/>
          <a:ln w="31750">
            <a:solidFill>
              <a:srgbClr val="003262"/>
            </a:solidFill>
            <a:prstDash val="solid"/>
            <a:tailEnd type="triangle"/>
          </a:ln>
        </p:spPr>
      </p:sp>
      <p:sp>
        <p:nvSpPr>
          <p:cNvPr id="6" name="Shape 4"/>
          <p:cNvSpPr/>
          <p:nvPr/>
        </p:nvSpPr>
        <p:spPr>
          <a:xfrm>
            <a:off x="3886200" y="4366260"/>
            <a:ext cx="4389120" cy="0"/>
          </a:xfrm>
          <a:prstGeom prst="line">
            <a:avLst/>
          </a:prstGeom>
          <a:noFill/>
          <a:ln w="25400">
            <a:solidFill>
              <a:srgbClr val="5F6672"/>
            </a:solidFill>
            <a:prstDash val="dash"/>
            <a:tailEnd type="triangle"/>
          </a:ln>
        </p:spPr>
      </p:sp>
      <p:sp>
        <p:nvSpPr>
          <p:cNvPr id="7" name="Shape 5"/>
          <p:cNvSpPr/>
          <p:nvPr/>
        </p:nvSpPr>
        <p:spPr>
          <a:xfrm>
            <a:off x="4727448" y="1828800"/>
            <a:ext cx="2743200" cy="777240"/>
          </a:xfrm>
          <a:prstGeom prst="rect">
            <a:avLst/>
          </a:prstGeom>
          <a:solidFill>
            <a:srgbClr val="003262"/>
          </a:solidFill>
          <a:ln/>
        </p:spPr>
      </p:sp>
      <p:sp>
        <p:nvSpPr>
          <p:cNvPr id="8" name="Text 6"/>
          <p:cNvSpPr txBox="1"/>
          <p:nvPr/>
        </p:nvSpPr>
        <p:spPr>
          <a:xfrm>
            <a:off x="4727448" y="182880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Fachbereich</a:t>
            </a:r>
            <a:endParaRPr lang="en-US" sz="2000" dirty="0"/>
          </a:p>
        </p:txBody>
      </p:sp>
      <p:sp>
        <p:nvSpPr>
          <p:cNvPr id="9" name="Shape 7"/>
          <p:cNvSpPr/>
          <p:nvPr/>
        </p:nvSpPr>
        <p:spPr>
          <a:xfrm>
            <a:off x="1143000" y="3977640"/>
            <a:ext cx="2743200" cy="777240"/>
          </a:xfrm>
          <a:prstGeom prst="rect">
            <a:avLst/>
          </a:prstGeom>
          <a:solidFill>
            <a:srgbClr val="3A4250"/>
          </a:solidFill>
          <a:ln/>
        </p:spPr>
      </p:sp>
      <p:sp>
        <p:nvSpPr>
          <p:cNvPr id="10" name="Text 8"/>
          <p:cNvSpPr txBox="1"/>
          <p:nvPr/>
        </p:nvSpPr>
        <p:spPr>
          <a:xfrm>
            <a:off x="114300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Geschlecht</a:t>
            </a:r>
            <a:endParaRPr lang="en-US" sz="2000" dirty="0"/>
          </a:p>
        </p:txBody>
      </p:sp>
      <p:sp>
        <p:nvSpPr>
          <p:cNvPr id="11" name="Shape 9"/>
          <p:cNvSpPr/>
          <p:nvPr/>
        </p:nvSpPr>
        <p:spPr>
          <a:xfrm>
            <a:off x="8321040" y="3977640"/>
            <a:ext cx="2743200" cy="777240"/>
          </a:xfrm>
          <a:prstGeom prst="rect">
            <a:avLst/>
          </a:prstGeom>
          <a:solidFill>
            <a:srgbClr val="3A4250"/>
          </a:solidFill>
          <a:ln/>
        </p:spPr>
      </p:sp>
      <p:sp>
        <p:nvSpPr>
          <p:cNvPr id="12" name="Text 10"/>
          <p:cNvSpPr txBox="1"/>
          <p:nvPr/>
        </p:nvSpPr>
        <p:spPr>
          <a:xfrm>
            <a:off x="8321040" y="3977640"/>
            <a:ext cx="27432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Zulassung</a:t>
            </a:r>
            <a:endParaRPr lang="en-US" sz="2000" dirty="0"/>
          </a:p>
        </p:txBody>
      </p:sp>
      <p:sp>
        <p:nvSpPr>
          <p:cNvPr id="13" name="Text 11"/>
          <p:cNvSpPr txBox="1"/>
          <p:nvPr/>
        </p:nvSpPr>
        <p:spPr>
          <a:xfrm>
            <a:off x="685800" y="2468880"/>
            <a:ext cx="3017520"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Frauen wählen häufiger C–F</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1 068.4, df = 5, p &lt; 0.001</a:t>
            </a:r>
            <a:endParaRPr lang="en-US" sz="1500" dirty="0"/>
          </a:p>
        </p:txBody>
      </p:sp>
      <p:sp>
        <p:nvSpPr>
          <p:cNvPr id="14" name="Text 12"/>
          <p:cNvSpPr txBox="1"/>
          <p:nvPr/>
        </p:nvSpPr>
        <p:spPr>
          <a:xfrm>
            <a:off x="8641080" y="2468880"/>
            <a:ext cx="2862072" cy="640080"/>
          </a:xfrm>
          <a:prstGeom prst="rect">
            <a:avLst/>
          </a:prstGeom>
          <a:noFill/>
          <a:ln/>
        </p:spPr>
        <p:txBody>
          <a:bodyPr wrap="square" lIns="0" tIns="0" rIns="0" bIns="0" rtlCol="0" anchor="t"/>
          <a:lstStyle/>
          <a:p>
            <a:pPr indent="0" marL="0">
              <a:buNone/>
            </a:pPr>
            <a:r>
              <a:rPr lang="en-US" sz="1500" b="1" dirty="0">
                <a:solidFill>
                  <a:srgbClr val="003262"/>
                </a:solidFill>
                <a:latin typeface="Arial" pitchFamily="34" charset="0"/>
                <a:ea typeface="Arial" pitchFamily="34" charset="-122"/>
                <a:cs typeface="Arial" pitchFamily="34" charset="-120"/>
              </a:rPr>
              <a:t>C–F lassen wenige zu</a:t>
            </a:r>
            <a:endParaRPr lang="en-US" sz="1500" dirty="0"/>
          </a:p>
          <a:p>
            <a:pPr indent="0" marL="0">
              <a:buNone/>
            </a:pPr>
            <a:r>
              <a:rPr lang="en-US" sz="1300" dirty="0">
                <a:solidFill>
                  <a:srgbClr val="5F6672"/>
                </a:solidFill>
                <a:latin typeface="Arial" pitchFamily="34" charset="0"/>
                <a:ea typeface="Arial" pitchFamily="34" charset="-122"/>
                <a:cs typeface="Arial" pitchFamily="34" charset="-120"/>
              </a:rPr>
              <a:t>χ² = 778.9, df = 5, p &lt; 0.001</a:t>
            </a:r>
            <a:endParaRPr lang="en-US" sz="1500" dirty="0"/>
          </a:p>
        </p:txBody>
      </p:sp>
      <p:sp>
        <p:nvSpPr>
          <p:cNvPr id="15" name="Text 13"/>
          <p:cNvSpPr txBox="1"/>
          <p:nvPr/>
        </p:nvSpPr>
        <p:spPr>
          <a:xfrm>
            <a:off x="3931920" y="4526280"/>
            <a:ext cx="4297680" cy="274320"/>
          </a:xfrm>
          <a:prstGeom prst="rect">
            <a:avLst/>
          </a:prstGeom>
          <a:noFill/>
          <a:ln/>
        </p:spPr>
        <p:txBody>
          <a:bodyPr wrap="square" lIns="0" tIns="0" rIns="0" bIns="0" rtlCol="0" anchor="t"/>
          <a:lstStyle/>
          <a:p>
            <a:pPr algn="ctr" indent="0" marL="0">
              <a:buNone/>
            </a:pPr>
            <a:r>
              <a:rPr lang="en-US" sz="1400" dirty="0">
                <a:solidFill>
                  <a:srgbClr val="5F6672"/>
                </a:solidFill>
                <a:latin typeface="Arial" pitchFamily="34" charset="0"/>
                <a:ea typeface="Arial" pitchFamily="34" charset="-122"/>
                <a:cs typeface="Arial" pitchFamily="34" charset="-120"/>
              </a:rPr>
              <a:t>direkter Effekt: je Fachbereich kaum vorhanden</a:t>
            </a:r>
            <a:endParaRPr lang="en-US" sz="1400" dirty="0"/>
          </a:p>
        </p:txBody>
      </p:sp>
      <p:sp>
        <p:nvSpPr>
          <p:cNvPr id="16" name="Text 14"/>
          <p:cNvSpPr txBox="1"/>
          <p:nvPr/>
        </p:nvSpPr>
        <p:spPr>
          <a:xfrm>
            <a:off x="685800" y="5349240"/>
            <a:ext cx="10820095" cy="5943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Simpson-Paradoxon: Der Confounder «Fachbereich» erzeugt den aggregierten Zusammenhang. Korrelation ≠ Kausalität.</a:t>
            </a:r>
            <a:endParaRPr lang="en-US" sz="18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85800" y="457200"/>
            <a:ext cx="9144000" cy="274320"/>
          </a:xfrm>
          <a:prstGeom prst="rect">
            <a:avLst/>
          </a:prstGeom>
          <a:noFill/>
          <a:ln/>
        </p:spPr>
        <p:txBody>
          <a:bodyPr wrap="square" lIns="0" tIns="0" rIns="0" bIns="0" rtlCol="0" anchor="t"/>
          <a:lstStyle/>
          <a:p>
            <a:pPr indent="0" marL="0">
              <a:buNone/>
            </a:pPr>
            <a:r>
              <a:rPr lang="en-US" sz="1200" b="1" spc="200" kern="0" dirty="0">
                <a:solidFill>
                  <a:srgbClr val="003262"/>
                </a:solidFill>
                <a:latin typeface="Arial" pitchFamily="34" charset="0"/>
                <a:ea typeface="Arial" pitchFamily="34" charset="-122"/>
                <a:cs typeface="Arial" pitchFamily="34" charset="-120"/>
              </a:rPr>
              <a:t>RESERVE  ·  ZU FOLIE 7</a:t>
            </a:r>
            <a:endParaRPr lang="en-US" sz="1200" dirty="0"/>
          </a:p>
        </p:txBody>
      </p:sp>
      <p:sp>
        <p:nvSpPr>
          <p:cNvPr id="3" name="Text 0"/>
          <p:cNvSpPr/>
          <p:nvPr>
            <p:ph idx="100" type="title" hasCustomPrompt="1"/>
          </p:nvPr>
        </p:nvSpPr>
        <p:spPr>
          <a:xfrm>
            <a:off x="685800" y="786384"/>
            <a:ext cx="10820095" cy="777240"/>
          </a:xfrm>
          <a:prstGeom prst="rect">
            <a:avLst/>
          </a:prstGeom>
          <a:noFill/>
          <a:ln/>
        </p:spPr>
        <p:txBody>
          <a:bodyPr wrap="square" lIns="0" tIns="0" rIns="0" bIns="0" rtlCol="0" anchor="t"/>
          <a:lstStyle/>
          <a:p>
            <a:pPr algn="l" indent="0" marL="0">
              <a:buNone/>
            </a:pPr>
            <a:r>
              <a:rPr lang="en-US" sz="3200" b="1" dirty="0">
                <a:solidFill>
                  <a:srgbClr val="1A1A1A"/>
                </a:solidFill>
                <a:latin typeface="Arial" pitchFamily="34" charset="0"/>
                <a:ea typeface="Arial" pitchFamily="34" charset="-122"/>
                <a:cs typeface="Arial" pitchFamily="34" charset="-120"/>
              </a:rPr>
              <a:t>Ablauf des Programms</a:t>
            </a:r>
            <a:endParaRPr lang="en-US" sz="3200" dirty="0"/>
          </a:p>
        </p:txBody>
      </p:sp>
      <p:sp>
        <p:nvSpPr>
          <p:cNvPr id="4" name="Shape 2"/>
          <p:cNvSpPr/>
          <p:nvPr/>
        </p:nvSpPr>
        <p:spPr>
          <a:xfrm>
            <a:off x="941832" y="2103120"/>
            <a:ext cx="8656076" cy="0"/>
          </a:xfrm>
          <a:prstGeom prst="line">
            <a:avLst/>
          </a:prstGeom>
          <a:noFill/>
          <a:ln w="19050">
            <a:solidFill>
              <a:srgbClr val="C9CED6"/>
            </a:solidFill>
            <a:prstDash val="solid"/>
          </a:ln>
        </p:spPr>
      </p:sp>
      <p:sp>
        <p:nvSpPr>
          <p:cNvPr id="5" name="Shape 3"/>
          <p:cNvSpPr/>
          <p:nvPr/>
        </p:nvSpPr>
        <p:spPr>
          <a:xfrm>
            <a:off x="685800" y="1847088"/>
            <a:ext cx="512064" cy="512064"/>
          </a:xfrm>
          <a:prstGeom prst="ellipse">
            <a:avLst/>
          </a:prstGeom>
          <a:solidFill>
            <a:srgbClr val="003262"/>
          </a:solidFill>
          <a:ln w="38100">
            <a:solidFill>
              <a:srgbClr val="FFFFFF"/>
            </a:solidFill>
            <a:prstDash val="solid"/>
          </a:ln>
        </p:spPr>
      </p:sp>
      <p:sp>
        <p:nvSpPr>
          <p:cNvPr id="6" name="Text 4"/>
          <p:cNvSpPr txBox="1"/>
          <p:nvPr/>
        </p:nvSpPr>
        <p:spPr>
          <a:xfrm>
            <a:off x="685800"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txBox="1"/>
          <p:nvPr/>
        </p:nvSpPr>
        <p:spPr>
          <a:xfrm>
            <a:off x="685800"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Erfassen</a:t>
            </a:r>
            <a:endParaRPr lang="en-US" sz="1900" dirty="0"/>
          </a:p>
        </p:txBody>
      </p:sp>
      <p:sp>
        <p:nvSpPr>
          <p:cNvPr id="8" name="Text 6"/>
          <p:cNvSpPr txBox="1"/>
          <p:nvPr/>
        </p:nvSpPr>
        <p:spPr>
          <a:xfrm>
            <a:off x="685800"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Tabelle 4 als Strings, bereinige() mit Liste von Funktionen</a:t>
            </a:r>
            <a:endParaRPr lang="en-US" sz="1400" dirty="0"/>
          </a:p>
        </p:txBody>
      </p:sp>
      <p:sp>
        <p:nvSpPr>
          <p:cNvPr id="9" name="Shape 7"/>
          <p:cNvSpPr/>
          <p:nvPr/>
        </p:nvSpPr>
        <p:spPr>
          <a:xfrm>
            <a:off x="2849819" y="1847088"/>
            <a:ext cx="512064" cy="512064"/>
          </a:xfrm>
          <a:prstGeom prst="ellipse">
            <a:avLst/>
          </a:prstGeom>
          <a:solidFill>
            <a:srgbClr val="003262"/>
          </a:solidFill>
          <a:ln w="38100">
            <a:solidFill>
              <a:srgbClr val="FFFFFF"/>
            </a:solidFill>
            <a:prstDash val="solid"/>
          </a:ln>
        </p:spPr>
      </p:sp>
      <p:sp>
        <p:nvSpPr>
          <p:cNvPr id="10" name="Text 8"/>
          <p:cNvSpPr txBox="1"/>
          <p:nvPr/>
        </p:nvSpPr>
        <p:spPr>
          <a:xfrm>
            <a:off x="2849819"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2849819"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Prüfen</a:t>
            </a:r>
            <a:endParaRPr lang="en-US" sz="1900" dirty="0"/>
          </a:p>
        </p:txBody>
      </p:sp>
      <p:sp>
        <p:nvSpPr>
          <p:cNvPr id="12" name="Text 10"/>
          <p:cNvSpPr txBox="1"/>
          <p:nvPr/>
        </p:nvSpPr>
        <p:spPr>
          <a:xfrm>
            <a:off x="2849819"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gesamtquote(): Satz der totalen Wahrscheinlichkeit</a:t>
            </a:r>
            <a:endParaRPr lang="en-US" sz="1400" dirty="0"/>
          </a:p>
        </p:txBody>
      </p:sp>
      <p:sp>
        <p:nvSpPr>
          <p:cNvPr id="13" name="Shape 11"/>
          <p:cNvSpPr/>
          <p:nvPr/>
        </p:nvSpPr>
        <p:spPr>
          <a:xfrm>
            <a:off x="5013838" y="1847088"/>
            <a:ext cx="512064" cy="512064"/>
          </a:xfrm>
          <a:prstGeom prst="ellipse">
            <a:avLst/>
          </a:prstGeom>
          <a:solidFill>
            <a:srgbClr val="003262"/>
          </a:solidFill>
          <a:ln w="38100">
            <a:solidFill>
              <a:srgbClr val="FFFFFF"/>
            </a:solidFill>
            <a:prstDash val="solid"/>
          </a:ln>
        </p:spPr>
      </p:sp>
      <p:sp>
        <p:nvSpPr>
          <p:cNvPr id="14" name="Text 12"/>
          <p:cNvSpPr txBox="1"/>
          <p:nvPr/>
        </p:nvSpPr>
        <p:spPr>
          <a:xfrm>
            <a:off x="5013838"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txBox="1"/>
          <p:nvPr/>
        </p:nvSpPr>
        <p:spPr>
          <a:xfrm>
            <a:off x="5013838"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Anzahlen</a:t>
            </a:r>
            <a:endParaRPr lang="en-US" sz="1900" dirty="0"/>
          </a:p>
        </p:txBody>
      </p:sp>
      <p:sp>
        <p:nvSpPr>
          <p:cNvPr id="16" name="Text 14"/>
          <p:cNvSpPr txBox="1"/>
          <p:nvPr/>
        </p:nvSpPr>
        <p:spPr>
          <a:xfrm>
            <a:off x="5013838"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Originaldaten als langes DataFrame, 0 Abweichungen</a:t>
            </a:r>
            <a:endParaRPr lang="en-US" sz="1400" dirty="0"/>
          </a:p>
        </p:txBody>
      </p:sp>
      <p:sp>
        <p:nvSpPr>
          <p:cNvPr id="17" name="Shape 15"/>
          <p:cNvSpPr/>
          <p:nvPr/>
        </p:nvSpPr>
        <p:spPr>
          <a:xfrm>
            <a:off x="7177857" y="1847088"/>
            <a:ext cx="512064" cy="512064"/>
          </a:xfrm>
          <a:prstGeom prst="ellipse">
            <a:avLst/>
          </a:prstGeom>
          <a:solidFill>
            <a:srgbClr val="003262"/>
          </a:solidFill>
          <a:ln w="38100">
            <a:solidFill>
              <a:srgbClr val="FFFFFF"/>
            </a:solidFill>
            <a:prstDash val="solid"/>
          </a:ln>
        </p:spPr>
      </p:sp>
      <p:sp>
        <p:nvSpPr>
          <p:cNvPr id="18" name="Text 16"/>
          <p:cNvSpPr txBox="1"/>
          <p:nvPr/>
        </p:nvSpPr>
        <p:spPr>
          <a:xfrm>
            <a:off x="7177857"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9" name="Text 17"/>
          <p:cNvSpPr txBox="1"/>
          <p:nvPr/>
        </p:nvSpPr>
        <p:spPr>
          <a:xfrm>
            <a:off x="7177857"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Analysieren</a:t>
            </a:r>
            <a:endParaRPr lang="en-US" sz="1900" dirty="0"/>
          </a:p>
        </p:txBody>
      </p:sp>
      <p:sp>
        <p:nvSpPr>
          <p:cNvPr id="20" name="Text 18"/>
          <p:cNvSpPr txBox="1"/>
          <p:nvPr/>
        </p:nvSpPr>
        <p:spPr>
          <a:xfrm>
            <a:off x="7177857"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vierfeldertafel(), pruefe_​unabhaengigkeit(): gesamt und je Fachbereich</a:t>
            </a:r>
            <a:endParaRPr lang="en-US" sz="1400" dirty="0"/>
          </a:p>
        </p:txBody>
      </p:sp>
      <p:sp>
        <p:nvSpPr>
          <p:cNvPr id="21" name="Shape 19"/>
          <p:cNvSpPr/>
          <p:nvPr/>
        </p:nvSpPr>
        <p:spPr>
          <a:xfrm>
            <a:off x="9341876" y="1847088"/>
            <a:ext cx="512064" cy="512064"/>
          </a:xfrm>
          <a:prstGeom prst="ellipse">
            <a:avLst/>
          </a:prstGeom>
          <a:solidFill>
            <a:srgbClr val="003262"/>
          </a:solidFill>
          <a:ln w="38100">
            <a:solidFill>
              <a:srgbClr val="FFFFFF"/>
            </a:solidFill>
            <a:prstDash val="solid"/>
          </a:ln>
        </p:spPr>
      </p:sp>
      <p:sp>
        <p:nvSpPr>
          <p:cNvPr id="22" name="Text 20"/>
          <p:cNvSpPr txBox="1"/>
          <p:nvPr/>
        </p:nvSpPr>
        <p:spPr>
          <a:xfrm>
            <a:off x="9341876" y="184708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23" name="Text 21"/>
          <p:cNvSpPr txBox="1"/>
          <p:nvPr/>
        </p:nvSpPr>
        <p:spPr>
          <a:xfrm>
            <a:off x="9341876" y="2606040"/>
            <a:ext cx="1889699" cy="365760"/>
          </a:xfrm>
          <a:prstGeom prst="rect">
            <a:avLst/>
          </a:prstGeom>
          <a:noFill/>
          <a:ln/>
        </p:spPr>
        <p:txBody>
          <a:bodyPr wrap="square" lIns="0" tIns="0" rIns="0" bIns="0" rtlCol="0" anchor="t"/>
          <a:lstStyle/>
          <a:p>
            <a:pPr indent="0" marL="0">
              <a:buNone/>
            </a:pPr>
            <a:r>
              <a:rPr lang="en-US" sz="1900" b="1" dirty="0">
                <a:solidFill>
                  <a:srgbClr val="1A1A1A"/>
                </a:solidFill>
                <a:latin typeface="Arial" pitchFamily="34" charset="0"/>
                <a:ea typeface="Arial" pitchFamily="34" charset="-122"/>
                <a:cs typeface="Arial" pitchFamily="34" charset="-120"/>
              </a:rPr>
              <a:t>Darstellen</a:t>
            </a:r>
            <a:endParaRPr lang="en-US" sz="1900" dirty="0"/>
          </a:p>
        </p:txBody>
      </p:sp>
      <p:sp>
        <p:nvSpPr>
          <p:cNvPr id="24" name="Text 22"/>
          <p:cNvSpPr txBox="1"/>
          <p:nvPr/>
        </p:nvSpPr>
        <p:spPr>
          <a:xfrm>
            <a:off x="9341876" y="3017520"/>
            <a:ext cx="1889699" cy="1097280"/>
          </a:xfrm>
          <a:prstGeom prst="rect">
            <a:avLst/>
          </a:prstGeom>
          <a:noFill/>
          <a:ln/>
        </p:spPr>
        <p:txBody>
          <a:bodyPr wrap="square" lIns="0" tIns="0" rIns="0" bIns="0" rtlCol="0" anchor="t"/>
          <a:lstStyle/>
          <a:p>
            <a:pPr indent="0" marL="0">
              <a:buNone/>
            </a:pPr>
            <a:r>
              <a:rPr lang="en-US" sz="1400" dirty="0">
                <a:solidFill>
                  <a:srgbClr val="5F6672"/>
                </a:solidFill>
                <a:latin typeface="Arial" pitchFamily="34" charset="0"/>
                <a:ea typeface="Arial" pitchFamily="34" charset="-122"/>
                <a:cs typeface="Arial" pitchFamily="34" charset="-120"/>
              </a:rPr>
              <a:t>matplotlib, Farbe je Geschlecht, PNG für Text und Folien</a:t>
            </a:r>
            <a:endParaRPr lang="en-US" sz="1400" dirty="0"/>
          </a:p>
        </p:txBody>
      </p:sp>
      <p:sp>
        <p:nvSpPr>
          <p:cNvPr id="25" name="Text 23"/>
          <p:cNvSpPr txBox="1"/>
          <p:nvPr/>
        </p:nvSpPr>
        <p:spPr>
          <a:xfrm>
            <a:off x="685800"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1</a:t>
            </a:r>
            <a:endParaRPr lang="en-US" sz="1100" dirty="0"/>
          </a:p>
        </p:txBody>
      </p:sp>
      <p:sp>
        <p:nvSpPr>
          <p:cNvPr id="26" name="Text 24"/>
          <p:cNvSpPr txBox="1"/>
          <p:nvPr/>
        </p:nvSpPr>
        <p:spPr>
          <a:xfrm>
            <a:off x="685800"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Funktionen</a:t>
            </a:r>
            <a:endParaRPr lang="en-US" sz="1800" dirty="0"/>
          </a:p>
        </p:txBody>
      </p:sp>
      <p:sp>
        <p:nvSpPr>
          <p:cNvPr id="27" name="Text 25"/>
          <p:cNvSpPr txBox="1"/>
          <p:nvPr/>
        </p:nvSpPr>
        <p:spPr>
          <a:xfrm>
            <a:off x="685800"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Jeder wiederholte Schritt ist eine Funktion, gleiche Funktion für gesamt und je Fachbereich</a:t>
            </a:r>
            <a:endParaRPr lang="en-US" sz="1400" dirty="0"/>
          </a:p>
        </p:txBody>
      </p:sp>
      <p:sp>
        <p:nvSpPr>
          <p:cNvPr id="28" name="Text 26"/>
          <p:cNvSpPr txBox="1"/>
          <p:nvPr/>
        </p:nvSpPr>
        <p:spPr>
          <a:xfrm>
            <a:off x="4414418"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2</a:t>
            </a:r>
            <a:endParaRPr lang="en-US" sz="1100" dirty="0"/>
          </a:p>
        </p:txBody>
      </p:sp>
      <p:sp>
        <p:nvSpPr>
          <p:cNvPr id="29" name="Text 27"/>
          <p:cNvSpPr txBox="1"/>
          <p:nvPr/>
        </p:nvSpPr>
        <p:spPr>
          <a:xfrm>
            <a:off x="4414418"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Kein global</a:t>
            </a:r>
            <a:endParaRPr lang="en-US" sz="1800" dirty="0"/>
          </a:p>
        </p:txBody>
      </p:sp>
      <p:sp>
        <p:nvSpPr>
          <p:cNvPr id="30" name="Text 28"/>
          <p:cNvSpPr txBox="1"/>
          <p:nvPr/>
        </p:nvSpPr>
        <p:spPr>
          <a:xfrm>
            <a:off x="4414418"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Daten werden nur als Argumente übergeben (kein global), Ergebnisse mit return zurückgegeben</a:t>
            </a:r>
            <a:endParaRPr lang="en-US" sz="1400" dirty="0"/>
          </a:p>
        </p:txBody>
      </p:sp>
      <p:sp>
        <p:nvSpPr>
          <p:cNvPr id="31" name="Text 29"/>
          <p:cNvSpPr txBox="1"/>
          <p:nvPr/>
        </p:nvSpPr>
        <p:spPr>
          <a:xfrm>
            <a:off x="8143037" y="4526280"/>
            <a:ext cx="3362858" cy="228600"/>
          </a:xfrm>
          <a:prstGeom prst="rect">
            <a:avLst/>
          </a:prstGeom>
          <a:noFill/>
          <a:ln/>
        </p:spPr>
        <p:txBody>
          <a:bodyPr wrap="square" lIns="0" tIns="0" rIns="0" bIns="0" rtlCol="0" anchor="t"/>
          <a:lstStyle/>
          <a:p>
            <a:pPr indent="0" marL="0">
              <a:buNone/>
            </a:pPr>
            <a:r>
              <a:rPr lang="en-US" sz="1100" b="1" spc="200" kern="0" dirty="0">
                <a:solidFill>
                  <a:srgbClr val="5F6672"/>
                </a:solidFill>
                <a:latin typeface="Arial" pitchFamily="34" charset="0"/>
                <a:ea typeface="Arial" pitchFamily="34" charset="-122"/>
                <a:cs typeface="Arial" pitchFamily="34" charset="-120"/>
              </a:rPr>
              <a:t>PRINZIP 3</a:t>
            </a:r>
            <a:endParaRPr lang="en-US" sz="1100" dirty="0"/>
          </a:p>
        </p:txBody>
      </p:sp>
      <p:sp>
        <p:nvSpPr>
          <p:cNvPr id="32" name="Text 30"/>
          <p:cNvSpPr txBox="1"/>
          <p:nvPr/>
        </p:nvSpPr>
        <p:spPr>
          <a:xfrm>
            <a:off x="8143037" y="4800600"/>
            <a:ext cx="3362858" cy="365760"/>
          </a:xfrm>
          <a:prstGeom prst="rect">
            <a:avLst/>
          </a:prstGeom>
          <a:noFill/>
          <a:ln/>
        </p:spPr>
        <p:txBody>
          <a:bodyPr wrap="square" lIns="0" tIns="0" rIns="0" bIns="0" rtlCol="0" anchor="t"/>
          <a:lstStyle/>
          <a:p>
            <a:pPr indent="0" marL="0">
              <a:buNone/>
            </a:pPr>
            <a:r>
              <a:rPr lang="en-US" sz="1800" b="1" dirty="0">
                <a:solidFill>
                  <a:srgbClr val="003262"/>
                </a:solidFill>
                <a:latin typeface="Arial" pitchFamily="34" charset="0"/>
                <a:ea typeface="Arial" pitchFamily="34" charset="-122"/>
                <a:cs typeface="Arial" pitchFamily="34" charset="-120"/>
              </a:rPr>
              <a:t>Fehler sichtbar</a:t>
            </a:r>
            <a:endParaRPr lang="en-US" sz="1800" dirty="0"/>
          </a:p>
        </p:txBody>
      </p:sp>
      <p:sp>
        <p:nvSpPr>
          <p:cNvPr id="33" name="Text 31"/>
          <p:cNvSpPr txBox="1"/>
          <p:nvPr/>
        </p:nvSpPr>
        <p:spPr>
          <a:xfrm>
            <a:off x="8143037" y="5193792"/>
            <a:ext cx="3362858" cy="822960"/>
          </a:xfrm>
          <a:prstGeom prst="rect">
            <a:avLst/>
          </a:prstGeom>
          <a:noFill/>
          <a:ln/>
        </p:spPr>
        <p:txBody>
          <a:bodyPr wrap="square" lIns="0" tIns="0" rIns="0" bIns="0" rtlCol="0" anchor="t"/>
          <a:lstStyle/>
          <a:p>
            <a:pPr indent="0" marL="0">
              <a:buNone/>
            </a:pPr>
            <a:r>
              <a:rPr lang="en-US" sz="1400" dirty="0">
                <a:solidFill>
                  <a:srgbClr val="1A1A1A"/>
                </a:solidFill>
                <a:latin typeface="Arial" pitchFamily="34" charset="0"/>
                <a:ea typeface="Arial" pitchFamily="34" charset="-122"/>
                <a:cs typeface="Arial" pitchFamily="34" charset="-120"/>
              </a:rPr>
              <a:t>Fehler in der Datenerfassung werden durch try/except und zwei Gegenproben sofort sichtbar</a:t>
            </a:r>
            <a:endParaRPr lang="en-US" sz="1400" dirty="0"/>
          </a:p>
        </p:txBody>
      </p:sp>
      <p:sp>
        <p:nvSpPr>
          <p:cNvPr id="25" name="Slide Number Placeholder 0"/>
          <p:cNvSpPr>
            <a:spLocks noGrp="1"/>
          </p:cNvSpPr>
          <p:nvPr>
            <p:ph type="sldNum" sz="quarter" idx="4294967295"/>
          </p:nvPr>
        </p:nvSpPr>
        <p:spPr>
          <a:xfrm>
            <a:off x="10881360" y="6382512"/>
            <a:ext cx="624535"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F6672"/>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rkeley 1973">
  <a:themeElements>
    <a:clrScheme name="Berkeley 1973">
      <a:dk1>
        <a:srgbClr val="1A1A1A"/>
      </a:dk1>
      <a:lt1>
        <a:srgbClr val="FFFFFF"/>
      </a:lt1>
      <a:dk2>
        <a:srgbClr val="003262"/>
      </a:dk2>
      <a:lt2>
        <a:srgbClr val="F1F3F5"/>
      </a:lt2>
      <a:accent1>
        <a:srgbClr val="D9541E"/>
      </a:accent1>
      <a:accent2>
        <a:srgbClr val="4A90C2"/>
      </a:accent2>
      <a:accent3>
        <a:srgbClr val="FDB515"/>
      </a:accent3>
      <a:accent4>
        <a:srgbClr val="5F6672"/>
      </a:accent4>
      <a:accent5>
        <a:srgbClr val="C9CED6"/>
      </a:accent5>
      <a:accent6>
        <a:srgbClr val="0E1E33"/>
      </a:accent6>
      <a:hlink>
        <a:srgbClr val="003262"/>
      </a:hlink>
      <a:folHlink>
        <a:srgbClr val="5F6672"/>
      </a:folHlink>
    </a:clrScheme>
    <a:fontScheme name="Berkeley 1973">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Berkeley-Paradoxon</dc:title>
  <dc:subject>PptxGenJS Presentation</dc:subject>
  <dc:creator>Leorat Krasniqi, Teoman-Doganay Lam, Filip Lazic</dc:creator>
  <cp:lastModifiedBy>Leorat Krasniqi, Teoman-Doganay Lam, Filip Lazic</cp:lastModifiedBy>
  <cp:revision>1</cp:revision>
  <dcterms:created xsi:type="dcterms:W3CDTF">2026-10-19T18:41:26Z</dcterms:created>
  <dcterms:modified xsi:type="dcterms:W3CDTF">2026-10-19T18:41:26Z</dcterms:modified>
</cp:coreProperties>
</file>